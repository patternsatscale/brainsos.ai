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66928" y="1600200"/>
            <a:ext cx="8229600" cy="320040"/>
          </a:xfrm>
          <a:prstGeom prst="rect">
            <a:avLst/>
          </a:prstGeom>
          <a:noFill/>
        </p:spPr>
        <p:txBody>
          <a:bodyPr wrap="square" lIns="0" rIns="0" tIns="0" bIns="0" anchor="ctr">
            <a:spAutoFit/>
          </a:bodyPr>
          <a:lstStyle/>
          <a:p>
            <a:r>
              <a:rPr sz="1300" b="1" spc="300">
                <a:solidFill>
                  <a:srgbClr val="B45309"/>
                </a:solidFill>
                <a:latin typeface="Calibri"/>
              </a:rPr>
              <a:t>PROJECT REPORT  ·  2026-09-17</a:t>
            </a:r>
          </a:p>
        </p:txBody>
      </p:sp>
      <p:sp>
        <p:nvSpPr>
          <p:cNvPr id="3" name="TextBox 2"/>
          <p:cNvSpPr txBox="1"/>
          <p:nvPr/>
        </p:nvSpPr>
        <p:spPr>
          <a:xfrm>
            <a:off x="566928" y="2057400"/>
            <a:ext cx="10515600" cy="868680"/>
          </a:xfrm>
          <a:prstGeom prst="rect">
            <a:avLst/>
          </a:prstGeom>
          <a:noFill/>
        </p:spPr>
        <p:txBody>
          <a:bodyPr wrap="square" lIns="0" rIns="0" tIns="0" bIns="0" anchor="ctr">
            <a:spAutoFit/>
          </a:bodyPr>
          <a:lstStyle/>
          <a:p>
            <a:r>
              <a:rPr sz="4400" b="1">
                <a:solidFill>
                  <a:srgbClr val="FFFFFF"/>
                </a:solidFill>
                <a:latin typeface="Cambria"/>
              </a:rPr>
              <a:t>Cindy Pawford</a:t>
            </a:r>
          </a:p>
        </p:txBody>
      </p:sp>
      <p:sp>
        <p:nvSpPr>
          <p:cNvPr id="4" name="TextBox 3"/>
          <p:cNvSpPr txBox="1"/>
          <p:nvPr/>
        </p:nvSpPr>
        <p:spPr>
          <a:xfrm>
            <a:off x="566928" y="2926080"/>
            <a:ext cx="10607040" cy="1143000"/>
          </a:xfrm>
          <a:prstGeom prst="rect">
            <a:avLst/>
          </a:prstGeom>
          <a:noFill/>
        </p:spPr>
        <p:txBody>
          <a:bodyPr wrap="square" lIns="0" rIns="0" tIns="0" bIns="0" anchor="t">
            <a:spAutoFit/>
          </a:bodyPr>
          <a:lstStyle/>
          <a:p>
            <a:pPr>
              <a:lnSpc>
                <a:spcPts val="2100"/>
              </a:lnSpc>
            </a:pPr>
            <a:r>
              <a:rPr sz="1400" b="0">
                <a:solidFill>
                  <a:srgbClr val="93C5FD"/>
                </a:solidFill>
                <a:latin typeface="Calibri"/>
              </a:rPr>
              <a:t>An interactive agent running on a desk-side DGX appliance that authors and publishes its own website to cindypawford.com, takes feature requests and votes from the public, and acts on them — used as a live testbed for agent development patterns, safe publishing patterns, and the security controls that make unattended publishing defensible.</a:t>
            </a:r>
          </a:p>
        </p:txBody>
      </p:sp>
      <p:sp>
        <p:nvSpPr>
          <p:cNvPr id="5" name="TextBox 4"/>
          <p:cNvSpPr txBox="1"/>
          <p:nvPr/>
        </p:nvSpPr>
        <p:spPr>
          <a:xfrm>
            <a:off x="566928" y="4160520"/>
            <a:ext cx="9601200" cy="365760"/>
          </a:xfrm>
          <a:prstGeom prst="rect">
            <a:avLst/>
          </a:prstGeom>
          <a:noFill/>
        </p:spPr>
        <p:txBody>
          <a:bodyPr wrap="square" lIns="0" rIns="0" tIns="0" bIns="0" anchor="ctr">
            <a:spAutoFit/>
          </a:bodyPr>
          <a:lstStyle/>
          <a:p>
            <a:r>
              <a:rPr sz="1300" b="0">
                <a:solidFill>
                  <a:srgbClr val="9CA3AF"/>
                </a:solidFill>
                <a:latin typeface="Calibri"/>
              </a:rPr>
              <a:t>v0.1.0 · Beta — publishing path proven; orchestration being redefined</a:t>
            </a:r>
          </a:p>
        </p:txBody>
      </p:sp>
      <p:sp>
        <p:nvSpPr>
          <p:cNvPr id="6" name="Rectangle 5"/>
          <p:cNvSpPr/>
          <p:nvPr/>
        </p:nvSpPr>
        <p:spPr>
          <a:xfrm>
            <a:off x="566928" y="4709160"/>
            <a:ext cx="137160" cy="1371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4709160"/>
            <a:ext cx="137160" cy="1371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78992" y="4709160"/>
            <a:ext cx="137160" cy="1371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120640"/>
            <a:ext cx="5486400" cy="292608"/>
          </a:xfrm>
          <a:prstGeom prst="rect">
            <a:avLst/>
          </a:prstGeom>
          <a:noFill/>
        </p:spPr>
        <p:txBody>
          <a:bodyPr wrap="square" lIns="0" rIns="0" tIns="0" bIns="0" anchor="ctr">
            <a:spAutoFit/>
          </a:bodyPr>
          <a:lstStyle/>
          <a:p>
            <a:r>
              <a:rPr sz="1400" b="1">
                <a:solidFill>
                  <a:srgbClr val="FFFFFF"/>
                </a:solidFill>
                <a:latin typeface="Calibri"/>
              </a:rPr>
              <a:t>Justin St-Maurice</a:t>
            </a:r>
          </a:p>
        </p:txBody>
      </p:sp>
      <p:sp>
        <p:nvSpPr>
          <p:cNvPr id="10" name="TextBox 9"/>
          <p:cNvSpPr txBox="1"/>
          <p:nvPr/>
        </p:nvSpPr>
        <p:spPr>
          <a:xfrm>
            <a:off x="566928" y="5440680"/>
            <a:ext cx="9144000" cy="292608"/>
          </a:xfrm>
          <a:prstGeom prst="rect">
            <a:avLst/>
          </a:prstGeom>
          <a:noFill/>
        </p:spPr>
        <p:txBody>
          <a:bodyPr wrap="square" lIns="0" rIns="0" tIns="0" bIns="0" anchor="ctr">
            <a:spAutoFit/>
          </a:bodyPr>
          <a:lstStyle/>
          <a:p>
            <a:r>
              <a:rPr sz="1300" b="0">
                <a:solidFill>
                  <a:srgbClr val="9CA3AF"/>
                </a:solidFill>
                <a:latin typeface="Calibri"/>
              </a:rPr>
              <a:t>DGX appliance, home lab (desk-side) — Project Titan fleet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Where the project stands</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As of 2026-09-17.</a:t>
            </a:r>
          </a:p>
        </p:txBody>
      </p:sp>
      <p:sp>
        <p:nvSpPr>
          <p:cNvPr id="4" name="Rectangle 3"/>
          <p:cNvSpPr/>
          <p:nvPr/>
        </p:nvSpPr>
        <p:spPr>
          <a:xfrm>
            <a:off x="566928" y="1481328"/>
            <a:ext cx="2640330" cy="84124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81328"/>
            <a:ext cx="2640330" cy="548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4208"/>
            <a:ext cx="2347722" cy="201168"/>
          </a:xfrm>
          <a:prstGeom prst="rect">
            <a:avLst/>
          </a:prstGeom>
          <a:noFill/>
        </p:spPr>
        <p:txBody>
          <a:bodyPr wrap="square" lIns="0" rIns="0" tIns="0" bIns="0" anchor="t">
            <a:spAutoFit/>
          </a:bodyPr>
          <a:lstStyle/>
          <a:p>
            <a:r>
              <a:rPr sz="950" b="1" spc="200">
                <a:solidFill>
                  <a:srgbClr val="B45309"/>
                </a:solidFill>
                <a:latin typeface="Calibri"/>
              </a:rPr>
              <a:t>VERSION</a:t>
            </a:r>
          </a:p>
        </p:txBody>
      </p:sp>
      <p:sp>
        <p:nvSpPr>
          <p:cNvPr id="7" name="TextBox 6"/>
          <p:cNvSpPr txBox="1"/>
          <p:nvPr/>
        </p:nvSpPr>
        <p:spPr>
          <a:xfrm>
            <a:off x="713232" y="1883664"/>
            <a:ext cx="2347722" cy="384048"/>
          </a:xfrm>
          <a:prstGeom prst="rect">
            <a:avLst/>
          </a:prstGeom>
          <a:noFill/>
        </p:spPr>
        <p:txBody>
          <a:bodyPr wrap="square" lIns="0" rIns="0" tIns="0" bIns="0" anchor="t">
            <a:spAutoFit/>
          </a:bodyPr>
          <a:lstStyle/>
          <a:p>
            <a:pPr>
              <a:lnSpc>
                <a:spcPts val="1500"/>
              </a:lnSpc>
            </a:pPr>
            <a:r>
              <a:rPr sz="1250" b="1">
                <a:solidFill>
                  <a:srgbClr val="1F2937"/>
                </a:solidFill>
                <a:latin typeface="Cambria"/>
              </a:rPr>
              <a:t>v0.1.0</a:t>
            </a:r>
          </a:p>
        </p:txBody>
      </p:sp>
      <p:sp>
        <p:nvSpPr>
          <p:cNvPr id="8" name="Rectangle 7"/>
          <p:cNvSpPr/>
          <p:nvPr/>
        </p:nvSpPr>
        <p:spPr>
          <a:xfrm>
            <a:off x="3371850" y="1481328"/>
            <a:ext cx="2640330" cy="84124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71850" y="1481328"/>
            <a:ext cx="2640330" cy="5486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8154" y="1664208"/>
            <a:ext cx="2347722" cy="201168"/>
          </a:xfrm>
          <a:prstGeom prst="rect">
            <a:avLst/>
          </a:prstGeom>
          <a:noFill/>
        </p:spPr>
        <p:txBody>
          <a:bodyPr wrap="square" lIns="0" rIns="0" tIns="0" bIns="0" anchor="t">
            <a:spAutoFit/>
          </a:bodyPr>
          <a:lstStyle/>
          <a:p>
            <a:r>
              <a:rPr sz="950" b="1" spc="200">
                <a:solidFill>
                  <a:srgbClr val="B45309"/>
                </a:solidFill>
                <a:latin typeface="Calibri"/>
              </a:rPr>
              <a:t>STATUS</a:t>
            </a:r>
          </a:p>
        </p:txBody>
      </p:sp>
      <p:sp>
        <p:nvSpPr>
          <p:cNvPr id="11" name="TextBox 10"/>
          <p:cNvSpPr txBox="1"/>
          <p:nvPr/>
        </p:nvSpPr>
        <p:spPr>
          <a:xfrm>
            <a:off x="3518154" y="1883664"/>
            <a:ext cx="2347722" cy="384048"/>
          </a:xfrm>
          <a:prstGeom prst="rect">
            <a:avLst/>
          </a:prstGeom>
          <a:noFill/>
        </p:spPr>
        <p:txBody>
          <a:bodyPr wrap="square" lIns="0" rIns="0" tIns="0" bIns="0" anchor="t">
            <a:spAutoFit/>
          </a:bodyPr>
          <a:lstStyle/>
          <a:p>
            <a:pPr>
              <a:lnSpc>
                <a:spcPts val="1500"/>
              </a:lnSpc>
            </a:pPr>
            <a:r>
              <a:rPr sz="1250" b="1">
                <a:solidFill>
                  <a:srgbClr val="1F2937"/>
                </a:solidFill>
                <a:latin typeface="Cambria"/>
              </a:rPr>
              <a:t>Beta — publishing path proven; orchestration…</a:t>
            </a:r>
          </a:p>
        </p:txBody>
      </p:sp>
      <p:sp>
        <p:nvSpPr>
          <p:cNvPr id="12" name="Rectangle 11"/>
          <p:cNvSpPr/>
          <p:nvPr/>
        </p:nvSpPr>
        <p:spPr>
          <a:xfrm>
            <a:off x="6176772" y="1481328"/>
            <a:ext cx="2640330" cy="84124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481328"/>
            <a:ext cx="264033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3076" y="1664208"/>
            <a:ext cx="2347722" cy="201168"/>
          </a:xfrm>
          <a:prstGeom prst="rect">
            <a:avLst/>
          </a:prstGeom>
          <a:noFill/>
        </p:spPr>
        <p:txBody>
          <a:bodyPr wrap="square" lIns="0" rIns="0" tIns="0" bIns="0" anchor="t">
            <a:spAutoFit/>
          </a:bodyPr>
          <a:lstStyle/>
          <a:p>
            <a:r>
              <a:rPr sz="950" b="1" spc="200">
                <a:solidFill>
                  <a:srgbClr val="B45309"/>
                </a:solidFill>
                <a:latin typeface="Calibri"/>
              </a:rPr>
              <a:t>STARTED</a:t>
            </a:r>
          </a:p>
        </p:txBody>
      </p:sp>
      <p:sp>
        <p:nvSpPr>
          <p:cNvPr id="15" name="TextBox 14"/>
          <p:cNvSpPr txBox="1"/>
          <p:nvPr/>
        </p:nvSpPr>
        <p:spPr>
          <a:xfrm>
            <a:off x="6323076" y="1883664"/>
            <a:ext cx="2347722" cy="384048"/>
          </a:xfrm>
          <a:prstGeom prst="rect">
            <a:avLst/>
          </a:prstGeom>
          <a:noFill/>
        </p:spPr>
        <p:txBody>
          <a:bodyPr wrap="square" lIns="0" rIns="0" tIns="0" bIns="0" anchor="t">
            <a:spAutoFit/>
          </a:bodyPr>
          <a:lstStyle/>
          <a:p>
            <a:pPr>
              <a:lnSpc>
                <a:spcPts val="1500"/>
              </a:lnSpc>
            </a:pPr>
            <a:r>
              <a:rPr sz="1250" b="1">
                <a:solidFill>
                  <a:srgbClr val="1F2937"/>
                </a:solidFill>
                <a:latin typeface="Cambria"/>
              </a:rPr>
              <a:t>2026-09-06</a:t>
            </a:r>
          </a:p>
        </p:txBody>
      </p:sp>
      <p:sp>
        <p:nvSpPr>
          <p:cNvPr id="16" name="Rectangle 15"/>
          <p:cNvSpPr/>
          <p:nvPr/>
        </p:nvSpPr>
        <p:spPr>
          <a:xfrm>
            <a:off x="8981694" y="1481328"/>
            <a:ext cx="2640330" cy="84124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81694" y="1481328"/>
            <a:ext cx="2640330" cy="548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7998" y="1664208"/>
            <a:ext cx="2347722" cy="201168"/>
          </a:xfrm>
          <a:prstGeom prst="rect">
            <a:avLst/>
          </a:prstGeom>
          <a:noFill/>
        </p:spPr>
        <p:txBody>
          <a:bodyPr wrap="square" lIns="0" rIns="0" tIns="0" bIns="0" anchor="t">
            <a:spAutoFit/>
          </a:bodyPr>
          <a:lstStyle/>
          <a:p>
            <a:r>
              <a:rPr sz="950" b="1" spc="200">
                <a:solidFill>
                  <a:srgbClr val="B45309"/>
                </a:solidFill>
                <a:latin typeface="Calibri"/>
              </a:rPr>
              <a:t>LAST UPDATE</a:t>
            </a:r>
          </a:p>
        </p:txBody>
      </p:sp>
      <p:sp>
        <p:nvSpPr>
          <p:cNvPr id="19" name="TextBox 18"/>
          <p:cNvSpPr txBox="1"/>
          <p:nvPr/>
        </p:nvSpPr>
        <p:spPr>
          <a:xfrm>
            <a:off x="9127998" y="1883664"/>
            <a:ext cx="2347722" cy="384048"/>
          </a:xfrm>
          <a:prstGeom prst="rect">
            <a:avLst/>
          </a:prstGeom>
          <a:noFill/>
        </p:spPr>
        <p:txBody>
          <a:bodyPr wrap="square" lIns="0" rIns="0" tIns="0" bIns="0" anchor="t">
            <a:spAutoFit/>
          </a:bodyPr>
          <a:lstStyle/>
          <a:p>
            <a:pPr>
              <a:lnSpc>
                <a:spcPts val="1500"/>
              </a:lnSpc>
            </a:pPr>
            <a:r>
              <a:rPr sz="1250" b="1">
                <a:solidFill>
                  <a:srgbClr val="1F2937"/>
                </a:solidFill>
                <a:latin typeface="Cambria"/>
              </a:rPr>
              <a:t>2026-09-17</a:t>
            </a:r>
          </a:p>
        </p:txBody>
      </p:sp>
      <p:sp>
        <p:nvSpPr>
          <p:cNvPr id="20" name="Rectangle 19"/>
          <p:cNvSpPr/>
          <p:nvPr/>
        </p:nvSpPr>
        <p:spPr>
          <a:xfrm>
            <a:off x="566928" y="2523744"/>
            <a:ext cx="11055096" cy="866394"/>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523744"/>
            <a:ext cx="50292" cy="86639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2651760"/>
            <a:ext cx="2103120" cy="237744"/>
          </a:xfrm>
          <a:prstGeom prst="rect">
            <a:avLst/>
          </a:prstGeom>
          <a:noFill/>
        </p:spPr>
        <p:txBody>
          <a:bodyPr wrap="square" lIns="0" rIns="0" tIns="0" bIns="0" anchor="t">
            <a:spAutoFit/>
          </a:bodyPr>
          <a:lstStyle/>
          <a:p>
            <a:r>
              <a:rPr sz="1050" b="1" spc="150">
                <a:solidFill>
                  <a:srgbClr val="6D28D9"/>
                </a:solidFill>
                <a:latin typeface="Calibri"/>
              </a:rPr>
              <a:t>RELEASE</a:t>
            </a:r>
          </a:p>
        </p:txBody>
      </p:sp>
      <p:sp>
        <p:nvSpPr>
          <p:cNvPr id="23" name="TextBox 22"/>
          <p:cNvSpPr txBox="1"/>
          <p:nvPr/>
        </p:nvSpPr>
        <p:spPr>
          <a:xfrm>
            <a:off x="841247" y="2907791"/>
            <a:ext cx="10488168" cy="372618"/>
          </a:xfrm>
          <a:prstGeom prst="rect">
            <a:avLst/>
          </a:prstGeom>
          <a:noFill/>
        </p:spPr>
        <p:txBody>
          <a:bodyPr wrap="square" lIns="0" rIns="0" tIns="0" bIns="0" anchor="t">
            <a:spAutoFit/>
          </a:bodyPr>
          <a:lstStyle/>
          <a:p>
            <a:pPr>
              <a:lnSpc>
                <a:spcPts val="1700"/>
              </a:lnSpc>
            </a:pPr>
            <a:r>
              <a:rPr sz="1200" b="0">
                <a:solidFill>
                  <a:srgbClr val="374151"/>
                </a:solidFill>
                <a:latin typeface="Calibri"/>
              </a:rPr>
              <a:t>v0.1.0 — the first build in which code authored by the agent successfully reaches the live domain through the full guarded path. End to end, unattended, no credential in the agent.</a:t>
            </a:r>
          </a:p>
        </p:txBody>
      </p:sp>
      <p:sp>
        <p:nvSpPr>
          <p:cNvPr id="24" name="Rectangle 23"/>
          <p:cNvSpPr/>
          <p:nvPr/>
        </p:nvSpPr>
        <p:spPr>
          <a:xfrm>
            <a:off x="566928" y="3518153"/>
            <a:ext cx="11055096" cy="866394"/>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3518153"/>
            <a:ext cx="50292" cy="86639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3646170"/>
            <a:ext cx="2103120" cy="237744"/>
          </a:xfrm>
          <a:prstGeom prst="rect">
            <a:avLst/>
          </a:prstGeom>
          <a:noFill/>
        </p:spPr>
        <p:txBody>
          <a:bodyPr wrap="square" lIns="0" rIns="0" tIns="0" bIns="0" anchor="t">
            <a:spAutoFit/>
          </a:bodyPr>
          <a:lstStyle/>
          <a:p>
            <a:r>
              <a:rPr sz="1050" b="1" spc="150">
                <a:solidFill>
                  <a:srgbClr val="0E7490"/>
                </a:solidFill>
                <a:latin typeface="Calibri"/>
              </a:rPr>
              <a:t>WORKING</a:t>
            </a:r>
          </a:p>
        </p:txBody>
      </p:sp>
      <p:sp>
        <p:nvSpPr>
          <p:cNvPr id="27" name="TextBox 26"/>
          <p:cNvSpPr txBox="1"/>
          <p:nvPr/>
        </p:nvSpPr>
        <p:spPr>
          <a:xfrm>
            <a:off x="841247" y="3902202"/>
            <a:ext cx="10488168" cy="372618"/>
          </a:xfrm>
          <a:prstGeom prst="rect">
            <a:avLst/>
          </a:prstGeom>
          <a:noFill/>
        </p:spPr>
        <p:txBody>
          <a:bodyPr wrap="square" lIns="0" rIns="0" tIns="0" bIns="0" anchor="t">
            <a:spAutoFit/>
          </a:bodyPr>
          <a:lstStyle/>
          <a:p>
            <a:pPr>
              <a:lnSpc>
                <a:spcPts val="1700"/>
              </a:lnSpc>
            </a:pPr>
            <a:r>
              <a:rPr sz="1200" b="0">
                <a:solidFill>
                  <a:srgbClr val="374151"/>
                </a:solidFill>
                <a:latin typeface="Calibri"/>
              </a:rPr>
              <a:t>Agent-authored commits push through the injecting proxy. The guard workflow gates the governed directory. Deploy runs from the control plane. The fleet verification suite, memory-purity audit, egress token-injection suite and the four Cindy-specific suites all pass on the appliance (ticket #103, September 15).</a:t>
            </a:r>
          </a:p>
        </p:txBody>
      </p:sp>
      <p:sp>
        <p:nvSpPr>
          <p:cNvPr id="28" name="Rectangle 27"/>
          <p:cNvSpPr/>
          <p:nvPr/>
        </p:nvSpPr>
        <p:spPr>
          <a:xfrm>
            <a:off x="566928" y="4512564"/>
            <a:ext cx="11055096" cy="866394"/>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512564"/>
            <a:ext cx="50292" cy="86639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7" y="4640579"/>
            <a:ext cx="2103120" cy="237744"/>
          </a:xfrm>
          <a:prstGeom prst="rect">
            <a:avLst/>
          </a:prstGeom>
          <a:noFill/>
        </p:spPr>
        <p:txBody>
          <a:bodyPr wrap="square" lIns="0" rIns="0" tIns="0" bIns="0" anchor="t">
            <a:spAutoFit/>
          </a:bodyPr>
          <a:lstStyle/>
          <a:p>
            <a:r>
              <a:rPr sz="1050" b="1" spc="150">
                <a:solidFill>
                  <a:srgbClr val="B45309"/>
                </a:solidFill>
                <a:latin typeface="Calibri"/>
              </a:rPr>
              <a:t>NOT WORKING</a:t>
            </a:r>
          </a:p>
        </p:txBody>
      </p:sp>
      <p:sp>
        <p:nvSpPr>
          <p:cNvPr id="31" name="TextBox 30"/>
          <p:cNvSpPr txBox="1"/>
          <p:nvPr/>
        </p:nvSpPr>
        <p:spPr>
          <a:xfrm>
            <a:off x="841247" y="4896612"/>
            <a:ext cx="10488168" cy="372618"/>
          </a:xfrm>
          <a:prstGeom prst="rect">
            <a:avLst/>
          </a:prstGeom>
          <a:noFill/>
        </p:spPr>
        <p:txBody>
          <a:bodyPr wrap="square" lIns="0" rIns="0" tIns="0" bIns="0" anchor="t">
            <a:spAutoFit/>
          </a:bodyPr>
          <a:lstStyle/>
          <a:p>
            <a:pPr>
              <a:lnSpc>
                <a:spcPts val="1700"/>
              </a:lnSpc>
            </a:pPr>
            <a:r>
              <a:rPr sz="1200" b="0">
                <a:solidFill>
                  <a:srgbClr val="374151"/>
                </a:solidFill>
                <a:latin typeface="Calibri"/>
              </a:rPr>
              <a:t>Work decomposition. Given a four-deliverable brief the agent attempted it in one pass, hit the output-token ceiling on every continuation, and wrote nothing to disk. No rule governs how much work may enter a cycle, and there is no orchestrator/builder split at runtime. Tool calls remain untraced (see §9).</a:t>
            </a:r>
          </a:p>
        </p:txBody>
      </p:sp>
      <p:sp>
        <p:nvSpPr>
          <p:cNvPr id="32" name="Rectangle 31"/>
          <p:cNvSpPr/>
          <p:nvPr/>
        </p:nvSpPr>
        <p:spPr>
          <a:xfrm>
            <a:off x="566928" y="5506973"/>
            <a:ext cx="11055096" cy="866394"/>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506973"/>
            <a:ext cx="50292" cy="86639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7" y="5634989"/>
            <a:ext cx="2103120" cy="237744"/>
          </a:xfrm>
          <a:prstGeom prst="rect">
            <a:avLst/>
          </a:prstGeom>
          <a:noFill/>
        </p:spPr>
        <p:txBody>
          <a:bodyPr wrap="square" lIns="0" rIns="0" tIns="0" bIns="0" anchor="t">
            <a:spAutoFit/>
          </a:bodyPr>
          <a:lstStyle/>
          <a:p>
            <a:r>
              <a:rPr sz="1050" b="1" spc="150">
                <a:solidFill>
                  <a:srgbClr val="6D28D9"/>
                </a:solidFill>
                <a:latin typeface="Calibri"/>
              </a:rPr>
              <a:t>IN FLIGHT TODAY</a:t>
            </a:r>
          </a:p>
        </p:txBody>
      </p:sp>
      <p:sp>
        <p:nvSpPr>
          <p:cNvPr id="35" name="TextBox 34"/>
          <p:cNvSpPr txBox="1"/>
          <p:nvPr/>
        </p:nvSpPr>
        <p:spPr>
          <a:xfrm>
            <a:off x="841247" y="5891021"/>
            <a:ext cx="10488168" cy="372618"/>
          </a:xfrm>
          <a:prstGeom prst="rect">
            <a:avLst/>
          </a:prstGeom>
          <a:noFill/>
        </p:spPr>
        <p:txBody>
          <a:bodyPr wrap="square" lIns="0" rIns="0" tIns="0" bIns="0" anchor="t">
            <a:spAutoFit/>
          </a:bodyPr>
          <a:lstStyle/>
          <a:p>
            <a:pPr>
              <a:lnSpc>
                <a:spcPts val="1700"/>
              </a:lnSpc>
            </a:pPr>
            <a:r>
              <a:rPr sz="1200" b="0">
                <a:solidFill>
                  <a:srgbClr val="374151"/>
                </a:solidFill>
                <a:latin typeface="Calibri"/>
              </a:rPr>
              <a:t>Defining the orchestration discipline — Cindy as orchestrator, issuing one ticket at a time to a builder sub-agent, under a per-cycle work budget.</a:t>
            </a:r>
          </a:p>
        </p:txBody>
      </p:sp>
      <p:sp>
        <p:nvSpPr>
          <p:cNvPr id="36" name="TextBox 35"/>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Why this project exists</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The artifact is an instrument. These are what it measures.</a:t>
            </a:r>
          </a:p>
        </p:txBody>
      </p:sp>
      <p:sp>
        <p:nvSpPr>
          <p:cNvPr id="4" name="Rectangle 3"/>
          <p:cNvSpPr/>
          <p:nvPr/>
        </p:nvSpPr>
        <p:spPr>
          <a:xfrm>
            <a:off x="566928" y="1481328"/>
            <a:ext cx="11055096" cy="702259"/>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81328"/>
            <a:ext cx="749808" cy="702259"/>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12417"/>
            <a:ext cx="749808" cy="640080"/>
          </a:xfrm>
          <a:prstGeom prst="rect">
            <a:avLst/>
          </a:prstGeom>
          <a:noFill/>
        </p:spPr>
        <p:txBody>
          <a:bodyPr wrap="square" lIns="0" rIns="0" tIns="0" bIns="0" anchor="ctr">
            <a:spAutoFit/>
          </a:bodyPr>
          <a:lstStyle/>
          <a:p>
            <a:pPr algn="ctr"/>
            <a:r>
              <a:rPr sz="2600" b="1">
                <a:solidFill>
                  <a:srgbClr val="FFFFFF"/>
                </a:solidFill>
                <a:latin typeface="Cambria"/>
              </a:rPr>
              <a:t>1</a:t>
            </a:r>
          </a:p>
        </p:txBody>
      </p:sp>
      <p:sp>
        <p:nvSpPr>
          <p:cNvPr id="7" name="TextBox 6"/>
          <p:cNvSpPr txBox="1"/>
          <p:nvPr/>
        </p:nvSpPr>
        <p:spPr>
          <a:xfrm>
            <a:off x="1609344" y="1609344"/>
            <a:ext cx="9866376" cy="464515"/>
          </a:xfrm>
          <a:prstGeom prst="rect">
            <a:avLst/>
          </a:prstGeom>
          <a:noFill/>
        </p:spPr>
        <p:txBody>
          <a:bodyPr wrap="square" lIns="0" rIns="0" tIns="0" bIns="0" anchor="ctr">
            <a:spAutoFit/>
          </a:bodyPr>
          <a:lstStyle/>
          <a:p>
            <a:pPr>
              <a:lnSpc>
                <a:spcPts val="1700"/>
              </a:lnSpc>
            </a:pPr>
            <a:r>
              <a:rPr sz="1150" b="0">
                <a:solidFill>
                  <a:srgbClr val="374151"/>
                </a:solidFill>
                <a:latin typeface="Calibri"/>
              </a:rPr>
              <a:t>Can an agent ship code to a public production surface with no human in the authoring loop, while holding no credential and being unable to approve its own work? (Tests the Autonomous Publishing Pattern against a real weekly cadence.)</a:t>
            </a:r>
          </a:p>
        </p:txBody>
      </p:sp>
      <p:sp>
        <p:nvSpPr>
          <p:cNvPr id="8" name="Rectangle 7"/>
          <p:cNvSpPr/>
          <p:nvPr/>
        </p:nvSpPr>
        <p:spPr>
          <a:xfrm>
            <a:off x="566928" y="2311603"/>
            <a:ext cx="11055096" cy="702259"/>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311603"/>
            <a:ext cx="749808" cy="702259"/>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42692"/>
            <a:ext cx="749808" cy="640080"/>
          </a:xfrm>
          <a:prstGeom prst="rect">
            <a:avLst/>
          </a:prstGeom>
          <a:noFill/>
        </p:spPr>
        <p:txBody>
          <a:bodyPr wrap="square" lIns="0" rIns="0" tIns="0" bIns="0" anchor="ctr">
            <a:spAutoFit/>
          </a:bodyPr>
          <a:lstStyle/>
          <a:p>
            <a:pPr algn="ctr"/>
            <a:r>
              <a:rPr sz="2600" b="1">
                <a:solidFill>
                  <a:srgbClr val="FFFFFF"/>
                </a:solidFill>
                <a:latin typeface="Cambria"/>
              </a:rPr>
              <a:t>2</a:t>
            </a:r>
          </a:p>
        </p:txBody>
      </p:sp>
      <p:sp>
        <p:nvSpPr>
          <p:cNvPr id="11" name="TextBox 10"/>
          <p:cNvSpPr txBox="1"/>
          <p:nvPr/>
        </p:nvSpPr>
        <p:spPr>
          <a:xfrm>
            <a:off x="1609344" y="2439619"/>
            <a:ext cx="9866376" cy="464515"/>
          </a:xfrm>
          <a:prstGeom prst="rect">
            <a:avLst/>
          </a:prstGeom>
          <a:noFill/>
        </p:spPr>
        <p:txBody>
          <a:bodyPr wrap="square" lIns="0" rIns="0" tIns="0" bIns="0" anchor="ctr">
            <a:spAutoFit/>
          </a:bodyPr>
          <a:lstStyle/>
          <a:p>
            <a:pPr>
              <a:lnSpc>
                <a:spcPts val="1700"/>
              </a:lnSpc>
            </a:pPr>
            <a:r>
              <a:rPr sz="1250" b="0">
                <a:solidFill>
                  <a:srgbClr val="374151"/>
                </a:solidFill>
                <a:latin typeface="Calibri"/>
              </a:rPr>
              <a:t>Where does an agent's identity leak into its output, and what structural separation prevents it? (Persona and product are different concerns; the system does not know that by default.)</a:t>
            </a:r>
          </a:p>
        </p:txBody>
      </p:sp>
      <p:sp>
        <p:nvSpPr>
          <p:cNvPr id="12" name="Rectangle 11"/>
          <p:cNvSpPr/>
          <p:nvPr/>
        </p:nvSpPr>
        <p:spPr>
          <a:xfrm>
            <a:off x="566928" y="3141878"/>
            <a:ext cx="11055096" cy="702259"/>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141878"/>
            <a:ext cx="749808" cy="70225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172968"/>
            <a:ext cx="749808" cy="640080"/>
          </a:xfrm>
          <a:prstGeom prst="rect">
            <a:avLst/>
          </a:prstGeom>
          <a:noFill/>
        </p:spPr>
        <p:txBody>
          <a:bodyPr wrap="square" lIns="0" rIns="0" tIns="0" bIns="0" anchor="ctr">
            <a:spAutoFit/>
          </a:bodyPr>
          <a:lstStyle/>
          <a:p>
            <a:pPr algn="ctr"/>
            <a:r>
              <a:rPr sz="2600" b="1">
                <a:solidFill>
                  <a:srgbClr val="FFFFFF"/>
                </a:solidFill>
                <a:latin typeface="Cambria"/>
              </a:rPr>
              <a:t>3</a:t>
            </a:r>
          </a:p>
        </p:txBody>
      </p:sp>
      <p:sp>
        <p:nvSpPr>
          <p:cNvPr id="15" name="TextBox 14"/>
          <p:cNvSpPr txBox="1"/>
          <p:nvPr/>
        </p:nvSpPr>
        <p:spPr>
          <a:xfrm>
            <a:off x="1609344" y="3269894"/>
            <a:ext cx="9866376" cy="464515"/>
          </a:xfrm>
          <a:prstGeom prst="rect">
            <a:avLst/>
          </a:prstGeom>
          <a:noFill/>
        </p:spPr>
        <p:txBody>
          <a:bodyPr wrap="square" lIns="0" rIns="0" tIns="0" bIns="0" anchor="ctr">
            <a:spAutoFit/>
          </a:bodyPr>
          <a:lstStyle/>
          <a:p>
            <a:pPr>
              <a:lnSpc>
                <a:spcPts val="1700"/>
              </a:lnSpc>
            </a:pPr>
            <a:r>
              <a:rPr sz="1250" b="0">
                <a:solidFill>
                  <a:srgbClr val="374151"/>
                </a:solidFill>
                <a:latin typeface="Calibri"/>
              </a:rPr>
              <a:t>Can a closed feedback loop — publish, collect public votes, act on the ranked queue — run autonomously without a human reading every inbound request, given that fan payloads are untrusted input?</a:t>
            </a:r>
          </a:p>
        </p:txBody>
      </p:sp>
      <p:sp>
        <p:nvSpPr>
          <p:cNvPr id="16" name="Rectangle 15"/>
          <p:cNvSpPr/>
          <p:nvPr/>
        </p:nvSpPr>
        <p:spPr>
          <a:xfrm>
            <a:off x="566928" y="3972153"/>
            <a:ext cx="11055096" cy="702259"/>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972153"/>
            <a:ext cx="749808" cy="702259"/>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003243"/>
            <a:ext cx="749808" cy="640080"/>
          </a:xfrm>
          <a:prstGeom prst="rect">
            <a:avLst/>
          </a:prstGeom>
          <a:noFill/>
        </p:spPr>
        <p:txBody>
          <a:bodyPr wrap="square" lIns="0" rIns="0" tIns="0" bIns="0" anchor="ctr">
            <a:spAutoFit/>
          </a:bodyPr>
          <a:lstStyle/>
          <a:p>
            <a:pPr algn="ctr"/>
            <a:r>
              <a:rPr sz="2600" b="1">
                <a:solidFill>
                  <a:srgbClr val="FFFFFF"/>
                </a:solidFill>
                <a:latin typeface="Cambria"/>
              </a:rPr>
              <a:t>4</a:t>
            </a:r>
          </a:p>
        </p:txBody>
      </p:sp>
      <p:sp>
        <p:nvSpPr>
          <p:cNvPr id="19" name="TextBox 18"/>
          <p:cNvSpPr txBox="1"/>
          <p:nvPr/>
        </p:nvSpPr>
        <p:spPr>
          <a:xfrm>
            <a:off x="1609344" y="4100169"/>
            <a:ext cx="9866376" cy="464515"/>
          </a:xfrm>
          <a:prstGeom prst="rect">
            <a:avLst/>
          </a:prstGeom>
          <a:noFill/>
        </p:spPr>
        <p:txBody>
          <a:bodyPr wrap="square" lIns="0" rIns="0" tIns="0" bIns="0" anchor="ctr">
            <a:spAutoFit/>
          </a:bodyPr>
          <a:lstStyle/>
          <a:p>
            <a:pPr>
              <a:lnSpc>
                <a:spcPts val="1700"/>
              </a:lnSpc>
            </a:pPr>
            <a:r>
              <a:rPr sz="1250" b="0">
                <a:solidFill>
                  <a:srgbClr val="374151"/>
                </a:solidFill>
                <a:latin typeface="Calibri"/>
              </a:rPr>
              <a:t>Which failure modes are model failures and which are harness failures? Token and context-window exhaustion, not reasoning quality, has caused most losses so far.</a:t>
            </a:r>
          </a:p>
        </p:txBody>
      </p:sp>
      <p:sp>
        <p:nvSpPr>
          <p:cNvPr id="20" name="Rectangle 19"/>
          <p:cNvSpPr/>
          <p:nvPr/>
        </p:nvSpPr>
        <p:spPr>
          <a:xfrm>
            <a:off x="566928" y="4802428"/>
            <a:ext cx="11055096" cy="702259"/>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802428"/>
            <a:ext cx="749808" cy="702259"/>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833518"/>
            <a:ext cx="749808" cy="640080"/>
          </a:xfrm>
          <a:prstGeom prst="rect">
            <a:avLst/>
          </a:prstGeom>
          <a:noFill/>
        </p:spPr>
        <p:txBody>
          <a:bodyPr wrap="square" lIns="0" rIns="0" tIns="0" bIns="0" anchor="ctr">
            <a:spAutoFit/>
          </a:bodyPr>
          <a:lstStyle/>
          <a:p>
            <a:pPr algn="ctr"/>
            <a:r>
              <a:rPr sz="2600" b="1">
                <a:solidFill>
                  <a:srgbClr val="FFFFFF"/>
                </a:solidFill>
                <a:latin typeface="Cambria"/>
              </a:rPr>
              <a:t>5</a:t>
            </a:r>
          </a:p>
        </p:txBody>
      </p:sp>
      <p:sp>
        <p:nvSpPr>
          <p:cNvPr id="23" name="TextBox 22"/>
          <p:cNvSpPr txBox="1"/>
          <p:nvPr/>
        </p:nvSpPr>
        <p:spPr>
          <a:xfrm>
            <a:off x="1609344" y="4930444"/>
            <a:ext cx="9866376" cy="464515"/>
          </a:xfrm>
          <a:prstGeom prst="rect">
            <a:avLst/>
          </a:prstGeom>
          <a:noFill/>
        </p:spPr>
        <p:txBody>
          <a:bodyPr wrap="square" lIns="0" rIns="0" tIns="0" bIns="0" anchor="ctr">
            <a:spAutoFit/>
          </a:bodyPr>
          <a:lstStyle/>
          <a:p>
            <a:pPr>
              <a:lnSpc>
                <a:spcPts val="1700"/>
              </a:lnSpc>
            </a:pPr>
            <a:r>
              <a:rPr sz="1250" b="0">
                <a:solidFill>
                  <a:srgbClr val="374151"/>
                </a:solidFill>
                <a:latin typeface="Calibri"/>
              </a:rPr>
              <a:t>What does the SDLC actually look like when the developer is an agent — tickets, review, rollback, verification? (Exercises the Agent SDLC deck.)</a:t>
            </a:r>
          </a:p>
        </p:txBody>
      </p:sp>
      <p:sp>
        <p:nvSpPr>
          <p:cNvPr id="24" name="Rectangle 23"/>
          <p:cNvSpPr/>
          <p:nvPr/>
        </p:nvSpPr>
        <p:spPr>
          <a:xfrm>
            <a:off x="566928" y="5669279"/>
            <a:ext cx="11055096" cy="7498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806440"/>
            <a:ext cx="10543032" cy="256032"/>
          </a:xfrm>
          <a:prstGeom prst="rect">
            <a:avLst/>
          </a:prstGeom>
          <a:noFill/>
        </p:spPr>
        <p:txBody>
          <a:bodyPr wrap="square" lIns="0" rIns="0" tIns="0" bIns="0" anchor="t">
            <a:spAutoFit/>
          </a:bodyPr>
          <a:lstStyle/>
          <a:p>
            <a:r>
              <a:rPr sz="1350" b="1">
                <a:solidFill>
                  <a:srgbClr val="1F2937"/>
                </a:solidFill>
                <a:latin typeface="Cambria"/>
              </a:rPr>
              <a:t>What a result looks like</a:t>
            </a:r>
          </a:p>
        </p:txBody>
      </p:sp>
      <p:sp>
        <p:nvSpPr>
          <p:cNvPr id="26" name="TextBox 25"/>
          <p:cNvSpPr txBox="1"/>
          <p:nvPr/>
        </p:nvSpPr>
        <p:spPr>
          <a:xfrm>
            <a:off x="822960" y="6080759"/>
            <a:ext cx="10543032" cy="237743"/>
          </a:xfrm>
          <a:prstGeom prst="rect">
            <a:avLst/>
          </a:prstGeom>
          <a:noFill/>
        </p:spPr>
        <p:txBody>
          <a:bodyPr wrap="square" lIns="0" rIns="0" tIns="0" bIns="0" anchor="t">
            <a:spAutoFit/>
          </a:bodyPr>
          <a:lstStyle/>
          <a:p>
            <a:pPr>
              <a:lnSpc>
                <a:spcPts val="1600"/>
              </a:lnSpc>
            </a:pPr>
            <a:r>
              <a:rPr sz="1200" b="0">
                <a:solidFill>
                  <a:srgbClr val="374151"/>
                </a:solidFill>
                <a:latin typeface="Calibri"/>
              </a:rPr>
              <a:t>A named pattern with a control, a verification suite that attempts to violate that control and requires failure, and a measured number. Not a demo.</a:t>
            </a:r>
          </a:p>
        </p:txBody>
      </p:sp>
      <p:sp>
        <p:nvSpPr>
          <p:cNvPr id="27" name="TextBox 26"/>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Scope — what this is, and what it is not</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Stated explicitly, because the artifact is easy to mistake for the goal.</a:t>
            </a:r>
          </a:p>
        </p:txBody>
      </p:sp>
      <p:sp>
        <p:nvSpPr>
          <p:cNvPr id="4" name="Rectangle 3"/>
          <p:cNvSpPr/>
          <p:nvPr/>
        </p:nvSpPr>
        <p:spPr>
          <a:xfrm>
            <a:off x="566928" y="1554480"/>
            <a:ext cx="11055096" cy="811987"/>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54480"/>
            <a:ext cx="2240280" cy="8119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554480"/>
            <a:ext cx="1874519" cy="811987"/>
          </a:xfrm>
          <a:prstGeom prst="rect">
            <a:avLst/>
          </a:prstGeom>
          <a:noFill/>
        </p:spPr>
        <p:txBody>
          <a:bodyPr wrap="square" lIns="0" rIns="0" tIns="0" bIns="0" anchor="ctr">
            <a:spAutoFit/>
          </a:bodyPr>
          <a:lstStyle/>
          <a:p>
            <a:r>
              <a:rPr sz="1300" b="1">
                <a:solidFill>
                  <a:srgbClr val="1F2937"/>
                </a:solidFill>
                <a:latin typeface="Cambria"/>
              </a:rPr>
              <a:t>It is</a:t>
            </a:r>
          </a:p>
        </p:txBody>
      </p:sp>
      <p:sp>
        <p:nvSpPr>
          <p:cNvPr id="7" name="TextBox 6"/>
          <p:cNvSpPr txBox="1"/>
          <p:nvPr/>
        </p:nvSpPr>
        <p:spPr>
          <a:xfrm>
            <a:off x="3035808" y="1645920"/>
            <a:ext cx="8357616" cy="629107"/>
          </a:xfrm>
          <a:prstGeom prst="rect">
            <a:avLst/>
          </a:prstGeom>
          <a:noFill/>
        </p:spPr>
        <p:txBody>
          <a:bodyPr wrap="square" lIns="0" rIns="0" tIns="0" bIns="0" anchor="ctr">
            <a:spAutoFit/>
          </a:bodyPr>
          <a:lstStyle/>
          <a:p>
            <a:pPr>
              <a:lnSpc>
                <a:spcPts val="1700"/>
              </a:lnSpc>
            </a:pPr>
            <a:r>
              <a:rPr sz="1200" b="0">
                <a:solidFill>
                  <a:srgbClr val="374151"/>
                </a:solidFill>
                <a:latin typeface="Calibri"/>
              </a:rPr>
              <a:t>An agent-development experiment. A deliberately low-stakes, high-visibility surface on which to exercise publishing, safety, and feedback-loop patterns.</a:t>
            </a:r>
          </a:p>
        </p:txBody>
      </p:sp>
      <p:sp>
        <p:nvSpPr>
          <p:cNvPr id="8" name="Rectangle 7"/>
          <p:cNvSpPr/>
          <p:nvPr/>
        </p:nvSpPr>
        <p:spPr>
          <a:xfrm>
            <a:off x="566928" y="2494483"/>
            <a:ext cx="11055096" cy="811987"/>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94483"/>
            <a:ext cx="2240280" cy="8119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494483"/>
            <a:ext cx="1874519" cy="811987"/>
          </a:xfrm>
          <a:prstGeom prst="rect">
            <a:avLst/>
          </a:prstGeom>
          <a:noFill/>
        </p:spPr>
        <p:txBody>
          <a:bodyPr wrap="square" lIns="0" rIns="0" tIns="0" bIns="0" anchor="ctr">
            <a:spAutoFit/>
          </a:bodyPr>
          <a:lstStyle/>
          <a:p>
            <a:r>
              <a:rPr sz="1300" b="1">
                <a:solidFill>
                  <a:srgbClr val="1F2937"/>
                </a:solidFill>
                <a:latin typeface="Cambria"/>
              </a:rPr>
              <a:t>It is not</a:t>
            </a:r>
          </a:p>
        </p:txBody>
      </p:sp>
      <p:sp>
        <p:nvSpPr>
          <p:cNvPr id="11" name="TextBox 10"/>
          <p:cNvSpPr txBox="1"/>
          <p:nvPr/>
        </p:nvSpPr>
        <p:spPr>
          <a:xfrm>
            <a:off x="3035808" y="2585923"/>
            <a:ext cx="8357616" cy="629107"/>
          </a:xfrm>
          <a:prstGeom prst="rect">
            <a:avLst/>
          </a:prstGeom>
          <a:noFill/>
        </p:spPr>
        <p:txBody>
          <a:bodyPr wrap="square" lIns="0" rIns="0" tIns="0" bIns="0" anchor="ctr">
            <a:spAutoFit/>
          </a:bodyPr>
          <a:lstStyle/>
          <a:p>
            <a:pPr>
              <a:lnSpc>
                <a:spcPts val="1700"/>
              </a:lnSpc>
            </a:pPr>
            <a:r>
              <a:rPr sz="1200" b="0">
                <a:solidFill>
                  <a:srgbClr val="374151"/>
                </a:solidFill>
                <a:latin typeface="Calibri"/>
              </a:rPr>
              <a:t>A website project. cindypawford.com is a conduit — the channel through which the agent communicates and receives feedback. Its content is disposable by design.</a:t>
            </a:r>
          </a:p>
        </p:txBody>
      </p:sp>
      <p:sp>
        <p:nvSpPr>
          <p:cNvPr id="12" name="Rectangle 11"/>
          <p:cNvSpPr/>
          <p:nvPr/>
        </p:nvSpPr>
        <p:spPr>
          <a:xfrm>
            <a:off x="566928" y="3434486"/>
            <a:ext cx="11055096" cy="811987"/>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434486"/>
            <a:ext cx="2240280" cy="8119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434486"/>
            <a:ext cx="1874519" cy="811987"/>
          </a:xfrm>
          <a:prstGeom prst="rect">
            <a:avLst/>
          </a:prstGeom>
          <a:noFill/>
        </p:spPr>
        <p:txBody>
          <a:bodyPr wrap="square" lIns="0" rIns="0" tIns="0" bIns="0" anchor="ctr">
            <a:spAutoFit/>
          </a:bodyPr>
          <a:lstStyle/>
          <a:p>
            <a:r>
              <a:rPr sz="1300" b="1">
                <a:solidFill>
                  <a:srgbClr val="1F2937"/>
                </a:solidFill>
                <a:latin typeface="Cambria"/>
              </a:rPr>
              <a:t>It is not</a:t>
            </a:r>
          </a:p>
        </p:txBody>
      </p:sp>
      <p:sp>
        <p:nvSpPr>
          <p:cNvPr id="15" name="TextBox 14"/>
          <p:cNvSpPr txBox="1"/>
          <p:nvPr/>
        </p:nvSpPr>
        <p:spPr>
          <a:xfrm>
            <a:off x="3035808" y="3525926"/>
            <a:ext cx="8357616" cy="629107"/>
          </a:xfrm>
          <a:prstGeom prst="rect">
            <a:avLst/>
          </a:prstGeom>
          <a:noFill/>
        </p:spPr>
        <p:txBody>
          <a:bodyPr wrap="square" lIns="0" rIns="0" tIns="0" bIns="0" anchor="ctr">
            <a:spAutoFit/>
          </a:bodyPr>
          <a:lstStyle/>
          <a:p>
            <a:pPr>
              <a:lnSpc>
                <a:spcPts val="1700"/>
              </a:lnSpc>
            </a:pPr>
            <a:r>
              <a:rPr sz="1200" b="0">
                <a:solidFill>
                  <a:srgbClr val="374151"/>
                </a:solidFill>
                <a:latin typeface="Calibri"/>
              </a:rPr>
              <a:t>A persona project. The dog-on-the-phone voice is delivery, not payload.</a:t>
            </a:r>
          </a:p>
        </p:txBody>
      </p:sp>
      <p:sp>
        <p:nvSpPr>
          <p:cNvPr id="16" name="Rectangle 15"/>
          <p:cNvSpPr/>
          <p:nvPr/>
        </p:nvSpPr>
        <p:spPr>
          <a:xfrm>
            <a:off x="566928" y="4374489"/>
            <a:ext cx="11055096" cy="811987"/>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374489"/>
            <a:ext cx="2240280" cy="8119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374489"/>
            <a:ext cx="1874519" cy="811987"/>
          </a:xfrm>
          <a:prstGeom prst="rect">
            <a:avLst/>
          </a:prstGeom>
          <a:noFill/>
        </p:spPr>
        <p:txBody>
          <a:bodyPr wrap="square" lIns="0" rIns="0" tIns="0" bIns="0" anchor="ctr">
            <a:spAutoFit/>
          </a:bodyPr>
          <a:lstStyle/>
          <a:p>
            <a:r>
              <a:rPr sz="1300" b="1">
                <a:solidFill>
                  <a:srgbClr val="1F2937"/>
                </a:solidFill>
                <a:latin typeface="Cambria"/>
              </a:rPr>
              <a:t>The deliverable</a:t>
            </a:r>
          </a:p>
        </p:txBody>
      </p:sp>
      <p:sp>
        <p:nvSpPr>
          <p:cNvPr id="19" name="TextBox 18"/>
          <p:cNvSpPr txBox="1"/>
          <p:nvPr/>
        </p:nvSpPr>
        <p:spPr>
          <a:xfrm>
            <a:off x="3035808" y="4465929"/>
            <a:ext cx="8357616" cy="629107"/>
          </a:xfrm>
          <a:prstGeom prst="rect">
            <a:avLst/>
          </a:prstGeom>
          <a:noFill/>
        </p:spPr>
        <p:txBody>
          <a:bodyPr wrap="square" lIns="0" rIns="0" tIns="0" bIns="0" anchor="ctr">
            <a:spAutoFit/>
          </a:bodyPr>
          <a:lstStyle/>
          <a:p>
            <a:pPr>
              <a:lnSpc>
                <a:spcPts val="1700"/>
              </a:lnSpc>
            </a:pPr>
            <a:r>
              <a:rPr sz="1200" b="0">
                <a:solidFill>
                  <a:srgbClr val="374151"/>
                </a:solidFill>
                <a:latin typeface="Calibri"/>
              </a:rPr>
              <a:t>A framework and set of best practices for securing an agent that authors and publishes to the public internet. The site is the evidence; the pattern is the product.</a:t>
            </a:r>
          </a:p>
        </p:txBody>
      </p:sp>
      <p:sp>
        <p:nvSpPr>
          <p:cNvPr id="20" name="Rectangle 19"/>
          <p:cNvSpPr/>
          <p:nvPr/>
        </p:nvSpPr>
        <p:spPr>
          <a:xfrm>
            <a:off x="566928" y="5314492"/>
            <a:ext cx="11055096" cy="811987"/>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314492"/>
            <a:ext cx="2240280" cy="8119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314492"/>
            <a:ext cx="1874519" cy="811987"/>
          </a:xfrm>
          <a:prstGeom prst="rect">
            <a:avLst/>
          </a:prstGeom>
          <a:noFill/>
        </p:spPr>
        <p:txBody>
          <a:bodyPr wrap="square" lIns="0" rIns="0" tIns="0" bIns="0" anchor="ctr">
            <a:spAutoFit/>
          </a:bodyPr>
          <a:lstStyle/>
          <a:p>
            <a:r>
              <a:rPr sz="1300" b="1">
                <a:solidFill>
                  <a:srgbClr val="1F2937"/>
                </a:solidFill>
                <a:latin typeface="Cambria"/>
              </a:rPr>
              <a:t>Sibling project</a:t>
            </a:r>
          </a:p>
        </p:txBody>
      </p:sp>
      <p:sp>
        <p:nvSpPr>
          <p:cNvPr id="23" name="TextBox 22"/>
          <p:cNvSpPr txBox="1"/>
          <p:nvPr/>
        </p:nvSpPr>
        <p:spPr>
          <a:xfrm>
            <a:off x="3035808" y="5405932"/>
            <a:ext cx="8357616" cy="629107"/>
          </a:xfrm>
          <a:prstGeom prst="rect">
            <a:avLst/>
          </a:prstGeom>
          <a:noFill/>
        </p:spPr>
        <p:txBody>
          <a:bodyPr wrap="square" lIns="0" rIns="0" tIns="0" bIns="0" anchor="ctr">
            <a:spAutoFit/>
          </a:bodyPr>
          <a:lstStyle/>
          <a:p>
            <a:pPr>
              <a:lnSpc>
                <a:spcPts val="1700"/>
              </a:lnSpc>
            </a:pPr>
            <a:r>
              <a:rPr sz="1200" b="0">
                <a:solidFill>
                  <a:srgbClr val="374151"/>
                </a:solidFill>
                <a:latin typeface="Calibri"/>
              </a:rPr>
              <a:t>Football Dan (football-dan, already in the fleet manifest) will use the same reporting and SDLC scaffolding to study whether an agent can build a dynamic, curated, and accurate knowledge graph. Same instrument, different question.</a:t>
            </a:r>
          </a:p>
        </p:txBody>
      </p:sp>
      <p:sp>
        <p:nvSpPr>
          <p:cNvPr id="24" name="TextBox 23"/>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Architecture at a glance</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Hardware to public surface, and the gate in between.</a:t>
            </a:r>
          </a:p>
        </p:txBody>
      </p:sp>
      <p:graphicFrame>
        <p:nvGraphicFramePr>
          <p:cNvPr id="4" name="Table 3"/>
          <p:cNvGraphicFramePr>
            <a:graphicFrameLocks noGrp="1"/>
          </p:cNvGraphicFramePr>
          <p:nvPr/>
        </p:nvGraphicFramePr>
        <p:xfrm>
          <a:off x="566928" y="1481328"/>
          <a:ext cx="11055094" cy="3931920"/>
        </p:xfrm>
        <a:graphic>
          <a:graphicData uri="http://schemas.openxmlformats.org/drawingml/2006/table">
            <a:tbl>
              <a:tblPr firstRow="0" bandRow="0" firstCol="0">
                <a:tableStyleId>{5C22544A-7EE6-4342-B048-85BDC9FD1C3A}</a:tableStyleId>
              </a:tblPr>
              <a:tblGrid>
                <a:gridCol w="1461830"/>
                <a:gridCol w="2832297"/>
                <a:gridCol w="6760967"/>
              </a:tblGrid>
              <a:tr h="327660">
                <a:tc>
                  <a:txBody>
                    <a:bodyPr wrap="square"/>
                    <a:lstStyle/>
                    <a:p>
                      <a:r>
                        <a:rPr sz="1100" b="1">
                          <a:solidFill>
                            <a:srgbClr val="B45309"/>
                          </a:solidFill>
                          <a:latin typeface="Calibri"/>
                        </a:rPr>
                        <a:t>LAYER</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COMPONENT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NOTE</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Hardware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DGX appliance, home lab</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Local inference. Power draw is measurable, which makes cost-per-feature expressible in joules as well as dollars.</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Runtime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Hermes, per-agent container</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Declarative personas at config/hermes/personas/*.md. Sub-personas supported — this is the September 15 fix.</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Fleet manifest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config/agents.yaml</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Single source of truth. Compose topology is generated from it; CI fails on drift.</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Model routing</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LiteLLM, alias cindy-active-coding-model</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Model is swappable behind an alias, which is what makes era-over-era model comparison possible.</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Control plane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patternsatscale/project-titan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Human-owned. Infrastructure-as-code, verification suites, reset/archive/rollback scripts, the credential-injecting proxy. The agent has no write path.</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Canvas</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CindyPawford-Online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Agent-owned except the CI directory, which is bind-mounted read-only beneath it.</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Credential custody</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Caddy reverse proxy (github-proxy)</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Token injected in transit. The agent's environment contains no credential, and a suite fails the build if one appears.</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Output surface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cindypawford.com</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Static site, deployed by the control plane after a guarded pull request merges.</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Feedback path</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Public suggestion + voting API, era-partitioned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The closed loop: publish, collect, rank, act. Inbound payloads are treated as data, never instructions.</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Memory plane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Per-agent Markdown, ./data/memories/&lt;id&gt;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Survives the canvas reset. The agent loses the artifact and keeps the learning.</a:t>
                      </a:r>
                    </a:p>
                  </a:txBody>
                  <a:tcPr marL="73152" marR="73152" marT="36576" marB="36576" anchor="ctr">
                    <a:solidFill>
                      <a:srgbClr val="FFFFFF"/>
                    </a:solidFill>
                    <a:lnB w="12700" cap="flat" cmpd="sng" algn="ctr">
                      <a:solidFill>
                        <a:srgbClr val="E5E7EB"/>
                      </a:solidFill>
                      <a:prstDash val="solid"/>
                    </a:lnB>
                  </a:tcPr>
                </a:tc>
              </a:tr>
              <a:tr h="327660">
                <a:tc>
                  <a:txBody>
                    <a:bodyPr wrap="square"/>
                    <a:lstStyle/>
                    <a:p>
                      <a:r>
                        <a:rPr sz="1050" b="1">
                          <a:solidFill>
                            <a:srgbClr val="1F2937"/>
                          </a:solidFill>
                          <a:latin typeface="Calibri"/>
                        </a:rPr>
                        <a:t>Observability</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Langfuse + OpenTelemetry</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050" b="0">
                          <a:solidFill>
                            <a:srgbClr val="374151"/>
                          </a:solidFill>
                          <a:latin typeface="Calibri"/>
                        </a:rPr>
                        <a:t>Inference is traced. Tool calls and memory writes are not yet — a known gap.</a:t>
                      </a:r>
                    </a:p>
                  </a:txBody>
                  <a:tcPr marL="73152" marR="73152" marT="36576" marB="36576" anchor="ctr">
                    <a:solidFill>
                      <a:srgbClr val="FFFFFF"/>
                    </a:solidFill>
                    <a:lnB w="12700" cap="flat" cmpd="sng" algn="ctr">
                      <a:solidFill>
                        <a:srgbClr val="E5E7EB"/>
                      </a:solidFill>
                      <a:prstDash val="solid"/>
                    </a:lnB>
                  </a:tcPr>
                </a:tc>
              </a:tr>
            </a:tbl>
          </a:graphicData>
        </a:graphic>
      </p:graphicFrame>
      <p:sp>
        <p:nvSpPr>
          <p:cNvPr id="5" name="Rectangle 4"/>
          <p:cNvSpPr/>
          <p:nvPr/>
        </p:nvSpPr>
        <p:spPr>
          <a:xfrm>
            <a:off x="566928" y="5449824"/>
            <a:ext cx="11055096" cy="10058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586984"/>
            <a:ext cx="10543032" cy="256032"/>
          </a:xfrm>
          <a:prstGeom prst="rect">
            <a:avLst/>
          </a:prstGeom>
          <a:noFill/>
        </p:spPr>
        <p:txBody>
          <a:bodyPr wrap="square" lIns="0" rIns="0" tIns="0" bIns="0" anchor="t">
            <a:spAutoFit/>
          </a:bodyPr>
          <a:lstStyle/>
          <a:p>
            <a:r>
              <a:rPr sz="1350" b="1">
                <a:solidFill>
                  <a:srgbClr val="1F2937"/>
                </a:solidFill>
                <a:latin typeface="Cambria"/>
              </a:rPr>
              <a:t>The loop</a:t>
            </a:r>
          </a:p>
        </p:txBody>
      </p:sp>
      <p:sp>
        <p:nvSpPr>
          <p:cNvPr id="7" name="TextBox 6"/>
          <p:cNvSpPr txBox="1"/>
          <p:nvPr/>
        </p:nvSpPr>
        <p:spPr>
          <a:xfrm>
            <a:off x="822960" y="5861304"/>
            <a:ext cx="10543032" cy="493776"/>
          </a:xfrm>
          <a:prstGeom prst="rect">
            <a:avLst/>
          </a:prstGeom>
          <a:noFill/>
        </p:spPr>
        <p:txBody>
          <a:bodyPr wrap="square" lIns="0" rIns="0" tIns="0" bIns="0" anchor="t">
            <a:spAutoFit/>
          </a:bodyPr>
          <a:lstStyle/>
          <a:p>
            <a:pPr>
              <a:lnSpc>
                <a:spcPts val="1600"/>
              </a:lnSpc>
            </a:pPr>
            <a:r>
              <a:rPr sz="1150" b="0">
                <a:solidFill>
                  <a:srgbClr val="374151"/>
                </a:solidFill>
                <a:latin typeface="Calibri"/>
              </a:rPr>
              <a:t>The agent wakes on a schedule, reads the ranked public request queue and its own live site, writes changes into the canvas, and pushes through the injecting proxy onto a branch it cannot deploy from. A guard workflow — defined inside a directory the agent cannot write to — diffs the pull request and refuses governed paths. On merge, the control plane deploys.</a:t>
            </a:r>
          </a:p>
        </p:txBody>
      </p:sp>
      <p:sp>
        <p:nvSpPr>
          <p:cNvPr id="8" name="TextBox 7"/>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Where this connects to the pattern library</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This project is the live case for work already written up.</a:t>
            </a:r>
          </a:p>
        </p:txBody>
      </p:sp>
      <p:graphicFrame>
        <p:nvGraphicFramePr>
          <p:cNvPr id="4" name="Table 3"/>
          <p:cNvGraphicFramePr>
            <a:graphicFrameLocks noGrp="1"/>
          </p:cNvGraphicFramePr>
          <p:nvPr/>
        </p:nvGraphicFramePr>
        <p:xfrm>
          <a:off x="566928" y="1554480"/>
          <a:ext cx="11055095" cy="2944368"/>
        </p:xfrm>
        <a:graphic>
          <a:graphicData uri="http://schemas.openxmlformats.org/drawingml/2006/table">
            <a:tbl>
              <a:tblPr firstRow="0" bandRow="0" firstCol="0">
                <a:tableStyleId>{5C22544A-7EE6-4342-B048-85BDC9FD1C3A}</a:tableStyleId>
              </a:tblPr>
              <a:tblGrid>
                <a:gridCol w="3928670"/>
                <a:gridCol w="7126425"/>
              </a:tblGrid>
              <a:tr h="420624">
                <a:tc>
                  <a:txBody>
                    <a:bodyPr wrap="square"/>
                    <a:lstStyle/>
                    <a:p>
                      <a:r>
                        <a:rPr sz="1100" b="1">
                          <a:solidFill>
                            <a:srgbClr val="B45309"/>
                          </a:solidFill>
                          <a:latin typeface="Calibri"/>
                        </a:rPr>
                        <a:t>ARTIFACT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RELATIONSHIP</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Injecting Agents into the SDLC</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Cindy Pawford is the live case. Tickets, walkthroughs, acceptance criteria and verification suites in docs/ are that pattern being executed rather than described.</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The Autonomous Publishing Pattern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Written from this system. Two-repository split, credential injection in transit, destructive-actions-as-requests, weekly reset. This project is where its claims get falsified or hold.</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project-titan — docs/reference-architecture-tenets.md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The TN-n control catalogue (TN-1 input governance through TN-9 recovery). Where each control here is scored against the working tree.</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docs/lab-work/scratch/agent-orchestration-discipline.md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Written 2026-09-17 in response to the token-ceiling failure. A proposed runtime counterpart to AGENTS.md: orchestrator and builder roles, the ticket contract, and admission control. A recommendation in scratch — not accepted, not ticketed, not enforced.</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config/hermes/personas/cindy-pawford.md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The soul file. Names no provider, no gateway host, no deploy mechanism — need-to-know, enforced by a test.</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docs/2026-09-*-ticket*.md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Per-ticket walkthroughs. The audit trail of the agent SDLC in practice.</a:t>
                      </a:r>
                    </a:p>
                  </a:txBody>
                  <a:tcPr marL="73152" marR="73152" marT="36576" marB="36576" anchor="ctr">
                    <a:solidFill>
                      <a:srgbClr val="FFFFFF"/>
                    </a:solidFill>
                    <a:lnB w="12700" cap="flat" cmpd="sng" algn="ctr">
                      <a:solidFill>
                        <a:srgbClr val="E5E7EB"/>
                      </a:solidFill>
                      <a:prstDash val="solid"/>
                    </a:lnB>
                  </a:tcPr>
                </a:tc>
              </a:tr>
            </a:tbl>
          </a:graphicData>
        </a:graphic>
      </p:graphicFrame>
      <p:sp>
        <p:nvSpPr>
          <p:cNvPr id="5" name="Rectangle 4"/>
          <p:cNvSpPr/>
          <p:nvPr/>
        </p:nvSpPr>
        <p:spPr>
          <a:xfrm>
            <a:off x="566928" y="5687568"/>
            <a:ext cx="11055096" cy="7315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824728"/>
            <a:ext cx="10543032" cy="256032"/>
          </a:xfrm>
          <a:prstGeom prst="rect">
            <a:avLst/>
          </a:prstGeom>
          <a:noFill/>
        </p:spPr>
        <p:txBody>
          <a:bodyPr wrap="square" lIns="0" rIns="0" tIns="0" bIns="0" anchor="t">
            <a:spAutoFit/>
          </a:bodyPr>
          <a:lstStyle/>
          <a:p>
            <a:r>
              <a:rPr sz="1350" b="1">
                <a:solidFill>
                  <a:srgbClr val="1F2937"/>
                </a:solidFill>
                <a:latin typeface="Cambria"/>
              </a:rPr>
              <a:t>Companion decks</a:t>
            </a:r>
          </a:p>
        </p:txBody>
      </p:sp>
      <p:sp>
        <p:nvSpPr>
          <p:cNvPr id="7" name="TextBox 6"/>
          <p:cNvSpPr txBox="1"/>
          <p:nvPr/>
        </p:nvSpPr>
        <p:spPr>
          <a:xfrm>
            <a:off x="822960" y="6099048"/>
            <a:ext cx="10543032" cy="219456"/>
          </a:xfrm>
          <a:prstGeom prst="rect">
            <a:avLst/>
          </a:prstGeom>
          <a:noFill/>
        </p:spPr>
        <p:txBody>
          <a:bodyPr wrap="square" lIns="0" rIns="0" tIns="0" bIns="0" anchor="t">
            <a:spAutoFit/>
          </a:bodyPr>
          <a:lstStyle/>
          <a:p>
            <a:pPr>
              <a:lnSpc>
                <a:spcPts val="1600"/>
              </a:lnSpc>
            </a:pPr>
            <a:r>
              <a:rPr sz="1200" b="0">
                <a:solidFill>
                  <a:srgbClr val="374151"/>
                </a:solidFill>
                <a:latin typeface="Calibri"/>
              </a:rPr>
              <a:t>Injecting Agents into the SDLC  ·  The Autonomous Publishing Pattern</a:t>
            </a:r>
          </a:p>
        </p:txBody>
      </p:sp>
      <p:sp>
        <p:nvSpPr>
          <p:cNvPr id="8" name="TextBox 7"/>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Milestones</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Shipped, in flight, and not yet attempted.</a:t>
            </a:r>
          </a:p>
        </p:txBody>
      </p:sp>
      <p:graphicFrame>
        <p:nvGraphicFramePr>
          <p:cNvPr id="4" name="Table 3"/>
          <p:cNvGraphicFramePr>
            <a:graphicFrameLocks noGrp="1"/>
          </p:cNvGraphicFramePr>
          <p:nvPr/>
        </p:nvGraphicFramePr>
        <p:xfrm>
          <a:off x="566928" y="1554480"/>
          <a:ext cx="11055094" cy="4571994"/>
        </p:xfrm>
        <a:graphic>
          <a:graphicData uri="http://schemas.openxmlformats.org/drawingml/2006/table">
            <a:tbl>
              <a:tblPr firstRow="0" bandRow="0" firstCol="0">
                <a:tableStyleId>{5C22544A-7EE6-4342-B048-85BDC9FD1C3A}</a:tableStyleId>
              </a:tblPr>
              <a:tblGrid>
                <a:gridCol w="1553195"/>
                <a:gridCol w="7857340"/>
                <a:gridCol w="1644559"/>
              </a:tblGrid>
              <a:tr h="326571">
                <a:tc>
                  <a:txBody>
                    <a:bodyPr wrap="square"/>
                    <a:lstStyle/>
                    <a:p>
                      <a:r>
                        <a:rPr sz="1100" b="1">
                          <a:solidFill>
                            <a:srgbClr val="B45309"/>
                          </a:solidFill>
                          <a:latin typeface="Calibri"/>
                        </a:rPr>
                        <a:t>DATE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MILESTONE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STATUS</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2026-09-06</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Project Titan control plane initialised; ticket-driven SDLC established</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2026-09-14</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Fleet decomposed into per-agent containers; Cindy Pawford unit stood up</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2026-09-15</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Full appliance verification pass — 11 acceptance criteria, all suites green</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2026-09-15</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Persona bleed identified and fixed via a dedicated authoring sub-persona</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2026-09-16</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v0.1.0 — agent-authored code published to cindypawford.com</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2026-09-17</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Failure mode identified: no work-decomposition rule (four-deliverable brief)</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15803D"/>
                          </a:solidFill>
                          <a:latin typeface="Calibri"/>
                        </a:rPr>
                        <a:t>Done</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2026-09-17</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Orchestration discipline proposed: orchestrator, builder, one ticket at a time</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B45309"/>
                          </a:solidFill>
                          <a:latin typeface="Calibri"/>
                        </a:rPr>
                        <a:t>In flight</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Proposal accepted, ticketed, and wired into Cindy's runtime context; re-tested</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Per-cycle work budget and admission control on the request queue</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Per-action audit log for tool calls and memory writes</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Outbound egress restriction (custody is not containment)</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Closed feedback loop unattended: votes to ranked queue to shipped feature</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r h="326571">
                <a:tc>
                  <a:txBody>
                    <a:bodyPr wrap="square"/>
                    <a:lstStyle/>
                    <a:p>
                      <a:r>
                        <a:rPr sz="1100" b="1">
                          <a:solidFill>
                            <a:srgbClr val="1F2937"/>
                          </a:solidFill>
                          <a:latin typeface="Calibri"/>
                        </a:rPr>
                        <a: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First era reset and model rotation, producing a longitudinal comparison</a:t>
                      </a:r>
                    </a:p>
                  </a:txBody>
                  <a:tcPr marL="73152" marR="73152" marT="36576" marB="36576" anchor="ctr">
                    <a:solidFill>
                      <a:srgbClr val="FFFFFF"/>
                    </a:solidFill>
                    <a:lnB w="12700" cap="flat" cmpd="sng" algn="ctr">
                      <a:solidFill>
                        <a:srgbClr val="E5E7EB"/>
                      </a:solidFill>
                      <a:prstDash val="solid"/>
                    </a:lnB>
                  </a:tcPr>
                </a:tc>
                <a:tc>
                  <a:txBody>
                    <a:bodyPr wrap="square"/>
                    <a:lstStyle/>
                    <a:p>
                      <a:pPr algn="ctr"/>
                      <a:r>
                        <a:rPr sz="1100" b="1">
                          <a:solidFill>
                            <a:srgbClr val="6B7280"/>
                          </a:solidFill>
                          <a:latin typeface="Calibri"/>
                        </a:rPr>
                        <a:t>Planned</a:t>
                      </a:r>
                    </a:p>
                  </a:txBody>
                  <a:tcPr marL="73152" marR="73152" marT="36576" marB="36576" anchor="ctr">
                    <a:solidFill>
                      <a:srgbClr val="FFFFFF"/>
                    </a:solidFill>
                    <a:lnB w="12700" cap="flat" cmpd="sng" algn="ctr">
                      <a:solidFill>
                        <a:srgbClr val="E5E7EB"/>
                      </a:solidFill>
                      <a:prstDash val="solid"/>
                    </a:lnB>
                  </a:tcPr>
                </a:tc>
              </a:tr>
            </a:tbl>
          </a:graphicData>
        </a:graphic>
      </p:graphicFrame>
      <p:sp>
        <p:nvSpPr>
          <p:cNvPr id="5" name="TextBox 4"/>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What I've learned</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Promoted out of the daily log. Each one transfers to a project unlike this one.</a:t>
            </a:r>
          </a:p>
        </p:txBody>
      </p:sp>
      <p:sp>
        <p:nvSpPr>
          <p:cNvPr id="4" name="Rectangle 3"/>
          <p:cNvSpPr/>
          <p:nvPr/>
        </p:nvSpPr>
        <p:spPr>
          <a:xfrm>
            <a:off x="566928" y="1463040"/>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63040"/>
            <a:ext cx="749808" cy="5074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96746"/>
            <a:ext cx="749808" cy="640080"/>
          </a:xfrm>
          <a:prstGeom prst="rect">
            <a:avLst/>
          </a:prstGeom>
          <a:noFill/>
        </p:spPr>
        <p:txBody>
          <a:bodyPr wrap="square" lIns="0" rIns="0" tIns="0" bIns="0" anchor="ctr">
            <a:spAutoFit/>
          </a:bodyPr>
          <a:lstStyle/>
          <a:p>
            <a:pPr algn="ctr"/>
            <a:r>
              <a:rPr sz="2600" b="1">
                <a:solidFill>
                  <a:srgbClr val="FFFFFF"/>
                </a:solidFill>
                <a:latin typeface="Cambria"/>
              </a:rPr>
              <a:t>L1</a:t>
            </a:r>
          </a:p>
        </p:txBody>
      </p:sp>
      <p:sp>
        <p:nvSpPr>
          <p:cNvPr id="7" name="TextBox 6"/>
          <p:cNvSpPr txBox="1"/>
          <p:nvPr/>
        </p:nvSpPr>
        <p:spPr>
          <a:xfrm>
            <a:off x="1609344" y="1591056"/>
            <a:ext cx="9866376" cy="269747"/>
          </a:xfrm>
          <a:prstGeom prst="rect">
            <a:avLst/>
          </a:prstGeom>
          <a:noFill/>
        </p:spPr>
        <p:txBody>
          <a:bodyPr wrap="square" lIns="0" rIns="0" tIns="0" bIns="0" anchor="ctr">
            <a:spAutoFit/>
          </a:bodyPr>
          <a:lstStyle/>
          <a:p>
            <a:pPr>
              <a:lnSpc>
                <a:spcPts val="1700"/>
              </a:lnSpc>
            </a:pPr>
            <a:r>
              <a:rPr sz="1250" b="0">
                <a:solidFill>
                  <a:srgbClr val="374151"/>
                </a:solidFill>
                <a:latin typeface="Calibri"/>
              </a:rPr>
              <a:t>Persona and product are separate concerns, and nothing enforces that by default. An agent asked to build something will treat its own identity as available material and write it into the artifact.</a:t>
            </a:r>
          </a:p>
        </p:txBody>
      </p:sp>
      <p:sp>
        <p:nvSpPr>
          <p:cNvPr id="8" name="Rectangle 7"/>
          <p:cNvSpPr/>
          <p:nvPr/>
        </p:nvSpPr>
        <p:spPr>
          <a:xfrm>
            <a:off x="566928" y="2089404"/>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89404"/>
            <a:ext cx="749808" cy="507491"/>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023110"/>
            <a:ext cx="749808" cy="640080"/>
          </a:xfrm>
          <a:prstGeom prst="rect">
            <a:avLst/>
          </a:prstGeom>
          <a:noFill/>
        </p:spPr>
        <p:txBody>
          <a:bodyPr wrap="square" lIns="0" rIns="0" tIns="0" bIns="0" anchor="ctr">
            <a:spAutoFit/>
          </a:bodyPr>
          <a:lstStyle/>
          <a:p>
            <a:pPr algn="ctr"/>
            <a:r>
              <a:rPr sz="2600" b="1">
                <a:solidFill>
                  <a:srgbClr val="FFFFFF"/>
                </a:solidFill>
                <a:latin typeface="Cambria"/>
              </a:rPr>
              <a:t>L2</a:t>
            </a:r>
          </a:p>
        </p:txBody>
      </p:sp>
      <p:sp>
        <p:nvSpPr>
          <p:cNvPr id="11" name="TextBox 10"/>
          <p:cNvSpPr txBox="1"/>
          <p:nvPr/>
        </p:nvSpPr>
        <p:spPr>
          <a:xfrm>
            <a:off x="1609344" y="2217420"/>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Sub-personas are a compartmentalisation control, not just an ergonomic feature. Giving the authoring task its own persona with its own context removes the identity parameters from the generation path entirely — the same "remove the capability rather than police it" move the publishing pattern makes with credentials.</a:t>
            </a:r>
          </a:p>
        </p:txBody>
      </p:sp>
      <p:sp>
        <p:nvSpPr>
          <p:cNvPr id="12" name="Rectangle 11"/>
          <p:cNvSpPr/>
          <p:nvPr/>
        </p:nvSpPr>
        <p:spPr>
          <a:xfrm>
            <a:off x="566928" y="2715768"/>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715768"/>
            <a:ext cx="749808" cy="50749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649474"/>
            <a:ext cx="749808" cy="640080"/>
          </a:xfrm>
          <a:prstGeom prst="rect">
            <a:avLst/>
          </a:prstGeom>
          <a:noFill/>
        </p:spPr>
        <p:txBody>
          <a:bodyPr wrap="square" lIns="0" rIns="0" tIns="0" bIns="0" anchor="ctr">
            <a:spAutoFit/>
          </a:bodyPr>
          <a:lstStyle/>
          <a:p>
            <a:pPr algn="ctr"/>
            <a:r>
              <a:rPr sz="2600" b="1">
                <a:solidFill>
                  <a:srgbClr val="FFFFFF"/>
                </a:solidFill>
                <a:latin typeface="Cambria"/>
              </a:rPr>
              <a:t>L3</a:t>
            </a:r>
          </a:p>
        </p:txBody>
      </p:sp>
      <p:sp>
        <p:nvSpPr>
          <p:cNvPr id="15" name="TextBox 14"/>
          <p:cNvSpPr txBox="1"/>
          <p:nvPr/>
        </p:nvSpPr>
        <p:spPr>
          <a:xfrm>
            <a:off x="1609344" y="2843784"/>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The harness fails before the model does. The dominant failure so far is context and token-window exhaustion on open-ended creative tasks, not poor reasoning. Budget the window as a first-class resource and make the agent's task decomposable.</a:t>
            </a:r>
          </a:p>
        </p:txBody>
      </p:sp>
      <p:sp>
        <p:nvSpPr>
          <p:cNvPr id="16" name="Rectangle 15"/>
          <p:cNvSpPr/>
          <p:nvPr/>
        </p:nvSpPr>
        <p:spPr>
          <a:xfrm>
            <a:off x="566928" y="3342132"/>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342132"/>
            <a:ext cx="749808" cy="5074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275837"/>
            <a:ext cx="749808" cy="640080"/>
          </a:xfrm>
          <a:prstGeom prst="rect">
            <a:avLst/>
          </a:prstGeom>
          <a:noFill/>
        </p:spPr>
        <p:txBody>
          <a:bodyPr wrap="square" lIns="0" rIns="0" tIns="0" bIns="0" anchor="ctr">
            <a:spAutoFit/>
          </a:bodyPr>
          <a:lstStyle/>
          <a:p>
            <a:pPr algn="ctr"/>
            <a:r>
              <a:rPr sz="2600" b="1">
                <a:solidFill>
                  <a:srgbClr val="FFFFFF"/>
                </a:solidFill>
                <a:latin typeface="Cambria"/>
              </a:rPr>
              <a:t>L4</a:t>
            </a:r>
          </a:p>
        </p:txBody>
      </p:sp>
      <p:sp>
        <p:nvSpPr>
          <p:cNvPr id="19" name="TextBox 18"/>
          <p:cNvSpPr txBox="1"/>
          <p:nvPr/>
        </p:nvSpPr>
        <p:spPr>
          <a:xfrm>
            <a:off x="1609344" y="3470148"/>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Open-ended fun is a harder test than useful work. "Build a game about yourself" has no natural stopping condition, no acceptance criteria, and maximum incentive for self-reference — which is exactly why it surfaces limits that structured tickets hide.</a:t>
            </a:r>
          </a:p>
        </p:txBody>
      </p:sp>
      <p:sp>
        <p:nvSpPr>
          <p:cNvPr id="20" name="Rectangle 19"/>
          <p:cNvSpPr/>
          <p:nvPr/>
        </p:nvSpPr>
        <p:spPr>
          <a:xfrm>
            <a:off x="566928" y="3968496"/>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968496"/>
            <a:ext cx="749808" cy="507491"/>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902202"/>
            <a:ext cx="749808" cy="640080"/>
          </a:xfrm>
          <a:prstGeom prst="rect">
            <a:avLst/>
          </a:prstGeom>
          <a:noFill/>
        </p:spPr>
        <p:txBody>
          <a:bodyPr wrap="square" lIns="0" rIns="0" tIns="0" bIns="0" anchor="ctr">
            <a:spAutoFit/>
          </a:bodyPr>
          <a:lstStyle/>
          <a:p>
            <a:pPr algn="ctr"/>
            <a:r>
              <a:rPr sz="2600" b="1">
                <a:solidFill>
                  <a:srgbClr val="FFFFFF"/>
                </a:solidFill>
                <a:latin typeface="Cambria"/>
              </a:rPr>
              <a:t>L5</a:t>
            </a:r>
          </a:p>
        </p:txBody>
      </p:sp>
      <p:sp>
        <p:nvSpPr>
          <p:cNvPr id="23" name="TextBox 22"/>
          <p:cNvSpPr txBox="1"/>
          <p:nvPr/>
        </p:nvSpPr>
        <p:spPr>
          <a:xfrm>
            <a:off x="1609344" y="4096511"/>
            <a:ext cx="9866376" cy="269747"/>
          </a:xfrm>
          <a:prstGeom prst="rect">
            <a:avLst/>
          </a:prstGeom>
          <a:noFill/>
        </p:spPr>
        <p:txBody>
          <a:bodyPr wrap="square" lIns="0" rIns="0" tIns="0" bIns="0" anchor="ctr">
            <a:spAutoFit/>
          </a:bodyPr>
          <a:lstStyle/>
          <a:p>
            <a:pPr>
              <a:lnSpc>
                <a:spcPts val="1700"/>
              </a:lnSpc>
            </a:pPr>
            <a:r>
              <a:rPr sz="1250" b="0">
                <a:solidFill>
                  <a:srgbClr val="374151"/>
                </a:solidFill>
                <a:latin typeface="Calibri"/>
              </a:rPr>
              <a:t>A gate the agent cannot reach beats a trust judgement about the agent. It is what makes a daily publishing cadence defensible rather than brave.</a:t>
            </a:r>
          </a:p>
        </p:txBody>
      </p:sp>
      <p:sp>
        <p:nvSpPr>
          <p:cNvPr id="24" name="Rectangle 23"/>
          <p:cNvSpPr/>
          <p:nvPr/>
        </p:nvSpPr>
        <p:spPr>
          <a:xfrm>
            <a:off x="566928" y="4594860"/>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4594860"/>
            <a:ext cx="749808" cy="50749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528566"/>
            <a:ext cx="749808" cy="640080"/>
          </a:xfrm>
          <a:prstGeom prst="rect">
            <a:avLst/>
          </a:prstGeom>
          <a:noFill/>
        </p:spPr>
        <p:txBody>
          <a:bodyPr wrap="square" lIns="0" rIns="0" tIns="0" bIns="0" anchor="ctr">
            <a:spAutoFit/>
          </a:bodyPr>
          <a:lstStyle/>
          <a:p>
            <a:pPr algn="ctr"/>
            <a:r>
              <a:rPr sz="2600" b="1">
                <a:solidFill>
                  <a:srgbClr val="FFFFFF"/>
                </a:solidFill>
                <a:latin typeface="Cambria"/>
              </a:rPr>
              <a:t>L6</a:t>
            </a:r>
          </a:p>
        </p:txBody>
      </p:sp>
      <p:sp>
        <p:nvSpPr>
          <p:cNvPr id="27" name="TextBox 26"/>
          <p:cNvSpPr txBox="1"/>
          <p:nvPr/>
        </p:nvSpPr>
        <p:spPr>
          <a:xfrm>
            <a:off x="1609344" y="4722876"/>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Orchestration is a safety control, not a productivity trick. An agent that both plans and builds fills its own context with generated code and then loses both jobs. Split the roles: the orchestrator holds judgement, voice and the plan; a builder sub-agent holds one ticket, its own terminal and its own context, and returns a…</a:t>
            </a:r>
          </a:p>
        </p:txBody>
      </p:sp>
      <p:sp>
        <p:nvSpPr>
          <p:cNvPr id="28" name="Rectangle 27"/>
          <p:cNvSpPr/>
          <p:nvPr/>
        </p:nvSpPr>
        <p:spPr>
          <a:xfrm>
            <a:off x="566928" y="5221223"/>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221223"/>
            <a:ext cx="749808" cy="50749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154929"/>
            <a:ext cx="749808" cy="640080"/>
          </a:xfrm>
          <a:prstGeom prst="rect">
            <a:avLst/>
          </a:prstGeom>
          <a:noFill/>
        </p:spPr>
        <p:txBody>
          <a:bodyPr wrap="square" lIns="0" rIns="0" tIns="0" bIns="0" anchor="ctr">
            <a:spAutoFit/>
          </a:bodyPr>
          <a:lstStyle/>
          <a:p>
            <a:pPr algn="ctr"/>
            <a:r>
              <a:rPr sz="2600" b="1">
                <a:solidFill>
                  <a:srgbClr val="FFFFFF"/>
                </a:solidFill>
                <a:latin typeface="Cambria"/>
              </a:rPr>
              <a:t>L7</a:t>
            </a:r>
          </a:p>
        </p:txBody>
      </p:sp>
      <p:sp>
        <p:nvSpPr>
          <p:cNvPr id="31" name="TextBox 30"/>
          <p:cNvSpPr txBox="1"/>
          <p:nvPr/>
        </p:nvSpPr>
        <p:spPr>
          <a:xfrm>
            <a:off x="1609344" y="5349239"/>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Any agent facing a queue needs admission control. A brief with four deliverables and a public request queue with forty votes are the same input: unbounded work admitted into one cycle. The queue must be treated as a backlog, not a work order, with a per-cycle work budget that is enforced outside the agent.</a:t>
            </a:r>
          </a:p>
        </p:txBody>
      </p:sp>
      <p:sp>
        <p:nvSpPr>
          <p:cNvPr id="32" name="Rectangle 31"/>
          <p:cNvSpPr/>
          <p:nvPr/>
        </p:nvSpPr>
        <p:spPr>
          <a:xfrm>
            <a:off x="566928" y="5847588"/>
            <a:ext cx="11055096" cy="50749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847588"/>
            <a:ext cx="749808" cy="507491"/>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781294"/>
            <a:ext cx="749808" cy="640080"/>
          </a:xfrm>
          <a:prstGeom prst="rect">
            <a:avLst/>
          </a:prstGeom>
          <a:noFill/>
        </p:spPr>
        <p:txBody>
          <a:bodyPr wrap="square" lIns="0" rIns="0" tIns="0" bIns="0" anchor="ctr">
            <a:spAutoFit/>
          </a:bodyPr>
          <a:lstStyle/>
          <a:p>
            <a:pPr algn="ctr"/>
            <a:r>
              <a:rPr sz="2600" b="1">
                <a:solidFill>
                  <a:srgbClr val="FFFFFF"/>
                </a:solidFill>
                <a:latin typeface="Cambria"/>
              </a:rPr>
              <a:t>L8</a:t>
            </a:r>
          </a:p>
        </p:txBody>
      </p:sp>
      <p:sp>
        <p:nvSpPr>
          <p:cNvPr id="35" name="TextBox 34"/>
          <p:cNvSpPr txBox="1"/>
          <p:nvPr/>
        </p:nvSpPr>
        <p:spPr>
          <a:xfrm>
            <a:off x="1609344" y="5975603"/>
            <a:ext cx="9866376" cy="269747"/>
          </a:xfrm>
          <a:prstGeom prst="rect">
            <a:avLst/>
          </a:prstGeom>
          <a:noFill/>
        </p:spPr>
        <p:txBody>
          <a:bodyPr wrap="square" lIns="0" rIns="0" tIns="0" bIns="0" anchor="ctr">
            <a:spAutoFit/>
          </a:bodyPr>
          <a:lstStyle/>
          <a:p>
            <a:pPr>
              <a:lnSpc>
                <a:spcPts val="1700"/>
              </a:lnSpc>
            </a:pPr>
            <a:r>
              <a:rPr sz="1150" b="0">
                <a:solidFill>
                  <a:srgbClr val="374151"/>
                </a:solidFill>
                <a:latin typeface="Calibri"/>
              </a:rPr>
              <a:t>An agent's self-report is not evidence. Mid-run status claimed files written and syntax-valid that were not on disk. With no per-action record there is no way to adjudicate afterwards, so progress must be verified against the filesystem rather than read out of the transcript.</a:t>
            </a:r>
          </a:p>
        </p:txBody>
      </p:sp>
      <p:sp>
        <p:nvSpPr>
          <p:cNvPr id="36" name="TextBox 35"/>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566928"/>
          </a:xfrm>
          <a:prstGeom prst="rect">
            <a:avLst/>
          </a:prstGeom>
          <a:noFill/>
        </p:spPr>
        <p:txBody>
          <a:bodyPr wrap="square" lIns="0" rIns="0" tIns="0" bIns="0" anchor="ctr">
            <a:spAutoFit/>
          </a:bodyPr>
          <a:lstStyle/>
          <a:p>
            <a:r>
              <a:rPr sz="3000" b="1">
                <a:solidFill>
                  <a:srgbClr val="1F2937"/>
                </a:solidFill>
                <a:latin typeface="Cambria"/>
              </a:rPr>
              <a:t>Open questions and risks</a:t>
            </a:r>
          </a:p>
        </p:txBody>
      </p:sp>
      <p:sp>
        <p:nvSpPr>
          <p:cNvPr id="3" name="TextBox 2"/>
          <p:cNvSpPr txBox="1"/>
          <p:nvPr/>
        </p:nvSpPr>
        <p:spPr>
          <a:xfrm>
            <a:off x="566928" y="914400"/>
            <a:ext cx="11055096" cy="329184"/>
          </a:xfrm>
          <a:prstGeom prst="rect">
            <a:avLst/>
          </a:prstGeom>
          <a:noFill/>
        </p:spPr>
        <p:txBody>
          <a:bodyPr wrap="square" lIns="0" rIns="0" tIns="0" bIns="0" anchor="ctr">
            <a:spAutoFit/>
          </a:bodyPr>
          <a:lstStyle/>
          <a:p>
            <a:r>
              <a:rPr sz="1400" b="0">
                <a:solidFill>
                  <a:srgbClr val="6B7280"/>
                </a:solidFill>
                <a:latin typeface="Calibri"/>
              </a:rPr>
              <a:t>Stated plainly, so the pattern is adopted for the right reasons.</a:t>
            </a:r>
          </a:p>
        </p:txBody>
      </p:sp>
      <p:graphicFrame>
        <p:nvGraphicFramePr>
          <p:cNvPr id="4" name="Table 3"/>
          <p:cNvGraphicFramePr>
            <a:graphicFrameLocks noGrp="1"/>
          </p:cNvGraphicFramePr>
          <p:nvPr/>
        </p:nvGraphicFramePr>
        <p:xfrm>
          <a:off x="566928" y="1554480"/>
          <a:ext cx="11055094" cy="3785616"/>
        </p:xfrm>
        <a:graphic>
          <a:graphicData uri="http://schemas.openxmlformats.org/drawingml/2006/table">
            <a:tbl>
              <a:tblPr firstRow="0" bandRow="0" firstCol="0">
                <a:tableStyleId>{5C22544A-7EE6-4342-B048-85BDC9FD1C3A}</a:tableStyleId>
              </a:tblPr>
              <a:tblGrid>
                <a:gridCol w="2923661"/>
                <a:gridCol w="1370466"/>
                <a:gridCol w="6760967"/>
              </a:tblGrid>
              <a:tr h="420624">
                <a:tc>
                  <a:txBody>
                    <a:bodyPr wrap="square"/>
                    <a:lstStyle/>
                    <a:p>
                      <a:r>
                        <a:rPr sz="1100" b="1">
                          <a:solidFill>
                            <a:srgbClr val="B45309"/>
                          </a:solidFill>
                          <a:latin typeface="Calibri"/>
                        </a:rPr>
                        <a:t>ITEM</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TYPE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1">
                          <a:solidFill>
                            <a:srgbClr val="B45309"/>
                          </a:solidFill>
                          <a:latin typeface="Calibri"/>
                        </a:rPr>
                        <a:t>NOTE</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Unbounded work per cycle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Risk</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Nothing limits how much work enters one run. Demonstrated 2026-09-17. Under cron with a public queue this becomes the primary availability risk, and it is enforced today only by instruction.</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Self-reported progress</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Risk</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The agent claimed files written that were not on disk. Any status, ledger entry or era recap it authors is a claim, not a record, until verified against the filesystem.</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No per-action audit record</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Risk</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Inference is traced; tool calls and memory writes are not. Input-boundary claims cannot be checked after the fact, and the 2026-09-17 run cannot be reconstructed.</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Custody is not containment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Risk</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Without outbound network restriction the injecting proxy is bypassable by design. Both halves are needed before the architecture can claim containment.</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Untrusted public input</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Question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Fan payloads are bounded by instruction ("data, not instructions"), not by structure. A public voting queue is a prompt-injection surface, and instruction is the weakest available control.</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Context budget as a control</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Question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Should the window be a hard budget enforced outside the agent, the way the two-hour wall-clock deadline already is?</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Persona bleed in reverse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Question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The authoring sub-persona keeps identity out of the code. Does it also keep the product out of the identity — or does the primary persona now describe a site it did not write?</a:t>
                      </a:r>
                    </a:p>
                  </a:txBody>
                  <a:tcPr marL="73152" marR="73152" marT="36576" marB="36576" anchor="ctr">
                    <a:solidFill>
                      <a:srgbClr val="FFFFFF"/>
                    </a:solidFill>
                    <a:lnB w="12700" cap="flat" cmpd="sng" algn="ctr">
                      <a:solidFill>
                        <a:srgbClr val="E5E7EB"/>
                      </a:solidFill>
                      <a:prstDash val="solid"/>
                    </a:lnB>
                  </a:tcPr>
                </a:tc>
              </a:tr>
              <a:tr h="420624">
                <a:tc>
                  <a:txBody>
                    <a:bodyPr wrap="square"/>
                    <a:lstStyle/>
                    <a:p>
                      <a:r>
                        <a:rPr sz="1100" b="1">
                          <a:solidFill>
                            <a:srgbClr val="1F2937"/>
                          </a:solidFill>
                          <a:latin typeface="Calibri"/>
                        </a:rPr>
                        <a:t>Reporting scaffold reuse</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Question</a:t>
                      </a:r>
                    </a:p>
                  </a:txBody>
                  <a:tcPr marL="73152" marR="73152" marT="36576" marB="36576" anchor="ctr">
                    <a:solidFill>
                      <a:srgbClr val="FFFFFF"/>
                    </a:solidFill>
                    <a:lnB w="12700" cap="flat" cmpd="sng" algn="ctr">
                      <a:solidFill>
                        <a:srgbClr val="E5E7EB"/>
                      </a:solidFill>
                      <a:prstDash val="solid"/>
                    </a:lnB>
                  </a:tcPr>
                </a:tc>
                <a:tc>
                  <a:txBody>
                    <a:bodyPr wrap="square"/>
                    <a:lstStyle/>
                    <a:p>
                      <a:r>
                        <a:rPr sz="1100" b="0">
                          <a:solidFill>
                            <a:srgbClr val="374151"/>
                          </a:solidFill>
                          <a:latin typeface="Calibri"/>
                        </a:rPr>
                        <a:t>Does this template survive contact with Football Dan, whose output is a knowledge graph with an accuracy measure rather than a website?</a:t>
                      </a:r>
                    </a:p>
                  </a:txBody>
                  <a:tcPr marL="73152" marR="73152" marT="36576" marB="36576" anchor="ctr">
                    <a:solidFill>
                      <a:srgbClr val="FFFFFF"/>
                    </a:solidFill>
                    <a:lnB w="12700" cap="flat" cmpd="sng" algn="ctr">
                      <a:solidFill>
                        <a:srgbClr val="E5E7EB"/>
                      </a:solidFill>
                      <a:prstDash val="solid"/>
                    </a:lnB>
                  </a:tcPr>
                </a:tc>
              </a:tr>
            </a:tbl>
          </a:graphicData>
        </a:graphic>
      </p:graphicFrame>
      <p:sp>
        <p:nvSpPr>
          <p:cNvPr id="5" name="TextBox 4"/>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66928" y="2331720"/>
            <a:ext cx="7315200" cy="320040"/>
          </a:xfrm>
          <a:prstGeom prst="rect">
            <a:avLst/>
          </a:prstGeom>
          <a:noFill/>
        </p:spPr>
        <p:txBody>
          <a:bodyPr wrap="square" lIns="0" rIns="0" tIns="0" bIns="0" anchor="ctr">
            <a:spAutoFit/>
          </a:bodyPr>
          <a:lstStyle/>
          <a:p>
            <a:r>
              <a:rPr sz="1400" b="1" spc="300">
                <a:solidFill>
                  <a:srgbClr val="B45309"/>
                </a:solidFill>
                <a:latin typeface="Calibri"/>
              </a:rPr>
              <a:t>THE LOG</a:t>
            </a:r>
          </a:p>
        </p:txBody>
      </p:sp>
      <p:sp>
        <p:nvSpPr>
          <p:cNvPr id="3" name="TextBox 2"/>
          <p:cNvSpPr txBox="1"/>
          <p:nvPr/>
        </p:nvSpPr>
        <p:spPr>
          <a:xfrm>
            <a:off x="566928" y="2788920"/>
            <a:ext cx="10515600" cy="868680"/>
          </a:xfrm>
          <a:prstGeom prst="rect">
            <a:avLst/>
          </a:prstGeom>
          <a:noFill/>
        </p:spPr>
        <p:txBody>
          <a:bodyPr wrap="square" lIns="0" rIns="0" tIns="0" bIns="0" anchor="ctr">
            <a:spAutoFit/>
          </a:bodyPr>
          <a:lstStyle/>
          <a:p>
            <a:r>
              <a:rPr sz="4000" b="1">
                <a:solidFill>
                  <a:srgbClr val="FFFFFF"/>
                </a:solidFill>
                <a:latin typeface="Cambria"/>
              </a:rPr>
              <a:t>Recent progress</a:t>
            </a:r>
          </a:p>
        </p:txBody>
      </p:sp>
      <p:sp>
        <p:nvSpPr>
          <p:cNvPr id="4" name="TextBox 3"/>
          <p:cNvSpPr txBox="1"/>
          <p:nvPr/>
        </p:nvSpPr>
        <p:spPr>
          <a:xfrm>
            <a:off x="566928" y="3794760"/>
            <a:ext cx="9601200" cy="548640"/>
          </a:xfrm>
          <a:prstGeom prst="rect">
            <a:avLst/>
          </a:prstGeom>
          <a:noFill/>
        </p:spPr>
        <p:txBody>
          <a:bodyPr wrap="square" lIns="0" rIns="0" tIns="0" bIns="0" anchor="ctr">
            <a:spAutoFit/>
          </a:bodyPr>
          <a:lstStyle/>
          <a:p>
            <a:r>
              <a:rPr sz="1600" b="0">
                <a:solidFill>
                  <a:srgbClr val="93C5FD"/>
                </a:solidFill>
                <a:latin typeface="Calibri"/>
              </a:rPr>
              <a:t>The 3 most recent updates, newest first.</a:t>
            </a:r>
          </a:p>
        </p:txBody>
      </p:sp>
      <p:sp>
        <p:nvSpPr>
          <p:cNvPr id="5" name="Rectangle 4"/>
          <p:cNvSpPr/>
          <p:nvPr/>
        </p:nvSpPr>
        <p:spPr>
          <a:xfrm>
            <a:off x="566928" y="4709160"/>
            <a:ext cx="137160" cy="1371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4709160"/>
            <a:ext cx="137160" cy="13716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78992" y="4709160"/>
            <a:ext cx="137160" cy="1371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274320"/>
          </a:xfrm>
          <a:prstGeom prst="rect">
            <a:avLst/>
          </a:prstGeom>
          <a:noFill/>
        </p:spPr>
        <p:txBody>
          <a:bodyPr wrap="square" lIns="0" rIns="0" tIns="0" bIns="0" anchor="ctr">
            <a:spAutoFit/>
          </a:bodyPr>
          <a:lstStyle/>
          <a:p>
            <a:r>
              <a:rPr sz="1300" b="1" spc="250">
                <a:solidFill>
                  <a:srgbClr val="B45309"/>
                </a:solidFill>
                <a:latin typeface="Calibri"/>
              </a:rPr>
              <a:t>2026-09-17</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r>
              <a:rPr sz="2800" b="1">
                <a:solidFill>
                  <a:srgbClr val="1F2937"/>
                </a:solidFill>
                <a:latin typeface="Cambria"/>
              </a:rPr>
              <a:t>One brief, four deliverables, zero files written</a:t>
            </a:r>
          </a:p>
        </p:txBody>
      </p:sp>
      <p:sp>
        <p:nvSpPr>
          <p:cNvPr id="4" name="Rectangle 3"/>
          <p:cNvSpPr/>
          <p:nvPr/>
        </p:nvSpPr>
        <p:spPr>
          <a:xfrm>
            <a:off x="566928" y="144475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4475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63624"/>
            <a:ext cx="2377440" cy="228600"/>
          </a:xfrm>
          <a:prstGeom prst="rect">
            <a:avLst/>
          </a:prstGeom>
          <a:noFill/>
        </p:spPr>
        <p:txBody>
          <a:bodyPr wrap="square" lIns="0" rIns="0" tIns="0" bIns="0" anchor="t">
            <a:spAutoFit/>
          </a:bodyPr>
          <a:lstStyle/>
          <a:p>
            <a:r>
              <a:rPr sz="1050" b="1" spc="150">
                <a:solidFill>
                  <a:srgbClr val="6D28D9"/>
                </a:solidFill>
                <a:latin typeface="Calibri"/>
              </a:rPr>
              <a:t>INTENT</a:t>
            </a:r>
          </a:p>
        </p:txBody>
      </p:sp>
      <p:sp>
        <p:nvSpPr>
          <p:cNvPr id="7" name="TextBox 6"/>
          <p:cNvSpPr txBox="1"/>
          <p:nvPr/>
        </p:nvSpPr>
        <p:spPr>
          <a:xfrm>
            <a:off x="841247" y="181051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Hand Cindy a large creative brief over Telegram with an eight-hour budget: add several pages to the site, hide Easter eggs about me, build a treasure-hunt mystery, fix the confusing 2:00 Sprint game, and build a Pac-Man-style game. Manual testing ahead of putting this cycle on cron.</a:t>
            </a:r>
          </a:p>
        </p:txBody>
      </p:sp>
      <p:sp>
        <p:nvSpPr>
          <p:cNvPr id="8" name="Rectangle 7"/>
          <p:cNvSpPr/>
          <p:nvPr/>
        </p:nvSpPr>
        <p:spPr>
          <a:xfrm>
            <a:off x="566928" y="245059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5059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569464"/>
            <a:ext cx="2377440" cy="228600"/>
          </a:xfrm>
          <a:prstGeom prst="rect">
            <a:avLst/>
          </a:prstGeom>
          <a:noFill/>
        </p:spPr>
        <p:txBody>
          <a:bodyPr wrap="square" lIns="0" rIns="0" tIns="0" bIns="0" anchor="t">
            <a:spAutoFit/>
          </a:bodyPr>
          <a:lstStyle/>
          <a:p>
            <a:r>
              <a:rPr sz="1050" b="1" spc="150">
                <a:solidFill>
                  <a:srgbClr val="0E7490"/>
                </a:solidFill>
                <a:latin typeface="Calibri"/>
              </a:rPr>
              <a:t>WHAT HAPPENED</a:t>
            </a:r>
          </a:p>
        </p:txBody>
      </p:sp>
      <p:sp>
        <p:nvSpPr>
          <p:cNvPr id="11" name="TextBox 10"/>
          <p:cNvSpPr txBox="1"/>
          <p:nvPr/>
        </p:nvSpPr>
        <p:spPr>
          <a:xfrm>
            <a:off x="841247" y="281635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It planned well, then lost everything. After laying out three pages and appending CSS cleanly, it tried to rewrite app.js to hold the Pac-Man engine, the vault logic and a rebuilt Sprint in one pass. Every continuation hit the output-token ceiling with reasoning consuming the whole budget; nothing reached disk. Asked for a status, it claimed files written that were not there.</a:t>
            </a:r>
          </a:p>
        </p:txBody>
      </p:sp>
      <p:sp>
        <p:nvSpPr>
          <p:cNvPr id="12" name="Rectangle 11"/>
          <p:cNvSpPr/>
          <p:nvPr/>
        </p:nvSpPr>
        <p:spPr>
          <a:xfrm>
            <a:off x="566928" y="345643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456432"/>
            <a:ext cx="50292" cy="8869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3575304"/>
            <a:ext cx="2377440" cy="228600"/>
          </a:xfrm>
          <a:prstGeom prst="rect">
            <a:avLst/>
          </a:prstGeom>
          <a:noFill/>
        </p:spPr>
        <p:txBody>
          <a:bodyPr wrap="square" lIns="0" rIns="0" tIns="0" bIns="0" anchor="t">
            <a:spAutoFit/>
          </a:bodyPr>
          <a:lstStyle/>
          <a:p>
            <a:r>
              <a:rPr sz="1050" b="1" spc="150">
                <a:solidFill>
                  <a:srgbClr val="B45309"/>
                </a:solidFill>
                <a:latin typeface="Calibri"/>
              </a:rPr>
              <a:t>CHANGE MADE</a:t>
            </a:r>
          </a:p>
        </p:txBody>
      </p:sp>
      <p:sp>
        <p:nvSpPr>
          <p:cNvPr id="15" name="TextBox 14"/>
          <p:cNvSpPr txBox="1"/>
          <p:nvPr/>
        </p:nvSpPr>
        <p:spPr>
          <a:xfrm>
            <a:off x="841247" y="382219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None to the running system; the change is architectural. Cindy stops being a builder and becomes an orchestrator: decompose a brief into tickets, then dispatch exactly one at a time to a builder sub-agent. Proposed in docs/lab-work/scratch/ — a recommendation, not yet accepted or ticketed.</a:t>
            </a:r>
          </a:p>
        </p:txBody>
      </p:sp>
      <p:sp>
        <p:nvSpPr>
          <p:cNvPr id="16" name="Rectangle 15"/>
          <p:cNvSpPr/>
          <p:nvPr/>
        </p:nvSpPr>
        <p:spPr>
          <a:xfrm>
            <a:off x="566928" y="4462272"/>
            <a:ext cx="11055096" cy="886968"/>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46227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581144"/>
            <a:ext cx="2377440" cy="228600"/>
          </a:xfrm>
          <a:prstGeom prst="rect">
            <a:avLst/>
          </a:prstGeom>
          <a:noFill/>
        </p:spPr>
        <p:txBody>
          <a:bodyPr wrap="square" lIns="0" rIns="0" tIns="0" bIns="0" anchor="t">
            <a:spAutoFit/>
          </a:bodyPr>
          <a:lstStyle/>
          <a:p>
            <a:r>
              <a:rPr sz="1050" b="1" spc="150">
                <a:solidFill>
                  <a:srgbClr val="6D28D9"/>
                </a:solidFill>
                <a:latin typeface="Calibri"/>
              </a:rPr>
              <a:t>LESSON</a:t>
            </a:r>
          </a:p>
        </p:txBody>
      </p:sp>
      <p:sp>
        <p:nvSpPr>
          <p:cNvPr id="19" name="TextBox 18"/>
          <p:cNvSpPr txBox="1"/>
          <p:nvPr/>
        </p:nvSpPr>
        <p:spPr>
          <a:xfrm>
            <a:off x="841247" y="482803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Orchestration is a safety control, not a productivity trick (L6). Any agent facing a queue needs admission control (L7). An agent's self-report is not evidence (L8). And L3 holds: the harness failed, not the model — the reasoning was sound, the missing piece was a rule about how much work may enter one cycle.</a:t>
            </a:r>
          </a:p>
        </p:txBody>
      </p:sp>
      <p:sp>
        <p:nvSpPr>
          <p:cNvPr id="20" name="Rectangle 19"/>
          <p:cNvSpPr/>
          <p:nvPr/>
        </p:nvSpPr>
        <p:spPr>
          <a:xfrm>
            <a:off x="566928" y="546811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46811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5586984"/>
            <a:ext cx="2377440" cy="228600"/>
          </a:xfrm>
          <a:prstGeom prst="rect">
            <a:avLst/>
          </a:prstGeom>
          <a:noFill/>
        </p:spPr>
        <p:txBody>
          <a:bodyPr wrap="square" lIns="0" rIns="0" tIns="0" bIns="0" anchor="t">
            <a:spAutoFit/>
          </a:bodyPr>
          <a:lstStyle/>
          <a:p>
            <a:r>
              <a:rPr sz="1050" b="1" spc="150">
                <a:solidFill>
                  <a:srgbClr val="0E7490"/>
                </a:solidFill>
                <a:latin typeface="Calibri"/>
              </a:rPr>
              <a:t>NEXT</a:t>
            </a:r>
          </a:p>
        </p:txBody>
      </p:sp>
      <p:sp>
        <p:nvSpPr>
          <p:cNvPr id="23" name="TextBox 22"/>
          <p:cNvSpPr txBox="1"/>
          <p:nvPr/>
        </p:nvSpPr>
        <p:spPr>
          <a:xfrm>
            <a:off x="841247" y="583387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Wire the discipline into Cindy's runtime context, then re-run this exact brief as the test. The correct output is a written backlog with one ticket in flight — not one giant call.</a:t>
            </a:r>
          </a:p>
        </p:txBody>
      </p:sp>
      <p:sp>
        <p:nvSpPr>
          <p:cNvPr id="24" name="TextBox 23"/>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274320"/>
          </a:xfrm>
          <a:prstGeom prst="rect">
            <a:avLst/>
          </a:prstGeom>
          <a:noFill/>
        </p:spPr>
        <p:txBody>
          <a:bodyPr wrap="square" lIns="0" rIns="0" tIns="0" bIns="0" anchor="ctr">
            <a:spAutoFit/>
          </a:bodyPr>
          <a:lstStyle/>
          <a:p>
            <a:r>
              <a:rPr sz="1300" b="1" spc="250">
                <a:solidFill>
                  <a:srgbClr val="B45309"/>
                </a:solidFill>
                <a:latin typeface="Calibri"/>
              </a:rPr>
              <a:t>2026-09-16</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r>
              <a:rPr sz="2800" b="1">
                <a:solidFill>
                  <a:srgbClr val="1F2937"/>
                </a:solidFill>
                <a:latin typeface="Cambria"/>
              </a:rPr>
              <a:t>v0.1.0: agent-authored code goes live</a:t>
            </a:r>
          </a:p>
        </p:txBody>
      </p:sp>
      <p:sp>
        <p:nvSpPr>
          <p:cNvPr id="4" name="Rectangle 3"/>
          <p:cNvSpPr/>
          <p:nvPr/>
        </p:nvSpPr>
        <p:spPr>
          <a:xfrm>
            <a:off x="566928" y="144475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4475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63624"/>
            <a:ext cx="2377440" cy="228600"/>
          </a:xfrm>
          <a:prstGeom prst="rect">
            <a:avLst/>
          </a:prstGeom>
          <a:noFill/>
        </p:spPr>
        <p:txBody>
          <a:bodyPr wrap="square" lIns="0" rIns="0" tIns="0" bIns="0" anchor="t">
            <a:spAutoFit/>
          </a:bodyPr>
          <a:lstStyle/>
          <a:p>
            <a:r>
              <a:rPr sz="1050" b="1" spc="150">
                <a:solidFill>
                  <a:srgbClr val="6D28D9"/>
                </a:solidFill>
                <a:latin typeface="Calibri"/>
              </a:rPr>
              <a:t>INTENT</a:t>
            </a:r>
          </a:p>
        </p:txBody>
      </p:sp>
      <p:sp>
        <p:nvSpPr>
          <p:cNvPr id="7" name="TextBox 6"/>
          <p:cNvSpPr txBox="1"/>
          <p:nvPr/>
        </p:nvSpPr>
        <p:spPr>
          <a:xfrm>
            <a:off x="841247" y="181051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Close the loop end to end: agent writes, pipeline gates, control plane deploys, no human in the authoring path and no credential in the agent.</a:t>
            </a:r>
          </a:p>
        </p:txBody>
      </p:sp>
      <p:sp>
        <p:nvSpPr>
          <p:cNvPr id="8" name="Rectangle 7"/>
          <p:cNvSpPr/>
          <p:nvPr/>
        </p:nvSpPr>
        <p:spPr>
          <a:xfrm>
            <a:off x="566928" y="245059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5059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569464"/>
            <a:ext cx="2377440" cy="228600"/>
          </a:xfrm>
          <a:prstGeom prst="rect">
            <a:avLst/>
          </a:prstGeom>
          <a:noFill/>
        </p:spPr>
        <p:txBody>
          <a:bodyPr wrap="square" lIns="0" rIns="0" tIns="0" bIns="0" anchor="t">
            <a:spAutoFit/>
          </a:bodyPr>
          <a:lstStyle/>
          <a:p>
            <a:r>
              <a:rPr sz="1050" b="1" spc="150">
                <a:solidFill>
                  <a:srgbClr val="0E7490"/>
                </a:solidFill>
                <a:latin typeface="Calibri"/>
              </a:rPr>
              <a:t>WHAT HAPPENED</a:t>
            </a:r>
          </a:p>
        </p:txBody>
      </p:sp>
      <p:sp>
        <p:nvSpPr>
          <p:cNvPr id="11" name="TextBox 10"/>
          <p:cNvSpPr txBox="1"/>
          <p:nvPr/>
        </p:nvSpPr>
        <p:spPr>
          <a:xfrm>
            <a:off x="841247" y="281635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It shipped. Code written by the agent reached cindypawford.com through the injecting proxy, a guarded pull request, and an infrastructure-as-code deploy. The agent held no token at any point, could not read the workflow that checked its output, and could not merge its own work.</a:t>
            </a:r>
          </a:p>
        </p:txBody>
      </p:sp>
      <p:sp>
        <p:nvSpPr>
          <p:cNvPr id="12" name="Rectangle 11"/>
          <p:cNvSpPr/>
          <p:nvPr/>
        </p:nvSpPr>
        <p:spPr>
          <a:xfrm>
            <a:off x="566928" y="345643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456432"/>
            <a:ext cx="50292" cy="8869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3575304"/>
            <a:ext cx="2377440" cy="228600"/>
          </a:xfrm>
          <a:prstGeom prst="rect">
            <a:avLst/>
          </a:prstGeom>
          <a:noFill/>
        </p:spPr>
        <p:txBody>
          <a:bodyPr wrap="square" lIns="0" rIns="0" tIns="0" bIns="0" anchor="t">
            <a:spAutoFit/>
          </a:bodyPr>
          <a:lstStyle/>
          <a:p>
            <a:r>
              <a:rPr sz="1050" b="1" spc="150">
                <a:solidFill>
                  <a:srgbClr val="B45309"/>
                </a:solidFill>
                <a:latin typeface="Calibri"/>
              </a:rPr>
              <a:t>CHANGE MADE</a:t>
            </a:r>
          </a:p>
        </p:txBody>
      </p:sp>
      <p:sp>
        <p:nvSpPr>
          <p:cNvPr id="15" name="TextBox 14"/>
          <p:cNvSpPr txBox="1"/>
          <p:nvPr/>
        </p:nvSpPr>
        <p:spPr>
          <a:xfrm>
            <a:off x="841247" y="382219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Tagged v0.1.0 as the first releasable beta of the publishing path.</a:t>
            </a:r>
          </a:p>
        </p:txBody>
      </p:sp>
      <p:sp>
        <p:nvSpPr>
          <p:cNvPr id="16" name="Rectangle 15"/>
          <p:cNvSpPr/>
          <p:nvPr/>
        </p:nvSpPr>
        <p:spPr>
          <a:xfrm>
            <a:off x="566928" y="4462272"/>
            <a:ext cx="11055096" cy="886968"/>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46227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581144"/>
            <a:ext cx="2377440" cy="228600"/>
          </a:xfrm>
          <a:prstGeom prst="rect">
            <a:avLst/>
          </a:prstGeom>
          <a:noFill/>
        </p:spPr>
        <p:txBody>
          <a:bodyPr wrap="square" lIns="0" rIns="0" tIns="0" bIns="0" anchor="t">
            <a:spAutoFit/>
          </a:bodyPr>
          <a:lstStyle/>
          <a:p>
            <a:r>
              <a:rPr sz="1050" b="1" spc="150">
                <a:solidFill>
                  <a:srgbClr val="6D28D9"/>
                </a:solidFill>
                <a:latin typeface="Calibri"/>
              </a:rPr>
              <a:t>LESSON</a:t>
            </a:r>
          </a:p>
        </p:txBody>
      </p:sp>
      <p:sp>
        <p:nvSpPr>
          <p:cNvPr id="19" name="TextBox 18"/>
          <p:cNvSpPr txBox="1"/>
          <p:nvPr/>
        </p:nvSpPr>
        <p:spPr>
          <a:xfrm>
            <a:off x="841247" y="482803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The claim from the publishing deck — that autonomy is bounded by a checkpoint rather than by trust — is now demonstrated rather than argued (L5).</a:t>
            </a:r>
          </a:p>
        </p:txBody>
      </p:sp>
      <p:sp>
        <p:nvSpPr>
          <p:cNvPr id="20" name="Rectangle 19"/>
          <p:cNvSpPr/>
          <p:nvPr/>
        </p:nvSpPr>
        <p:spPr>
          <a:xfrm>
            <a:off x="566928" y="546811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46811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5586984"/>
            <a:ext cx="2377440" cy="228600"/>
          </a:xfrm>
          <a:prstGeom prst="rect">
            <a:avLst/>
          </a:prstGeom>
          <a:noFill/>
        </p:spPr>
        <p:txBody>
          <a:bodyPr wrap="square" lIns="0" rIns="0" tIns="0" bIns="0" anchor="t">
            <a:spAutoFit/>
          </a:bodyPr>
          <a:lstStyle/>
          <a:p>
            <a:r>
              <a:rPr sz="1050" b="1" spc="150">
                <a:solidFill>
                  <a:srgbClr val="0E7490"/>
                </a:solidFill>
                <a:latin typeface="Calibri"/>
              </a:rPr>
              <a:t>NEXT</a:t>
            </a:r>
          </a:p>
        </p:txBody>
      </p:sp>
      <p:sp>
        <p:nvSpPr>
          <p:cNvPr id="23" name="TextBox 22"/>
          <p:cNvSpPr txBox="1"/>
          <p:nvPr/>
        </p:nvSpPr>
        <p:spPr>
          <a:xfrm>
            <a:off x="841247" y="583387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Give it something unstructured to do and see what breaks.</a:t>
            </a:r>
          </a:p>
        </p:txBody>
      </p:sp>
      <p:sp>
        <p:nvSpPr>
          <p:cNvPr id="24" name="TextBox 23"/>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47472"/>
            <a:ext cx="11055096" cy="274320"/>
          </a:xfrm>
          <a:prstGeom prst="rect">
            <a:avLst/>
          </a:prstGeom>
          <a:noFill/>
        </p:spPr>
        <p:txBody>
          <a:bodyPr wrap="square" lIns="0" rIns="0" tIns="0" bIns="0" anchor="ctr">
            <a:spAutoFit/>
          </a:bodyPr>
          <a:lstStyle/>
          <a:p>
            <a:r>
              <a:rPr sz="1300" b="1" spc="250">
                <a:solidFill>
                  <a:srgbClr val="B45309"/>
                </a:solidFill>
                <a:latin typeface="Calibri"/>
              </a:rPr>
              <a:t>2026-09-15</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r>
              <a:rPr sz="2800" b="1">
                <a:solidFill>
                  <a:srgbClr val="1F2937"/>
                </a:solidFill>
                <a:latin typeface="Cambria"/>
              </a:rPr>
              <a:t>Persona bleed into generated content</a:t>
            </a:r>
          </a:p>
        </p:txBody>
      </p:sp>
      <p:sp>
        <p:nvSpPr>
          <p:cNvPr id="4" name="Rectangle 3"/>
          <p:cNvSpPr/>
          <p:nvPr/>
        </p:nvSpPr>
        <p:spPr>
          <a:xfrm>
            <a:off x="566928" y="144475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44475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563624"/>
            <a:ext cx="2377440" cy="228600"/>
          </a:xfrm>
          <a:prstGeom prst="rect">
            <a:avLst/>
          </a:prstGeom>
          <a:noFill/>
        </p:spPr>
        <p:txBody>
          <a:bodyPr wrap="square" lIns="0" rIns="0" tIns="0" bIns="0" anchor="t">
            <a:spAutoFit/>
          </a:bodyPr>
          <a:lstStyle/>
          <a:p>
            <a:r>
              <a:rPr sz="1050" b="1" spc="150">
                <a:solidFill>
                  <a:srgbClr val="6D28D9"/>
                </a:solidFill>
                <a:latin typeface="Calibri"/>
              </a:rPr>
              <a:t>INTENT</a:t>
            </a:r>
          </a:p>
        </p:txBody>
      </p:sp>
      <p:sp>
        <p:nvSpPr>
          <p:cNvPr id="7" name="TextBox 6"/>
          <p:cNvSpPr txBox="1"/>
          <p:nvPr/>
        </p:nvSpPr>
        <p:spPr>
          <a:xfrm>
            <a:off x="841247" y="181051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Have the agent author site content and markup directly.</a:t>
            </a:r>
          </a:p>
        </p:txBody>
      </p:sp>
      <p:sp>
        <p:nvSpPr>
          <p:cNvPr id="8" name="Rectangle 7"/>
          <p:cNvSpPr/>
          <p:nvPr/>
        </p:nvSpPr>
        <p:spPr>
          <a:xfrm>
            <a:off x="566928" y="245059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5059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569464"/>
            <a:ext cx="2377440" cy="228600"/>
          </a:xfrm>
          <a:prstGeom prst="rect">
            <a:avLst/>
          </a:prstGeom>
          <a:noFill/>
        </p:spPr>
        <p:txBody>
          <a:bodyPr wrap="square" lIns="0" rIns="0" tIns="0" bIns="0" anchor="t">
            <a:spAutoFit/>
          </a:bodyPr>
          <a:lstStyle/>
          <a:p>
            <a:r>
              <a:rPr sz="1050" b="1" spc="150">
                <a:solidFill>
                  <a:srgbClr val="0E7490"/>
                </a:solidFill>
                <a:latin typeface="Calibri"/>
              </a:rPr>
              <a:t>WHAT HAPPENED</a:t>
            </a:r>
          </a:p>
        </p:txBody>
      </p:sp>
      <p:sp>
        <p:nvSpPr>
          <p:cNvPr id="11" name="TextBox 10"/>
          <p:cNvSpPr txBox="1"/>
          <p:nvPr/>
        </p:nvSpPr>
        <p:spPr>
          <a:xfrm>
            <a:off x="841247" y="281635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The agent pulled its own personality parameters into the artifact. The HTML it produced was polluted by the primary persona's soul file — voice, self- reference and character material showing up in structure and content where a page was wanted. The output was interesting, and wrong. The agent had conflated who it is with what it was asked to build.</a:t>
            </a:r>
          </a:p>
        </p:txBody>
      </p:sp>
      <p:sp>
        <p:nvSpPr>
          <p:cNvPr id="12" name="Rectangle 11"/>
          <p:cNvSpPr/>
          <p:nvPr/>
        </p:nvSpPr>
        <p:spPr>
          <a:xfrm>
            <a:off x="566928" y="345643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456432"/>
            <a:ext cx="50292" cy="8869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3575304"/>
            <a:ext cx="2377440" cy="228600"/>
          </a:xfrm>
          <a:prstGeom prst="rect">
            <a:avLst/>
          </a:prstGeom>
          <a:noFill/>
        </p:spPr>
        <p:txBody>
          <a:bodyPr wrap="square" lIns="0" rIns="0" tIns="0" bIns="0" anchor="t">
            <a:spAutoFit/>
          </a:bodyPr>
          <a:lstStyle/>
          <a:p>
            <a:r>
              <a:rPr sz="1050" b="1" spc="150">
                <a:solidFill>
                  <a:srgbClr val="B45309"/>
                </a:solidFill>
                <a:latin typeface="Calibri"/>
              </a:rPr>
              <a:t>CHANGE MADE</a:t>
            </a:r>
          </a:p>
        </p:txBody>
      </p:sp>
      <p:sp>
        <p:nvSpPr>
          <p:cNvPr id="15" name="TextBox 14"/>
          <p:cNvSpPr txBox="1"/>
          <p:nvPr/>
        </p:nvSpPr>
        <p:spPr>
          <a:xfrm>
            <a:off x="841247" y="382219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Used the Hermes framework's sub-agent and sub-persona capability to create a second persona inside the Cindy Pawford container whose only job is authoring code and content. It runs without the primary persona's identity parameters in context, so there is nothing to bleed.</a:t>
            </a:r>
          </a:p>
        </p:txBody>
      </p:sp>
      <p:sp>
        <p:nvSpPr>
          <p:cNvPr id="16" name="Rectangle 15"/>
          <p:cNvSpPr/>
          <p:nvPr/>
        </p:nvSpPr>
        <p:spPr>
          <a:xfrm>
            <a:off x="566928" y="4462272"/>
            <a:ext cx="11055096" cy="886968"/>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462272"/>
            <a:ext cx="50292" cy="8869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4581144"/>
            <a:ext cx="2377440" cy="228600"/>
          </a:xfrm>
          <a:prstGeom prst="rect">
            <a:avLst/>
          </a:prstGeom>
          <a:noFill/>
        </p:spPr>
        <p:txBody>
          <a:bodyPr wrap="square" lIns="0" rIns="0" tIns="0" bIns="0" anchor="t">
            <a:spAutoFit/>
          </a:bodyPr>
          <a:lstStyle/>
          <a:p>
            <a:r>
              <a:rPr sz="1050" b="1" spc="150">
                <a:solidFill>
                  <a:srgbClr val="6D28D9"/>
                </a:solidFill>
                <a:latin typeface="Calibri"/>
              </a:rPr>
              <a:t>LESSON</a:t>
            </a:r>
          </a:p>
        </p:txBody>
      </p:sp>
      <p:sp>
        <p:nvSpPr>
          <p:cNvPr id="19" name="TextBox 18"/>
          <p:cNvSpPr txBox="1"/>
          <p:nvPr/>
        </p:nvSpPr>
        <p:spPr>
          <a:xfrm>
            <a:off x="841247" y="482803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Persona and product are separate concerns and nothing enforces that by default (L1). The fix is structural, not a prompt instruction — remove the identity parameters from the generation path rather than asking the agent not to use them (L2). This is the same move the publishing pattern makes with credentials, applied to identity.</a:t>
            </a:r>
          </a:p>
        </p:txBody>
      </p:sp>
      <p:sp>
        <p:nvSpPr>
          <p:cNvPr id="20" name="Rectangle 19"/>
          <p:cNvSpPr/>
          <p:nvPr/>
        </p:nvSpPr>
        <p:spPr>
          <a:xfrm>
            <a:off x="566928" y="5468112"/>
            <a:ext cx="11055096" cy="88696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468112"/>
            <a:ext cx="50292" cy="88696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5586984"/>
            <a:ext cx="2377440" cy="228600"/>
          </a:xfrm>
          <a:prstGeom prst="rect">
            <a:avLst/>
          </a:prstGeom>
          <a:noFill/>
        </p:spPr>
        <p:txBody>
          <a:bodyPr wrap="square" lIns="0" rIns="0" tIns="0" bIns="0" anchor="t">
            <a:spAutoFit/>
          </a:bodyPr>
          <a:lstStyle/>
          <a:p>
            <a:r>
              <a:rPr sz="1050" b="1" spc="150">
                <a:solidFill>
                  <a:srgbClr val="0E7490"/>
                </a:solidFill>
                <a:latin typeface="Calibri"/>
              </a:rPr>
              <a:t>NEXT</a:t>
            </a:r>
          </a:p>
        </p:txBody>
      </p:sp>
      <p:sp>
        <p:nvSpPr>
          <p:cNvPr id="23" name="TextBox 22"/>
          <p:cNvSpPr txBox="1"/>
          <p:nvPr/>
        </p:nvSpPr>
        <p:spPr>
          <a:xfrm>
            <a:off x="841247" y="5833872"/>
            <a:ext cx="10488168" cy="429768"/>
          </a:xfrm>
          <a:prstGeom prst="rect">
            <a:avLst/>
          </a:prstGeom>
          <a:noFill/>
        </p:spPr>
        <p:txBody>
          <a:bodyPr wrap="square" lIns="0" rIns="0" tIns="0" bIns="0" anchor="t">
            <a:spAutoFit/>
          </a:bodyPr>
          <a:lstStyle/>
          <a:p>
            <a:pPr>
              <a:lnSpc>
                <a:spcPts val="1500"/>
              </a:lnSpc>
            </a:pPr>
            <a:r>
              <a:rPr sz="1100" b="0">
                <a:solidFill>
                  <a:srgbClr val="374151"/>
                </a:solidFill>
                <a:latin typeface="Calibri"/>
              </a:rPr>
              <a:t>Verify that the authoring sub-persona stays clean under a creative brief, where the temptation to self-reference is strongest.</a:t>
            </a:r>
          </a:p>
        </p:txBody>
      </p:sp>
      <p:sp>
        <p:nvSpPr>
          <p:cNvPr id="24" name="TextBox 23"/>
          <p:cNvSpPr txBox="1"/>
          <p:nvPr/>
        </p:nvSpPr>
        <p:spPr>
          <a:xfrm>
            <a:off x="566928" y="6492240"/>
            <a:ext cx="7738567" cy="237744"/>
          </a:xfrm>
          <a:prstGeom prst="rect">
            <a:avLst/>
          </a:prstGeom>
          <a:noFill/>
        </p:spPr>
        <p:txBody>
          <a:bodyPr wrap="square" lIns="0" rIns="0" tIns="0" bIns="0" anchor="t">
            <a:spAutoFit/>
          </a:bodyPr>
          <a:lstStyle/>
          <a:p>
            <a:r>
              <a:rPr sz="1000" b="0">
                <a:solidFill>
                  <a:srgbClr val="6B7280"/>
                </a:solidFill>
                <a:latin typeface="Calibri"/>
              </a:rPr>
              <a:t>Cindy Pawford  ·  v0.1.0  ·  as of 2026-09-17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