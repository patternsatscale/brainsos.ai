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Companion brief to Agent SDLC Process v1.1. Where that deck covered how work gets specified and reviewed, this one covers what happens when the agent's output goes live without a human in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topology bounds the blast radius, custody removes the asset worth stealing, and the pipeline is what makes it reproducible. Claim 3 is the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cheapest and least discussed control in the whole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to hold onto: policing a capability requires the policy to be outside the agent's reach. Moving the capability out means there is no policy to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canvas repo is deliberately gitignored inside the control plane. The agent's output is not part of the reviewed surface of the governing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column matters because an agent that can perceive a boundary will eventually try to reason about it. Boundaries enforced below the level it can observe are the durable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directly portable component. It applies to any agent that needs an authenticated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limit on this slide is important for research honesty. Custody removes the asset; it does not constrain where the agent can talk. Teams routinely conflate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is owned by a different authority: the kernel, the runtime, the forge, and a person. That is what makes the stack resistant rather than merely deep.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team adopts one thing from this brief, it should be this slide. It is a small refactor with a large reduction in worst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recipe section — the part another team can lift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stages, three autonomous, two gated, two operator-side. The gate placement is the single decision that determines how much autonomy is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a human colleague, an agent's knowledge is exactly what you put in front of it. Compartmentalisation costs almost nothing here, so there is no reason not to apply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reset is not housekeeping. It is what converts an operating system into an experimental apparatus.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caution comes from reviewing this case's own suites: two assertions passed trivially. Worth checking deliberately, because a test that cannot fail is worse than no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decisions, roughly a day of work for the first four. The remaining four are process discipline rather than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Separating the demonstrated result from the undemonstrated one is what makes this usable as research rather than advocacy.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note: the practical value of this brief is that all three propositions can be tested with telemetry a team already has, provided the repository split happened early enough to compare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66928" y="1600200"/>
            <a:ext cx="7315200" cy="320040"/>
          </a:xfrm>
          <a:prstGeom prst="rect">
            <a:avLst/>
          </a:prstGeom>
          <a:noFill/>
          <a:ln/>
        </p:spPr>
        <p:txBody>
          <a:bodyPr wrap="square" lIns="0" tIns="0" rIns="0" bIns="0" rtlCol="0" anchor="ctr"/>
          <a:lstStyle/>
          <a:p>
            <a:pPr indent="0" marL="0">
              <a:buNone/>
            </a:pPr>
            <a:r>
              <a:rPr lang="en-US" sz="1300" b="1" spc="300" kern="0" dirty="0">
                <a:solidFill>
                  <a:srgbClr val="B45309"/>
                </a:solidFill>
                <a:latin typeface="Calibri" pitchFamily="34" charset="0"/>
                <a:ea typeface="Calibri" pitchFamily="34" charset="-122"/>
                <a:cs typeface="Calibri" pitchFamily="34" charset="-120"/>
              </a:rPr>
              <a:t>RESEARCH BRIEF  ·  SEPTEMBER 2026</a:t>
            </a:r>
            <a:endParaRPr lang="en-US" sz="1300" dirty="0"/>
          </a:p>
        </p:txBody>
      </p:sp>
      <p:sp>
        <p:nvSpPr>
          <p:cNvPr id="3" name="Text 1"/>
          <p:cNvSpPr txBox="1"/>
          <p:nvPr/>
        </p:nvSpPr>
        <p:spPr>
          <a:xfrm>
            <a:off x="566928" y="2057400"/>
            <a:ext cx="10515600"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The Autonomous Publishing Pattern</a:t>
            </a:r>
            <a:endParaRPr lang="en-US" sz="4400" dirty="0"/>
          </a:p>
        </p:txBody>
      </p:sp>
      <p:sp>
        <p:nvSpPr>
          <p:cNvPr id="4" name="Text 2"/>
          <p:cNvSpPr txBox="1"/>
          <p:nvPr/>
        </p:nvSpPr>
        <p:spPr>
          <a:xfrm>
            <a:off x="566928" y="2971800"/>
            <a:ext cx="10515600" cy="548640"/>
          </a:xfrm>
          <a:prstGeom prst="rect">
            <a:avLst/>
          </a:prstGeom>
          <a:noFill/>
          <a:ln/>
        </p:spPr>
        <p:txBody>
          <a:bodyPr wrap="square" lIns="0" tIns="0" rIns="0" bIns="0" rtlCol="0" anchor="ctr"/>
          <a:lstStyle/>
          <a:p>
            <a:pPr indent="0" marL="0">
              <a:buNone/>
            </a:pPr>
            <a:r>
              <a:rPr lang="en-US" sz="1500" dirty="0">
                <a:solidFill>
                  <a:srgbClr val="93C5FD"/>
                </a:solidFill>
                <a:latin typeface="Calibri" pitchFamily="34" charset="0"/>
                <a:ea typeface="Calibri" pitchFamily="34" charset="-122"/>
                <a:cs typeface="Calibri" pitchFamily="34" charset="-120"/>
              </a:rPr>
              <a:t>How an agent ships to production without ever holding a credential</a:t>
            </a:r>
            <a:endParaRPr lang="en-US" sz="1500" dirty="0"/>
          </a:p>
        </p:txBody>
      </p:sp>
      <p:sp>
        <p:nvSpPr>
          <p:cNvPr id="5" name="Text 3"/>
          <p:cNvSpPr txBox="1"/>
          <p:nvPr/>
        </p:nvSpPr>
        <p:spPr>
          <a:xfrm>
            <a:off x="566928" y="3794760"/>
            <a:ext cx="8686800" cy="365760"/>
          </a:xfrm>
          <a:prstGeom prst="rect">
            <a:avLst/>
          </a:prstGeom>
          <a:noFill/>
          <a:ln/>
        </p:spPr>
        <p:txBody>
          <a:bodyPr wrap="square" lIns="0" tIns="0" rIns="0" bIns="0" rtlCol="0" anchor="ctr"/>
          <a:lstStyle/>
          <a:p>
            <a:pPr indent="0" marL="0">
              <a:buNone/>
            </a:pPr>
            <a:r>
              <a:rPr lang="en-US" sz="1300" dirty="0">
                <a:solidFill>
                  <a:srgbClr val="9CA3AF"/>
                </a:solidFill>
                <a:latin typeface="Calibri" pitchFamily="34" charset="0"/>
                <a:ea typeface="Calibri" pitchFamily="34" charset="-122"/>
                <a:cs typeface="Calibri" pitchFamily="34" charset="-120"/>
              </a:rPr>
              <a:t>A reproducible architecture, drawn from a working autonomous publisher. Companion to Injecting Agents into the SDLC.</a:t>
            </a:r>
            <a:endParaRPr lang="en-US" sz="1300" dirty="0"/>
          </a:p>
        </p:txBody>
      </p:sp>
      <p:sp>
        <p:nvSpPr>
          <p:cNvPr id="6" name="Shape 4"/>
          <p:cNvSpPr/>
          <p:nvPr/>
        </p:nvSpPr>
        <p:spPr>
          <a:xfrm>
            <a:off x="566928" y="4709160"/>
            <a:ext cx="137160" cy="137160"/>
          </a:xfrm>
          <a:prstGeom prst="rect">
            <a:avLst/>
          </a:prstGeom>
          <a:solidFill>
            <a:srgbClr val="B45309"/>
          </a:solidFill>
          <a:ln w="12700">
            <a:solidFill>
              <a:srgbClr val="B45309"/>
            </a:solidFill>
            <a:prstDash val="solid"/>
          </a:ln>
        </p:spPr>
      </p:sp>
      <p:sp>
        <p:nvSpPr>
          <p:cNvPr id="7" name="Shape 5"/>
          <p:cNvSpPr/>
          <p:nvPr/>
        </p:nvSpPr>
        <p:spPr>
          <a:xfrm>
            <a:off x="822960" y="4709160"/>
            <a:ext cx="137160" cy="137160"/>
          </a:xfrm>
          <a:prstGeom prst="rect">
            <a:avLst/>
          </a:prstGeom>
          <a:solidFill>
            <a:srgbClr val="0E7490"/>
          </a:solidFill>
          <a:ln w="12700">
            <a:solidFill>
              <a:srgbClr val="0E7490"/>
            </a:solidFill>
            <a:prstDash val="solid"/>
          </a:ln>
        </p:spPr>
      </p:sp>
      <p:sp>
        <p:nvSpPr>
          <p:cNvPr id="8" name="Shape 6"/>
          <p:cNvSpPr/>
          <p:nvPr/>
        </p:nvSpPr>
        <p:spPr>
          <a:xfrm>
            <a:off x="1078992" y="4709160"/>
            <a:ext cx="137160" cy="137160"/>
          </a:xfrm>
          <a:prstGeom prst="rect">
            <a:avLst/>
          </a:prstGeom>
          <a:solidFill>
            <a:srgbClr val="6D28D9"/>
          </a:solidFill>
          <a:ln w="12700">
            <a:solidFill>
              <a:srgbClr val="6D28D9"/>
            </a:solidFill>
            <a:prstDash val="solid"/>
          </a:ln>
        </p:spPr>
      </p:sp>
      <p:sp>
        <p:nvSpPr>
          <p:cNvPr id="9" name="Text 7"/>
          <p:cNvSpPr txBox="1"/>
          <p:nvPr/>
        </p:nvSpPr>
        <p:spPr>
          <a:xfrm>
            <a:off x="566928" y="5120640"/>
            <a:ext cx="548640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Justin St-Maurice</a:t>
            </a:r>
            <a:endParaRPr lang="en-US" sz="1400" dirty="0"/>
          </a:p>
        </p:txBody>
      </p:sp>
      <p:sp>
        <p:nvSpPr>
          <p:cNvPr id="10" name="Text 8"/>
          <p:cNvSpPr txBox="1"/>
          <p:nvPr/>
        </p:nvSpPr>
        <p:spPr>
          <a:xfrm>
            <a:off x="566928" y="5440680"/>
            <a:ext cx="8229600" cy="292608"/>
          </a:xfrm>
          <a:prstGeom prst="rect">
            <a:avLst/>
          </a:prstGeom>
          <a:noFill/>
          <a:ln/>
        </p:spPr>
        <p:txBody>
          <a:bodyPr wrap="square" lIns="0" tIns="0" rIns="0" bIns="0" rtlCol="0" anchor="ctr"/>
          <a:lstStyle/>
          <a:p>
            <a:pPr indent="0" marL="0">
              <a:buNone/>
            </a:pPr>
            <a:r>
              <a:rPr lang="en-US" sz="1300" dirty="0">
                <a:solidFill>
                  <a:srgbClr val="9CA3AF"/>
                </a:solidFill>
                <a:latin typeface="Calibri" pitchFamily="34" charset="0"/>
                <a:ea typeface="Calibri" pitchFamily="34" charset="-122"/>
                <a:cs typeface="Calibri" pitchFamily="34" charset="-120"/>
              </a:rPr>
              <a:t>Case: CindyPawfordBot  ·  patternsatscale/project-titan  +  CindyPawford-Online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47472"/>
            <a:ext cx="11055096" cy="566928"/>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Three claims, in order of dependency</a:t>
            </a:r>
            <a:endParaRPr lang="en-US" sz="3000" dirty="0"/>
          </a:p>
        </p:txBody>
      </p:sp>
      <p:sp>
        <p:nvSpPr>
          <p:cNvPr id="3" name="Text 1"/>
          <p:cNvSpPr txBox="1"/>
          <p:nvPr/>
        </p:nvSpPr>
        <p:spPr>
          <a:xfrm>
            <a:off x="566928" y="914400"/>
            <a:ext cx="11055096" cy="329184"/>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Each one is a prerequisite for the next. The third is the reproducible artifact.</a:t>
            </a:r>
            <a:endParaRPr lang="en-US" sz="1400" dirty="0"/>
          </a:p>
        </p:txBody>
      </p:sp>
      <p:sp>
        <p:nvSpPr>
          <p:cNvPr id="4" name="Shape 2"/>
          <p:cNvSpPr/>
          <p:nvPr/>
        </p:nvSpPr>
        <p:spPr>
          <a:xfrm>
            <a:off x="566928" y="1481328"/>
            <a:ext cx="11055096" cy="1481328"/>
          </a:xfrm>
          <a:prstGeom prst="rect">
            <a:avLst/>
          </a:prstGeom>
          <a:solidFill>
            <a:srgbClr val="FFFFFF"/>
          </a:solidFill>
          <a:ln w="12700">
            <a:solidFill>
              <a:srgbClr val="E5E7EB"/>
            </a:solidFill>
            <a:prstDash val="solid"/>
          </a:ln>
        </p:spPr>
      </p:sp>
      <p:sp>
        <p:nvSpPr>
          <p:cNvPr id="5" name="Shape 3"/>
          <p:cNvSpPr/>
          <p:nvPr/>
        </p:nvSpPr>
        <p:spPr>
          <a:xfrm>
            <a:off x="566928" y="1481328"/>
            <a:ext cx="749808" cy="1481328"/>
          </a:xfrm>
          <a:prstGeom prst="rect">
            <a:avLst/>
          </a:prstGeom>
          <a:solidFill>
            <a:srgbClr val="6D28D9"/>
          </a:solidFill>
          <a:ln w="12700">
            <a:solidFill>
              <a:srgbClr val="6D28D9"/>
            </a:solidFill>
            <a:prstDash val="solid"/>
          </a:ln>
        </p:spPr>
      </p:sp>
      <p:sp>
        <p:nvSpPr>
          <p:cNvPr id="6" name="Text 4"/>
          <p:cNvSpPr txBox="1"/>
          <p:nvPr/>
        </p:nvSpPr>
        <p:spPr>
          <a:xfrm>
            <a:off x="566928" y="1892808"/>
            <a:ext cx="749808"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7" name="Text 5"/>
          <p:cNvSpPr txBox="1"/>
          <p:nvPr/>
        </p:nvSpPr>
        <p:spPr>
          <a:xfrm>
            <a:off x="1609344" y="1700784"/>
            <a:ext cx="9683496" cy="384048"/>
          </a:xfrm>
          <a:prstGeom prst="rect">
            <a:avLst/>
          </a:prstGeom>
          <a:noFill/>
          <a:ln/>
        </p:spPr>
        <p:txBody>
          <a:bodyPr wrap="square" lIns="0" tIns="0" rIns="0" bIns="0" rtlCol="0" anchor="ctr"/>
          <a:lstStyle/>
          <a:p>
            <a:pPr indent="0" marL="0">
              <a:buNone/>
            </a:pPr>
            <a:r>
              <a:rPr lang="en-US" sz="1750" b="1" dirty="0">
                <a:solidFill>
                  <a:srgbClr val="1F2937"/>
                </a:solidFill>
                <a:latin typeface="Cambria" pitchFamily="34" charset="0"/>
                <a:ea typeface="Cambria" pitchFamily="34" charset="-122"/>
                <a:cs typeface="Cambria" pitchFamily="34" charset="-120"/>
              </a:rPr>
              <a:t>Repository topology is the primary safety control.</a:t>
            </a:r>
            <a:endParaRPr lang="en-US" sz="1750" dirty="0"/>
          </a:p>
        </p:txBody>
      </p:sp>
      <p:sp>
        <p:nvSpPr>
          <p:cNvPr id="8" name="Text 6"/>
          <p:cNvSpPr txBox="1"/>
          <p:nvPr/>
        </p:nvSpPr>
        <p:spPr>
          <a:xfrm>
            <a:off x="1609344" y="2121408"/>
            <a:ext cx="9683496" cy="713232"/>
          </a:xfrm>
          <a:prstGeom prst="rect">
            <a:avLst/>
          </a:prstGeom>
          <a:noFill/>
          <a:ln/>
        </p:spPr>
        <p:txBody>
          <a:bodyPr wrap="square" lIns="0" tIns="0" rIns="0" bIns="0" rtlCol="0" anchor="ctr"/>
          <a:lstStyle/>
          <a:p>
            <a:pPr indent="0" marL="0">
              <a:lnSpc>
                <a:spcPts val="1800"/>
              </a:lnSpc>
              <a:buNone/>
            </a:pPr>
            <a:r>
              <a:rPr lang="en-US" sz="1300" dirty="0">
                <a:solidFill>
                  <a:srgbClr val="374151"/>
                </a:solidFill>
                <a:latin typeface="Calibri" pitchFamily="34" charset="0"/>
                <a:ea typeface="Calibri" pitchFamily="34" charset="-122"/>
                <a:cs typeface="Calibri" pitchFamily="34" charset="-120"/>
              </a:rPr>
              <a:t>Splitting the agent's output repository from the repository that governs deployment is what makes unattended publishing reviewable. It is a structural decision made once, and it bounds every failure that follows. Almost no one treats it as a security decision.</a:t>
            </a:r>
            <a:endParaRPr lang="en-US" sz="1300" dirty="0"/>
          </a:p>
        </p:txBody>
      </p:sp>
      <p:sp>
        <p:nvSpPr>
          <p:cNvPr id="9" name="Shape 7"/>
          <p:cNvSpPr/>
          <p:nvPr/>
        </p:nvSpPr>
        <p:spPr>
          <a:xfrm>
            <a:off x="566928" y="3072384"/>
            <a:ext cx="11055096" cy="1481328"/>
          </a:xfrm>
          <a:prstGeom prst="rect">
            <a:avLst/>
          </a:prstGeom>
          <a:solidFill>
            <a:srgbClr val="FFFFFF"/>
          </a:solidFill>
          <a:ln w="12700">
            <a:solidFill>
              <a:srgbClr val="E5E7EB"/>
            </a:solidFill>
            <a:prstDash val="solid"/>
          </a:ln>
        </p:spPr>
      </p:sp>
      <p:sp>
        <p:nvSpPr>
          <p:cNvPr id="10" name="Shape 8"/>
          <p:cNvSpPr/>
          <p:nvPr/>
        </p:nvSpPr>
        <p:spPr>
          <a:xfrm>
            <a:off x="566928" y="3072384"/>
            <a:ext cx="749808" cy="1481328"/>
          </a:xfrm>
          <a:prstGeom prst="rect">
            <a:avLst/>
          </a:prstGeom>
          <a:solidFill>
            <a:srgbClr val="0E7490"/>
          </a:solidFill>
          <a:ln w="12700">
            <a:solidFill>
              <a:srgbClr val="0E7490"/>
            </a:solidFill>
            <a:prstDash val="solid"/>
          </a:ln>
        </p:spPr>
      </p:sp>
      <p:sp>
        <p:nvSpPr>
          <p:cNvPr id="11" name="Text 9"/>
          <p:cNvSpPr txBox="1"/>
          <p:nvPr/>
        </p:nvSpPr>
        <p:spPr>
          <a:xfrm>
            <a:off x="566928" y="3483864"/>
            <a:ext cx="749808"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2" name="Text 10"/>
          <p:cNvSpPr txBox="1"/>
          <p:nvPr/>
        </p:nvSpPr>
        <p:spPr>
          <a:xfrm>
            <a:off x="1609344" y="3291840"/>
            <a:ext cx="9683496" cy="384048"/>
          </a:xfrm>
          <a:prstGeom prst="rect">
            <a:avLst/>
          </a:prstGeom>
          <a:noFill/>
          <a:ln/>
        </p:spPr>
        <p:txBody>
          <a:bodyPr wrap="square" lIns="0" tIns="0" rIns="0" bIns="0" rtlCol="0" anchor="ctr"/>
          <a:lstStyle/>
          <a:p>
            <a:pPr indent="0" marL="0">
              <a:buNone/>
            </a:pPr>
            <a:r>
              <a:rPr lang="en-US" sz="1750" b="1" dirty="0">
                <a:solidFill>
                  <a:srgbClr val="1F2937"/>
                </a:solidFill>
                <a:latin typeface="Cambria" pitchFamily="34" charset="0"/>
                <a:ea typeface="Cambria" pitchFamily="34" charset="-122"/>
                <a:cs typeface="Cambria" pitchFamily="34" charset="-120"/>
              </a:rPr>
              <a:t>An agent should never hold the credential it publishes with.</a:t>
            </a:r>
            <a:endParaRPr lang="en-US" sz="1750" dirty="0"/>
          </a:p>
        </p:txBody>
      </p:sp>
      <p:sp>
        <p:nvSpPr>
          <p:cNvPr id="13" name="Text 11"/>
          <p:cNvSpPr txBox="1"/>
          <p:nvPr/>
        </p:nvSpPr>
        <p:spPr>
          <a:xfrm>
            <a:off x="1609344" y="3712464"/>
            <a:ext cx="9683496" cy="713232"/>
          </a:xfrm>
          <a:prstGeom prst="rect">
            <a:avLst/>
          </a:prstGeom>
          <a:noFill/>
          <a:ln/>
        </p:spPr>
        <p:txBody>
          <a:bodyPr wrap="square" lIns="0" tIns="0" rIns="0" bIns="0" rtlCol="0" anchor="ctr"/>
          <a:lstStyle/>
          <a:p>
            <a:pPr indent="0" marL="0">
              <a:lnSpc>
                <a:spcPts val="1800"/>
              </a:lnSpc>
              <a:buNone/>
            </a:pPr>
            <a:r>
              <a:rPr lang="en-US" sz="1300" dirty="0">
                <a:solidFill>
                  <a:srgbClr val="374151"/>
                </a:solidFill>
                <a:latin typeface="Calibri" pitchFamily="34" charset="0"/>
                <a:ea typeface="Calibri" pitchFamily="34" charset="-122"/>
                <a:cs typeface="Calibri" pitchFamily="34" charset="-120"/>
              </a:rPr>
              <a:t>Credentials can be injected in transit by infrastructure the agent cannot read. This converts a secrets-management problem into a network topology problem — and network topology is testable, which secret hygiene is not.</a:t>
            </a:r>
            <a:endParaRPr lang="en-US" sz="1300" dirty="0"/>
          </a:p>
        </p:txBody>
      </p:sp>
      <p:sp>
        <p:nvSpPr>
          <p:cNvPr id="14" name="Shape 12"/>
          <p:cNvSpPr/>
          <p:nvPr/>
        </p:nvSpPr>
        <p:spPr>
          <a:xfrm>
            <a:off x="566928" y="4663440"/>
            <a:ext cx="11055096" cy="1481328"/>
          </a:xfrm>
          <a:prstGeom prst="rect">
            <a:avLst/>
          </a:prstGeom>
          <a:solidFill>
            <a:srgbClr val="FFFFFF"/>
          </a:solidFill>
          <a:ln w="12700">
            <a:solidFill>
              <a:srgbClr val="E5E7EB"/>
            </a:solidFill>
            <a:prstDash val="solid"/>
          </a:ln>
        </p:spPr>
      </p:sp>
      <p:sp>
        <p:nvSpPr>
          <p:cNvPr id="15" name="Shape 13"/>
          <p:cNvSpPr/>
          <p:nvPr/>
        </p:nvSpPr>
        <p:spPr>
          <a:xfrm>
            <a:off x="566928" y="4663440"/>
            <a:ext cx="749808" cy="1481328"/>
          </a:xfrm>
          <a:prstGeom prst="rect">
            <a:avLst/>
          </a:prstGeom>
          <a:solidFill>
            <a:srgbClr val="B45309"/>
          </a:solidFill>
          <a:ln w="12700">
            <a:solidFill>
              <a:srgbClr val="B45309"/>
            </a:solidFill>
            <a:prstDash val="solid"/>
          </a:ln>
        </p:spPr>
      </p:sp>
      <p:sp>
        <p:nvSpPr>
          <p:cNvPr id="16" name="Text 14"/>
          <p:cNvSpPr txBox="1"/>
          <p:nvPr/>
        </p:nvSpPr>
        <p:spPr>
          <a:xfrm>
            <a:off x="566928" y="5074920"/>
            <a:ext cx="749808"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7" name="Text 15"/>
          <p:cNvSpPr txBox="1"/>
          <p:nvPr/>
        </p:nvSpPr>
        <p:spPr>
          <a:xfrm>
            <a:off x="1609344" y="4882896"/>
            <a:ext cx="9683496" cy="384048"/>
          </a:xfrm>
          <a:prstGeom prst="rect">
            <a:avLst/>
          </a:prstGeom>
          <a:noFill/>
          <a:ln/>
        </p:spPr>
        <p:txBody>
          <a:bodyPr wrap="square" lIns="0" tIns="0" rIns="0" bIns="0" rtlCol="0" anchor="ctr"/>
          <a:lstStyle/>
          <a:p>
            <a:pPr indent="0" marL="0">
              <a:buNone/>
            </a:pPr>
            <a:r>
              <a:rPr lang="en-US" sz="1750" b="1" dirty="0">
                <a:solidFill>
                  <a:srgbClr val="1F2937"/>
                </a:solidFill>
                <a:latin typeface="Cambria" pitchFamily="34" charset="0"/>
                <a:ea typeface="Cambria" pitchFamily="34" charset="-122"/>
                <a:cs typeface="Cambria" pitchFamily="34" charset="-120"/>
              </a:rPr>
              <a:t>The deploy path, not the model, is the reproducible research object.</a:t>
            </a:r>
            <a:endParaRPr lang="en-US" sz="1750" dirty="0"/>
          </a:p>
        </p:txBody>
      </p:sp>
      <p:sp>
        <p:nvSpPr>
          <p:cNvPr id="18" name="Text 16"/>
          <p:cNvSpPr txBox="1"/>
          <p:nvPr/>
        </p:nvSpPr>
        <p:spPr>
          <a:xfrm>
            <a:off x="1609344" y="5303520"/>
            <a:ext cx="9683496" cy="713232"/>
          </a:xfrm>
          <a:prstGeom prst="rect">
            <a:avLst/>
          </a:prstGeom>
          <a:noFill/>
          <a:ln/>
        </p:spPr>
        <p:txBody>
          <a:bodyPr wrap="square" lIns="0" tIns="0" rIns="0" bIns="0" rtlCol="0" anchor="ctr"/>
          <a:lstStyle/>
          <a:p>
            <a:pPr indent="0" marL="0">
              <a:lnSpc>
                <a:spcPts val="1800"/>
              </a:lnSpc>
              <a:buNone/>
            </a:pPr>
            <a:r>
              <a:rPr lang="en-US" sz="1300" dirty="0">
                <a:solidFill>
                  <a:srgbClr val="374151"/>
                </a:solidFill>
                <a:latin typeface="Calibri" pitchFamily="34" charset="0"/>
                <a:ea typeface="Calibri" pitchFamily="34" charset="-122"/>
                <a:cs typeface="Calibri" pitchFamily="34" charset="-120"/>
              </a:rPr>
              <a:t>Canvas to commit to guarded pull request to merge to infrastructure-as-code deployment. The pipeline is portable across models, tasks and domains. It is the part another team can actually copy.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66928" y="2331720"/>
            <a:ext cx="7315200" cy="320040"/>
          </a:xfrm>
          <a:prstGeom prst="rect">
            <a:avLst/>
          </a:prstGeom>
          <a:noFill/>
          <a:ln/>
        </p:spPr>
        <p:txBody>
          <a:bodyPr wrap="square" lIns="0" tIns="0" rIns="0" bIns="0" rtlCol="0" anchor="ctr"/>
          <a:lstStyle/>
          <a:p>
            <a:pPr indent="0" marL="0">
              <a:buNone/>
            </a:pPr>
            <a:r>
              <a:rPr lang="en-US" sz="1400" b="1" spc="300" kern="0" dirty="0">
                <a:solidFill>
                  <a:srgbClr val="B45309"/>
                </a:solidFill>
                <a:latin typeface="Calibri" pitchFamily="34" charset="0"/>
                <a:ea typeface="Calibri" pitchFamily="34" charset="-122"/>
                <a:cs typeface="Calibri" pitchFamily="34" charset="-120"/>
              </a:rPr>
              <a:t>PART ONE</a:t>
            </a:r>
            <a:endParaRPr lang="en-US" sz="1400" dirty="0"/>
          </a:p>
        </p:txBody>
      </p:sp>
      <p:sp>
        <p:nvSpPr>
          <p:cNvPr id="3" name="Text 1"/>
          <p:cNvSpPr txBox="1"/>
          <p:nvPr/>
        </p:nvSpPr>
        <p:spPr>
          <a:xfrm>
            <a:off x="566928" y="278892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two-repository primitive</a:t>
            </a:r>
            <a:endParaRPr lang="en-US" sz="4000" dirty="0"/>
          </a:p>
        </p:txBody>
      </p:sp>
      <p:sp>
        <p:nvSpPr>
          <p:cNvPr id="4" name="Text 2"/>
          <p:cNvSpPr txBox="1"/>
          <p:nvPr/>
        </p:nvSpPr>
        <p:spPr>
          <a:xfrm>
            <a:off x="566928" y="3794760"/>
            <a:ext cx="9601200" cy="548640"/>
          </a:xfrm>
          <a:prstGeom prst="rect">
            <a:avLst/>
          </a:prstGeom>
          <a:noFill/>
          <a:ln/>
        </p:spPr>
        <p:txBody>
          <a:bodyPr wrap="square" lIns="0" tIns="0" rIns="0" bIns="0" rtlCol="0" anchor="ctr"/>
          <a:lstStyle/>
          <a:p>
            <a:pPr indent="0" marL="0">
              <a:buNone/>
            </a:pPr>
            <a:r>
              <a:rPr lang="en-US" sz="1600" dirty="0">
                <a:solidFill>
                  <a:srgbClr val="93C5FD"/>
                </a:solidFill>
                <a:latin typeface="Calibri" pitchFamily="34" charset="0"/>
                <a:ea typeface="Calibri" pitchFamily="34" charset="-122"/>
                <a:cs typeface="Calibri" pitchFamily="34" charset="-120"/>
              </a:rPr>
              <a:t>One structural decision that bounds every failure downstream.</a:t>
            </a:r>
            <a:endParaRPr lang="en-US" sz="1600" dirty="0"/>
          </a:p>
        </p:txBody>
      </p:sp>
      <p:sp>
        <p:nvSpPr>
          <p:cNvPr id="5" name="Shape 3"/>
          <p:cNvSpPr/>
          <p:nvPr/>
        </p:nvSpPr>
        <p:spPr>
          <a:xfrm>
            <a:off x="566928" y="4709160"/>
            <a:ext cx="137160" cy="137160"/>
          </a:xfrm>
          <a:prstGeom prst="rect">
            <a:avLst/>
          </a:prstGeom>
          <a:solidFill>
            <a:srgbClr val="B45309"/>
          </a:solidFill>
          <a:ln w="12700">
            <a:solidFill>
              <a:srgbClr val="B45309"/>
            </a:solidFill>
            <a:prstDash val="solid"/>
          </a:ln>
        </p:spPr>
      </p:sp>
      <p:sp>
        <p:nvSpPr>
          <p:cNvPr id="6" name="Shape 4"/>
          <p:cNvSpPr/>
          <p:nvPr/>
        </p:nvSpPr>
        <p:spPr>
          <a:xfrm>
            <a:off x="822960" y="4709160"/>
            <a:ext cx="137160" cy="137160"/>
          </a:xfrm>
          <a:prstGeom prst="rect">
            <a:avLst/>
          </a:prstGeom>
          <a:solidFill>
            <a:srgbClr val="0E7490"/>
          </a:solidFill>
          <a:ln w="12700">
            <a:solidFill>
              <a:srgbClr val="0E7490"/>
            </a:solidFill>
            <a:prstDash val="solid"/>
          </a:ln>
        </p:spPr>
      </p:sp>
      <p:sp>
        <p:nvSpPr>
          <p:cNvPr id="7" name="Shape 5"/>
          <p:cNvSpPr/>
          <p:nvPr/>
        </p:nvSpPr>
        <p:spPr>
          <a:xfrm>
            <a:off x="1078992" y="4709160"/>
            <a:ext cx="137160" cy="137160"/>
          </a:xfrm>
          <a:prstGeom prst="rect">
            <a:avLst/>
          </a:prstGeom>
          <a:solidFill>
            <a:srgbClr val="6D28D9"/>
          </a:solidFill>
          <a:ln w="12700">
            <a:solidFill>
              <a:srgbClr val="6D28D9"/>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47472"/>
            <a:ext cx="11055096" cy="566928"/>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The capability you cannot safely grant</a:t>
            </a:r>
            <a:endParaRPr lang="en-US" sz="3000" dirty="0"/>
          </a:p>
        </p:txBody>
      </p:sp>
      <p:sp>
        <p:nvSpPr>
          <p:cNvPr id="3" name="Text 1"/>
          <p:cNvSpPr txBox="1"/>
          <p:nvPr/>
        </p:nvSpPr>
        <p:spPr>
          <a:xfrm>
            <a:off x="566928" y="914400"/>
            <a:ext cx="11055096" cy="329184"/>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Autonomous publishing fails on one question: what does the agent need to be able to do?</a:t>
            </a:r>
            <a:endParaRPr lang="en-US" sz="1400" dirty="0"/>
          </a:p>
        </p:txBody>
      </p:sp>
      <p:sp>
        <p:nvSpPr>
          <p:cNvPr id="4" name="Shape 2"/>
          <p:cNvSpPr/>
          <p:nvPr/>
        </p:nvSpPr>
        <p:spPr>
          <a:xfrm>
            <a:off x="566928" y="1481328"/>
            <a:ext cx="5353812" cy="2874264"/>
          </a:xfrm>
          <a:prstGeom prst="rect">
            <a:avLst/>
          </a:prstGeom>
          <a:solidFill>
            <a:srgbClr val="FEF2F2"/>
          </a:solidFill>
          <a:ln w="12700">
            <a:solidFill>
              <a:srgbClr val="FECACA"/>
            </a:solidFill>
            <a:prstDash val="solid"/>
          </a:ln>
        </p:spPr>
      </p:sp>
      <p:sp>
        <p:nvSpPr>
          <p:cNvPr id="5" name="Shape 3"/>
          <p:cNvSpPr/>
          <p:nvPr/>
        </p:nvSpPr>
        <p:spPr>
          <a:xfrm>
            <a:off x="877824" y="1783080"/>
            <a:ext cx="155448" cy="155448"/>
          </a:xfrm>
          <a:prstGeom prst="rect">
            <a:avLst/>
          </a:prstGeom>
          <a:solidFill>
            <a:srgbClr val="B91C1C"/>
          </a:solidFill>
          <a:ln w="12700">
            <a:solidFill>
              <a:srgbClr val="B91C1C"/>
            </a:solidFill>
            <a:prstDash val="solid"/>
          </a:ln>
        </p:spPr>
      </p:sp>
      <p:sp>
        <p:nvSpPr>
          <p:cNvPr id="6" name="Text 4"/>
          <p:cNvSpPr txBox="1"/>
          <p:nvPr/>
        </p:nvSpPr>
        <p:spPr>
          <a:xfrm>
            <a:off x="1152144" y="1719072"/>
            <a:ext cx="4457700" cy="329184"/>
          </a:xfrm>
          <a:prstGeom prst="rect">
            <a:avLst/>
          </a:prstGeom>
          <a:noFill/>
          <a:ln/>
        </p:spPr>
        <p:txBody>
          <a:bodyPr wrap="square" lIns="0" tIns="0" rIns="0" bIns="0" rtlCol="0" anchor="t"/>
          <a:lstStyle/>
          <a:p>
            <a:pPr indent="0" marL="0">
              <a:buNone/>
            </a:pPr>
            <a:r>
              <a:rPr lang="en-US" sz="1800" b="1" dirty="0">
                <a:solidFill>
                  <a:srgbClr val="B91C1C"/>
                </a:solidFill>
                <a:latin typeface="Cambria" pitchFamily="34" charset="0"/>
                <a:ea typeface="Cambria" pitchFamily="34" charset="-122"/>
                <a:cs typeface="Cambria" pitchFamily="34" charset="-120"/>
              </a:rPr>
              <a:t>The naive grant</a:t>
            </a:r>
            <a:endParaRPr lang="en-US" sz="1800" dirty="0"/>
          </a:p>
        </p:txBody>
      </p:sp>
      <p:sp>
        <p:nvSpPr>
          <p:cNvPr id="7" name="Text 5"/>
          <p:cNvSpPr txBox="1"/>
          <p:nvPr/>
        </p:nvSpPr>
        <p:spPr>
          <a:xfrm>
            <a:off x="877824" y="2231136"/>
            <a:ext cx="4732020" cy="1905000"/>
          </a:xfrm>
          <a:prstGeom prst="rect">
            <a:avLst/>
          </a:prstGeom>
          <a:noFill/>
          <a:ln/>
        </p:spPr>
        <p:txBody>
          <a:bodyPr wrap="square" lIns="0" tIns="0" rIns="0" bIns="0" rtlCol="0" anchor="t"/>
          <a:lstStyle/>
          <a:p>
            <a:pPr indent="0" marL="0">
              <a:lnSpc>
                <a:spcPts val="1700"/>
              </a:lnSpc>
              <a:spcAft>
                <a:spcPts val="700"/>
              </a:spcAft>
              <a:buNone/>
            </a:pPr>
            <a:r>
              <a:rPr lang="en-US" sz="1250" dirty="0">
                <a:solidFill>
                  <a:srgbClr val="374151"/>
                </a:solidFill>
                <a:latin typeface="Calibri" pitchFamily="34" charset="0"/>
                <a:ea typeface="Calibri" pitchFamily="34" charset="-122"/>
                <a:cs typeface="Calibri" pitchFamily="34" charset="-120"/>
              </a:rPr>
              <a:t>Give the agent a token and write access to the repository that serves the site.</a:t>
            </a:r>
            <a:endParaRPr lang="en-US" sz="1250" dirty="0"/>
          </a:p>
          <a:p>
            <a:pPr indent="0" marL="0">
              <a:lnSpc>
                <a:spcPts val="1700"/>
              </a:lnSpc>
              <a:spcAft>
                <a:spcPts val="700"/>
              </a:spcAft>
              <a:buNone/>
            </a:pPr>
            <a:r>
              <a:rPr lang="en-US" sz="1250" dirty="0">
                <a:solidFill>
                  <a:srgbClr val="374151"/>
                </a:solidFill>
                <a:latin typeface="Calibri" pitchFamily="34" charset="0"/>
                <a:ea typeface="Calibri" pitchFamily="34" charset="-122"/>
                <a:cs typeface="Calibri" pitchFamily="34" charset="-120"/>
              </a:rPr>
              <a:t>It now holds the credential, can rewrite the workflow that checks its own output, can disable the branch protection that gates it, and can push straight to the deployed branch. Every control is inside its reach.</a:t>
            </a:r>
            <a:endParaRPr lang="en-US" sz="1250" dirty="0"/>
          </a:p>
          <a:p>
            <a:pPr indent="0" marL="0">
              <a:lnSpc>
                <a:spcPts val="1700"/>
              </a:lnSpc>
              <a:spcAft>
                <a:spcPts val="700"/>
              </a:spcAft>
              <a:buNone/>
            </a:pPr>
            <a:r>
              <a:rPr lang="en-US" sz="1250" b="1" dirty="0">
                <a:solidFill>
                  <a:srgbClr val="1F2937"/>
                </a:solidFill>
                <a:latin typeface="Calibri" pitchFamily="34" charset="0"/>
                <a:ea typeface="Calibri" pitchFamily="34" charset="-122"/>
                <a:cs typeface="Calibri" pitchFamily="34" charset="-120"/>
              </a:rPr>
              <a:t>An agent that can edit its own guardrails has no guardrails.</a:t>
            </a:r>
            <a:endParaRPr lang="en-US" sz="1250" dirty="0"/>
          </a:p>
        </p:txBody>
      </p:sp>
      <p:sp>
        <p:nvSpPr>
          <p:cNvPr id="8" name="Shape 6"/>
          <p:cNvSpPr/>
          <p:nvPr/>
        </p:nvSpPr>
        <p:spPr>
          <a:xfrm>
            <a:off x="6239866" y="1481328"/>
            <a:ext cx="5353812" cy="2487168"/>
          </a:xfrm>
          <a:prstGeom prst="rect">
            <a:avLst/>
          </a:prstGeom>
          <a:solidFill>
            <a:srgbClr val="F0FDF4"/>
          </a:solidFill>
          <a:ln w="12700">
            <a:solidFill>
              <a:srgbClr val="BBF7D0"/>
            </a:solidFill>
            <a:prstDash val="solid"/>
          </a:ln>
        </p:spPr>
      </p:sp>
      <p:sp>
        <p:nvSpPr>
          <p:cNvPr id="9" name="Shape 7"/>
          <p:cNvSpPr/>
          <p:nvPr/>
        </p:nvSpPr>
        <p:spPr>
          <a:xfrm>
            <a:off x="6550762" y="1783080"/>
            <a:ext cx="155448" cy="155448"/>
          </a:xfrm>
          <a:prstGeom prst="rect">
            <a:avLst/>
          </a:prstGeom>
          <a:solidFill>
            <a:srgbClr val="15803D"/>
          </a:solidFill>
          <a:ln w="12700">
            <a:solidFill>
              <a:srgbClr val="15803D"/>
            </a:solidFill>
            <a:prstDash val="solid"/>
          </a:ln>
        </p:spPr>
      </p:sp>
      <p:sp>
        <p:nvSpPr>
          <p:cNvPr id="10" name="Text 8"/>
          <p:cNvSpPr txBox="1"/>
          <p:nvPr/>
        </p:nvSpPr>
        <p:spPr>
          <a:xfrm>
            <a:off x="6825082" y="1719072"/>
            <a:ext cx="4457700" cy="329184"/>
          </a:xfrm>
          <a:prstGeom prst="rect">
            <a:avLst/>
          </a:prstGeom>
          <a:noFill/>
          <a:ln/>
        </p:spPr>
        <p:txBody>
          <a:bodyPr wrap="square" lIns="0" tIns="0" rIns="0" bIns="0" rtlCol="0" anchor="t"/>
          <a:lstStyle/>
          <a:p>
            <a:pPr indent="0" marL="0">
              <a:buNone/>
            </a:pPr>
            <a:r>
              <a:rPr lang="en-US" sz="1800" b="1" dirty="0">
                <a:solidFill>
                  <a:srgbClr val="15803D"/>
                </a:solidFill>
                <a:latin typeface="Cambria" pitchFamily="34" charset="0"/>
                <a:ea typeface="Cambria" pitchFamily="34" charset="-122"/>
                <a:cs typeface="Cambria" pitchFamily="34" charset="-120"/>
              </a:rPr>
              <a:t>The structural grant</a:t>
            </a:r>
            <a:endParaRPr lang="en-US" sz="1800" dirty="0"/>
          </a:p>
        </p:txBody>
      </p:sp>
      <p:sp>
        <p:nvSpPr>
          <p:cNvPr id="11" name="Text 9"/>
          <p:cNvSpPr txBox="1"/>
          <p:nvPr/>
        </p:nvSpPr>
        <p:spPr>
          <a:xfrm>
            <a:off x="6550762" y="2231136"/>
            <a:ext cx="4732020" cy="1517904"/>
          </a:xfrm>
          <a:prstGeom prst="rect">
            <a:avLst/>
          </a:prstGeom>
          <a:noFill/>
          <a:ln/>
        </p:spPr>
        <p:txBody>
          <a:bodyPr wrap="square" lIns="0" tIns="0" rIns="0" bIns="0" rtlCol="0" anchor="t"/>
          <a:lstStyle/>
          <a:p>
            <a:pPr indent="0" marL="0">
              <a:lnSpc>
                <a:spcPts val="1500"/>
              </a:lnSpc>
              <a:spcAft>
                <a:spcPts val="500"/>
              </a:spcAft>
              <a:buNone/>
            </a:pPr>
            <a:r>
              <a:rPr lang="en-US" sz="1150" dirty="0">
                <a:solidFill>
                  <a:srgbClr val="374151"/>
                </a:solidFill>
                <a:latin typeface="Calibri" pitchFamily="34" charset="0"/>
                <a:ea typeface="Calibri" pitchFamily="34" charset="-122"/>
                <a:cs typeface="Calibri" pitchFamily="34" charset="-120"/>
              </a:rPr>
              <a:t>Give the agent write access to content only, in a repository whose governance lives elsewhere.</a:t>
            </a:r>
            <a:endParaRPr lang="en-US" sz="1150" dirty="0"/>
          </a:p>
          <a:p>
            <a:pPr indent="0" marL="0">
              <a:lnSpc>
                <a:spcPts val="1500"/>
              </a:lnSpc>
              <a:spcAft>
                <a:spcPts val="500"/>
              </a:spcAft>
              <a:buNone/>
            </a:pPr>
            <a:r>
              <a:rPr lang="en-US" sz="1150" dirty="0">
                <a:solidFill>
                  <a:srgbClr val="374151"/>
                </a:solidFill>
                <a:latin typeface="Calibri" pitchFamily="34" charset="0"/>
                <a:ea typeface="Calibri" pitchFamily="34" charset="-122"/>
                <a:cs typeface="Calibri" pitchFamily="34" charset="-120"/>
              </a:rPr>
              <a:t>It holds no credential, cannot read the deploy workflow, cannot alter the required check, and cannot merge. Its maximum output is a proposal.</a:t>
            </a:r>
            <a:endParaRPr lang="en-US" sz="1150" dirty="0"/>
          </a:p>
          <a:p>
            <a:pPr indent="0" marL="0">
              <a:lnSpc>
                <a:spcPts val="1500"/>
              </a:lnSpc>
              <a:spcAft>
                <a:spcPts val="500"/>
              </a:spcAft>
              <a:buNone/>
            </a:pPr>
            <a:r>
              <a:rPr lang="en-US" sz="1150" b="1" dirty="0">
                <a:solidFill>
                  <a:srgbClr val="1F2937"/>
                </a:solidFill>
                <a:latin typeface="Calibri" pitchFamily="34" charset="0"/>
                <a:ea typeface="Calibri" pitchFamily="34" charset="-122"/>
                <a:cs typeface="Calibri" pitchFamily="34" charset="-120"/>
              </a:rPr>
              <a:t>The capability is removed, not policed.</a:t>
            </a:r>
            <a:endParaRPr lang="en-US" sz="1150" dirty="0"/>
          </a:p>
        </p:txBody>
      </p:sp>
      <p:sp>
        <p:nvSpPr>
          <p:cNvPr id="12" name="Shape 10"/>
          <p:cNvSpPr/>
          <p:nvPr/>
        </p:nvSpPr>
        <p:spPr>
          <a:xfrm>
            <a:off x="566928" y="4629912"/>
            <a:ext cx="11055096" cy="1496568"/>
          </a:xfrm>
          <a:prstGeom prst="rect">
            <a:avLst/>
          </a:prstGeom>
          <a:solidFill>
            <a:srgbClr val="F3F4F6"/>
          </a:solidFill>
          <a:ln w="12700">
            <a:solidFill>
              <a:srgbClr val="E5E7EB"/>
            </a:solidFill>
            <a:prstDash val="solid"/>
          </a:ln>
        </p:spPr>
      </p:sp>
      <p:sp>
        <p:nvSpPr>
          <p:cNvPr id="13" name="Text 11"/>
          <p:cNvSpPr txBox="1"/>
          <p:nvPr/>
        </p:nvSpPr>
        <p:spPr>
          <a:xfrm>
            <a:off x="877824" y="4767072"/>
            <a:ext cx="10433304" cy="292608"/>
          </a:xfrm>
          <a:prstGeom prst="rect">
            <a:avLst/>
          </a:prstGeom>
          <a:noFill/>
          <a:ln/>
        </p:spPr>
        <p:txBody>
          <a:bodyPr wrap="square" lIns="0" tIns="0" rIns="0" bIns="0" rtlCol="0" anchor="t"/>
          <a:lstStyle/>
          <a:p>
            <a:pPr indent="0" marL="0">
              <a:buNone/>
            </a:pPr>
            <a:r>
              <a:rPr lang="en-US" sz="1500" b="1" dirty="0">
                <a:solidFill>
                  <a:srgbClr val="1F2937"/>
                </a:solidFill>
                <a:latin typeface="Cambria" pitchFamily="34" charset="0"/>
                <a:ea typeface="Cambria" pitchFamily="34" charset="-122"/>
                <a:cs typeface="Cambria" pitchFamily="34" charset="-120"/>
              </a:rPr>
              <a:t>Why this is a topology question rather than a permissions question</a:t>
            </a:r>
            <a:endParaRPr lang="en-US" sz="1500" dirty="0"/>
          </a:p>
        </p:txBody>
      </p:sp>
      <p:sp>
        <p:nvSpPr>
          <p:cNvPr id="14" name="Text 12"/>
          <p:cNvSpPr txBox="1"/>
          <p:nvPr/>
        </p:nvSpPr>
        <p:spPr>
          <a:xfrm>
            <a:off x="877824" y="5141976"/>
            <a:ext cx="10433304" cy="929640"/>
          </a:xfrm>
          <a:prstGeom prst="rect">
            <a:avLst/>
          </a:prstGeom>
          <a:noFill/>
          <a:ln/>
        </p:spPr>
        <p:txBody>
          <a:bodyPr wrap="square" lIns="0" tIns="0" rIns="0" bIns="0" rtlCol="0" anchor="t"/>
          <a:lstStyle/>
          <a:p>
            <a:pPr indent="0" marL="0">
              <a:lnSpc>
                <a:spcPts val="1650"/>
              </a:lnSpc>
              <a:buNone/>
            </a:pPr>
            <a:r>
              <a:rPr lang="en-US" sz="1250" dirty="0">
                <a:solidFill>
                  <a:srgbClr val="374151"/>
                </a:solidFill>
                <a:latin typeface="Calibri" pitchFamily="34" charset="0"/>
                <a:ea typeface="Calibri" pitchFamily="34" charset="-122"/>
                <a:cs typeface="Calibri" pitchFamily="34" charset="-120"/>
              </a:rPr>
              <a:t>Permissions are enforced by the same system the agent is acting inside, and they are configured in files that live next to the code. Topology is enforced by the fact that a thing is somewhere else. </a:t>
            </a:r>
            <a:pPr indent="0" marL="0">
              <a:lnSpc>
                <a:spcPts val="1650"/>
              </a:lnSpc>
              <a:buNone/>
            </a:pPr>
            <a:r>
              <a:rPr lang="en-US" sz="1250" b="1" dirty="0">
                <a:solidFill>
                  <a:srgbClr val="1F2937"/>
                </a:solidFill>
                <a:latin typeface="Calibri" pitchFamily="34" charset="0"/>
                <a:ea typeface="Calibri" pitchFamily="34" charset="-122"/>
                <a:cs typeface="Calibri" pitchFamily="34" charset="-120"/>
              </a:rPr>
              <a:t>The reproducible move is to ask, for each capability the agent needs, whether it can be satisfied from a different repository, a different network, or a different identity — and to take the split every time the answer is yes.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47472"/>
            <a:ext cx="11055096" cy="566928"/>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The split: control plane and canvas</a:t>
            </a:r>
            <a:endParaRPr lang="en-US" sz="3000" dirty="0"/>
          </a:p>
        </p:txBody>
      </p:sp>
      <p:sp>
        <p:nvSpPr>
          <p:cNvPr id="3" name="Text 1"/>
          <p:cNvSpPr txBox="1"/>
          <p:nvPr/>
        </p:nvSpPr>
        <p:spPr>
          <a:xfrm>
            <a:off x="566928" y="914400"/>
            <a:ext cx="11055096" cy="329184"/>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Two repositories, two owners, two blast radii. The agent lives in exactly one of them.</a:t>
            </a:r>
            <a:endParaRPr lang="en-US" sz="1400" dirty="0"/>
          </a:p>
        </p:txBody>
      </p:sp>
      <p:sp>
        <p:nvSpPr>
          <p:cNvPr id="4" name="Shape 2"/>
          <p:cNvSpPr/>
          <p:nvPr/>
        </p:nvSpPr>
        <p:spPr>
          <a:xfrm>
            <a:off x="566928" y="1481328"/>
            <a:ext cx="5353812" cy="2788920"/>
          </a:xfrm>
          <a:prstGeom prst="rect">
            <a:avLst/>
          </a:prstGeom>
          <a:solidFill>
            <a:srgbClr val="FFFFFF"/>
          </a:solidFill>
          <a:ln w="12700">
            <a:solidFill>
              <a:srgbClr val="D1D5DB"/>
            </a:solidFill>
            <a:prstDash val="solid"/>
          </a:ln>
        </p:spPr>
      </p:sp>
      <p:sp>
        <p:nvSpPr>
          <p:cNvPr id="5" name="Text 3"/>
          <p:cNvSpPr txBox="1"/>
          <p:nvPr/>
        </p:nvSpPr>
        <p:spPr>
          <a:xfrm>
            <a:off x="877824" y="1719072"/>
            <a:ext cx="3657600" cy="256032"/>
          </a:xfrm>
          <a:prstGeom prst="rect">
            <a:avLst/>
          </a:prstGeom>
          <a:noFill/>
          <a:ln/>
        </p:spPr>
        <p:txBody>
          <a:bodyPr wrap="square" lIns="0" tIns="0" rIns="0" bIns="0" rtlCol="0" anchor="ctr"/>
          <a:lstStyle/>
          <a:p>
            <a:pPr indent="0" marL="0">
              <a:buNone/>
            </a:pPr>
            <a:r>
              <a:rPr lang="en-US" sz="1100" b="1" spc="200" kern="0" dirty="0">
                <a:solidFill>
                  <a:srgbClr val="B45309"/>
                </a:solidFill>
                <a:latin typeface="Calibri" pitchFamily="34" charset="0"/>
                <a:ea typeface="Calibri" pitchFamily="34" charset="-122"/>
                <a:cs typeface="Calibri" pitchFamily="34" charset="-120"/>
              </a:rPr>
              <a:t>CONTROL PLANE</a:t>
            </a:r>
            <a:endParaRPr lang="en-US" sz="1100" dirty="0"/>
          </a:p>
        </p:txBody>
      </p:sp>
      <p:sp>
        <p:nvSpPr>
          <p:cNvPr id="6" name="Text 4"/>
          <p:cNvSpPr txBox="1"/>
          <p:nvPr/>
        </p:nvSpPr>
        <p:spPr>
          <a:xfrm>
            <a:off x="877824" y="2011680"/>
            <a:ext cx="4663440" cy="384048"/>
          </a:xfrm>
          <a:prstGeom prst="rect">
            <a:avLst/>
          </a:prstGeom>
          <a:noFill/>
          <a:ln/>
        </p:spPr>
        <p:txBody>
          <a:bodyPr wrap="square" lIns="0" tIns="0" rIns="0" bIns="0" rtlCol="0" anchor="ctr"/>
          <a:lstStyle/>
          <a:p>
            <a:pPr indent="0" marL="0">
              <a:buNone/>
            </a:pPr>
            <a:r>
              <a:rPr lang="en-US" sz="2000" b="1" dirty="0">
                <a:solidFill>
                  <a:srgbClr val="1F2937"/>
                </a:solidFill>
                <a:latin typeface="Cambria" pitchFamily="34" charset="0"/>
                <a:ea typeface="Cambria" pitchFamily="34" charset="-122"/>
                <a:cs typeface="Cambria" pitchFamily="34" charset="-120"/>
              </a:rPr>
              <a:t>project-titan</a:t>
            </a:r>
            <a:endParaRPr lang="en-US" sz="2000" dirty="0"/>
          </a:p>
        </p:txBody>
      </p:sp>
      <p:sp>
        <p:nvSpPr>
          <p:cNvPr id="7" name="Text 5"/>
          <p:cNvSpPr txBox="1"/>
          <p:nvPr/>
        </p:nvSpPr>
        <p:spPr>
          <a:xfrm>
            <a:off x="877824" y="2468880"/>
            <a:ext cx="4736592" cy="274320"/>
          </a:xfrm>
          <a:prstGeom prst="rect">
            <a:avLst/>
          </a:prstGeom>
          <a:noFill/>
          <a:ln/>
        </p:spPr>
        <p:txBody>
          <a:bodyPr wrap="square" lIns="0" tIns="0" rIns="0" bIns="0" rtlCol="0" anchor="t"/>
          <a:lstStyle/>
          <a:p>
            <a:pPr indent="0" marL="0">
              <a:buNone/>
            </a:pPr>
            <a:r>
              <a:rPr lang="en-US" sz="1250" b="1" dirty="0">
                <a:solidFill>
                  <a:srgbClr val="1F2937"/>
                </a:solidFill>
                <a:latin typeface="Calibri" pitchFamily="34" charset="0"/>
                <a:ea typeface="Calibri" pitchFamily="34" charset="-122"/>
                <a:cs typeface="Calibri" pitchFamily="34" charset="-120"/>
              </a:rPr>
              <a:t>Human-owned. The agent has no write path.</a:t>
            </a:r>
            <a:endParaRPr lang="en-US" sz="1250" dirty="0"/>
          </a:p>
        </p:txBody>
      </p:sp>
      <p:sp>
        <p:nvSpPr>
          <p:cNvPr id="8" name="Text 6"/>
          <p:cNvSpPr txBox="1"/>
          <p:nvPr/>
        </p:nvSpPr>
        <p:spPr>
          <a:xfrm>
            <a:off x="877824" y="2798064"/>
            <a:ext cx="4736592" cy="146304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374151"/>
                </a:solidFill>
                <a:latin typeface="Calibri" pitchFamily="34" charset="0"/>
                <a:ea typeface="Calibri" pitchFamily="34" charset="-122"/>
                <a:cs typeface="Calibri" pitchFamily="34" charset="-120"/>
              </a:rPr>
              <a:t>Fleet manifest — every agent, budget and schedule</a:t>
            </a:r>
            <a:endParaRPr lang="en-US" sz="1250" dirty="0"/>
          </a:p>
          <a:p>
            <a:pPr marL="342900" indent="-342900">
              <a:spcAft>
                <a:spcPts val="300"/>
              </a:spcAft>
              <a:buSzPct val="100000"/>
              <a:buChar char="•"/>
            </a:pPr>
            <a:r>
              <a:rPr lang="en-US" sz="1250" dirty="0">
                <a:solidFill>
                  <a:srgbClr val="374151"/>
                </a:solidFill>
                <a:latin typeface="Calibri" pitchFamily="34" charset="0"/>
                <a:ea typeface="Calibri" pitchFamily="34" charset="-122"/>
                <a:cs typeface="Calibri" pitchFamily="34" charset="-120"/>
              </a:rPr>
              <a:t>Infrastructure as code — the deployment definition</a:t>
            </a:r>
            <a:endParaRPr lang="en-US" sz="1250" dirty="0"/>
          </a:p>
          <a:p>
            <a:pPr marL="342900" indent="-342900">
              <a:spcAft>
                <a:spcPts val="300"/>
              </a:spcAft>
              <a:buSzPct val="100000"/>
              <a:buChar char="•"/>
            </a:pPr>
            <a:r>
              <a:rPr lang="en-US" sz="1250" dirty="0">
                <a:solidFill>
                  <a:srgbClr val="374151"/>
                </a:solidFill>
                <a:latin typeface="Calibri" pitchFamily="34" charset="0"/>
                <a:ea typeface="Calibri" pitchFamily="34" charset="-122"/>
                <a:cs typeface="Calibri" pitchFamily="34" charset="-120"/>
              </a:rPr>
              <a:t>Reset, archive and rollback scripts</a:t>
            </a:r>
            <a:endParaRPr lang="en-US" sz="1250" dirty="0"/>
          </a:p>
          <a:p>
            <a:pPr marL="342900" indent="-342900">
              <a:spcAft>
                <a:spcPts val="300"/>
              </a:spcAft>
              <a:buSzPct val="100000"/>
              <a:buChar char="•"/>
            </a:pPr>
            <a:r>
              <a:rPr lang="en-US" sz="1250" dirty="0">
                <a:solidFill>
                  <a:srgbClr val="374151"/>
                </a:solidFill>
                <a:latin typeface="Calibri" pitchFamily="34" charset="0"/>
                <a:ea typeface="Calibri" pitchFamily="34" charset="-122"/>
                <a:cs typeface="Calibri" pitchFamily="34" charset="-120"/>
              </a:rPr>
              <a:t>Verification suites</a:t>
            </a:r>
            <a:endParaRPr lang="en-US" sz="1250" dirty="0"/>
          </a:p>
          <a:p>
            <a:pPr marL="342900" indent="-342900">
              <a:spcAft>
                <a:spcPts val="300"/>
              </a:spcAft>
              <a:buSzPct val="100000"/>
              <a:buChar char="•"/>
            </a:pPr>
            <a:r>
              <a:rPr lang="en-US" sz="1250" dirty="0">
                <a:solidFill>
                  <a:srgbClr val="374151"/>
                </a:solidFill>
                <a:latin typeface="Calibri" pitchFamily="34" charset="0"/>
                <a:ea typeface="Calibri" pitchFamily="34" charset="-122"/>
                <a:cs typeface="Calibri" pitchFamily="34" charset="-120"/>
              </a:rPr>
              <a:t>The credential-injecting reverse proxy</a:t>
            </a:r>
            <a:endParaRPr lang="en-US" sz="1250" dirty="0"/>
          </a:p>
        </p:txBody>
      </p:sp>
      <p:sp>
        <p:nvSpPr>
          <p:cNvPr id="9" name="Shape 7"/>
          <p:cNvSpPr/>
          <p:nvPr/>
        </p:nvSpPr>
        <p:spPr>
          <a:xfrm>
            <a:off x="6239866" y="1481328"/>
            <a:ext cx="5353812" cy="2788920"/>
          </a:xfrm>
          <a:prstGeom prst="rect">
            <a:avLst/>
          </a:prstGeom>
          <a:solidFill>
            <a:srgbClr val="FFFFFF"/>
          </a:solidFill>
          <a:ln w="12700">
            <a:solidFill>
              <a:srgbClr val="D1D5DB"/>
            </a:solidFill>
            <a:prstDash val="solid"/>
          </a:ln>
        </p:spPr>
      </p:sp>
      <p:sp>
        <p:nvSpPr>
          <p:cNvPr id="10" name="Text 8"/>
          <p:cNvSpPr txBox="1"/>
          <p:nvPr/>
        </p:nvSpPr>
        <p:spPr>
          <a:xfrm>
            <a:off x="6550762" y="1719072"/>
            <a:ext cx="3657600" cy="256032"/>
          </a:xfrm>
          <a:prstGeom prst="rect">
            <a:avLst/>
          </a:prstGeom>
          <a:noFill/>
          <a:ln/>
        </p:spPr>
        <p:txBody>
          <a:bodyPr wrap="square" lIns="0" tIns="0" rIns="0" bIns="0" rtlCol="0" anchor="ctr"/>
          <a:lstStyle/>
          <a:p>
            <a:pPr indent="0" marL="0">
              <a:buNone/>
            </a:pPr>
            <a:r>
              <a:rPr lang="en-US" sz="1100" b="1" spc="200" kern="0" dirty="0">
                <a:solidFill>
                  <a:srgbClr val="6D28D9"/>
                </a:solidFill>
                <a:latin typeface="Calibri" pitchFamily="34" charset="0"/>
                <a:ea typeface="Calibri" pitchFamily="34" charset="-122"/>
                <a:cs typeface="Calibri" pitchFamily="34" charset="-120"/>
              </a:rPr>
              <a:t>CANVAS</a:t>
            </a:r>
            <a:endParaRPr lang="en-US" sz="1100" dirty="0"/>
          </a:p>
        </p:txBody>
      </p:sp>
      <p:sp>
        <p:nvSpPr>
          <p:cNvPr id="11" name="Text 9"/>
          <p:cNvSpPr txBox="1"/>
          <p:nvPr/>
        </p:nvSpPr>
        <p:spPr>
          <a:xfrm>
            <a:off x="6550762" y="2011680"/>
            <a:ext cx="4663440" cy="384048"/>
          </a:xfrm>
          <a:prstGeom prst="rect">
            <a:avLst/>
          </a:prstGeom>
          <a:noFill/>
          <a:ln/>
        </p:spPr>
        <p:txBody>
          <a:bodyPr wrap="square" lIns="0" tIns="0" rIns="0" bIns="0" rtlCol="0" anchor="ctr"/>
          <a:lstStyle/>
          <a:p>
            <a:pPr indent="0" marL="0">
              <a:buNone/>
            </a:pPr>
            <a:r>
              <a:rPr lang="en-US" sz="2000" b="1" dirty="0">
                <a:solidFill>
                  <a:srgbClr val="1F2937"/>
                </a:solidFill>
                <a:latin typeface="Cambria" pitchFamily="34" charset="0"/>
                <a:ea typeface="Cambria" pitchFamily="34" charset="-122"/>
                <a:cs typeface="Cambria" pitchFamily="34" charset="-120"/>
              </a:rPr>
              <a:t>CindyPawford-Online</a:t>
            </a:r>
            <a:endParaRPr lang="en-US" sz="2000" dirty="0"/>
          </a:p>
        </p:txBody>
      </p:sp>
      <p:sp>
        <p:nvSpPr>
          <p:cNvPr id="12" name="Text 10"/>
          <p:cNvSpPr txBox="1"/>
          <p:nvPr/>
        </p:nvSpPr>
        <p:spPr>
          <a:xfrm>
            <a:off x="6550762" y="2468880"/>
            <a:ext cx="4736592" cy="274320"/>
          </a:xfrm>
          <a:prstGeom prst="rect">
            <a:avLst/>
          </a:prstGeom>
          <a:noFill/>
          <a:ln/>
        </p:spPr>
        <p:txBody>
          <a:bodyPr wrap="square" lIns="0" tIns="0" rIns="0" bIns="0" rtlCol="0" anchor="t"/>
          <a:lstStyle/>
          <a:p>
            <a:pPr indent="0" marL="0">
              <a:buNone/>
            </a:pPr>
            <a:r>
              <a:rPr lang="en-US" sz="1250" b="1" dirty="0">
                <a:solidFill>
                  <a:srgbClr val="1F2937"/>
                </a:solidFill>
                <a:latin typeface="Calibri" pitchFamily="34" charset="0"/>
                <a:ea typeface="Calibri" pitchFamily="34" charset="-122"/>
                <a:cs typeface="Calibri" pitchFamily="34" charset="-120"/>
              </a:rPr>
              <a:t>Agent-owned, except for one directory.</a:t>
            </a:r>
            <a:endParaRPr lang="en-US" sz="1250" dirty="0"/>
          </a:p>
        </p:txBody>
      </p:sp>
      <p:sp>
        <p:nvSpPr>
          <p:cNvPr id="13" name="Text 11"/>
          <p:cNvSpPr txBox="1"/>
          <p:nvPr/>
        </p:nvSpPr>
        <p:spPr>
          <a:xfrm>
            <a:off x="6550762" y="2798064"/>
            <a:ext cx="4736592" cy="146304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374151"/>
                </a:solidFill>
                <a:latin typeface="Calibri" pitchFamily="34" charset="0"/>
                <a:ea typeface="Calibri" pitchFamily="34" charset="-122"/>
                <a:cs typeface="Calibri" pitchFamily="34" charset="-120"/>
              </a:rPr>
              <a:t>The published site — markup, styles, scripts</a:t>
            </a:r>
            <a:endParaRPr lang="en-US" sz="1250" dirty="0"/>
          </a:p>
          <a:p>
            <a:pPr marL="342900" indent="-342900">
              <a:spcAft>
                <a:spcPts val="300"/>
              </a:spcAft>
              <a:buSzPct val="100000"/>
              <a:buChar char="•"/>
            </a:pPr>
            <a:r>
              <a:rPr lang="en-US" sz="1250" dirty="0">
                <a:solidFill>
                  <a:srgbClr val="374151"/>
                </a:solidFill>
                <a:latin typeface="Calibri" pitchFamily="34" charset="0"/>
                <a:ea typeface="Calibri" pitchFamily="34" charset="-122"/>
                <a:cs typeface="Calibri" pitchFamily="34" charset="-120"/>
              </a:rPr>
              <a:t>Era recap and archive-ready signal files</a:t>
            </a:r>
            <a:endParaRPr lang="en-US" sz="1250" dirty="0"/>
          </a:p>
          <a:p>
            <a:pPr marL="342900" indent="-342900">
              <a:spcAft>
                <a:spcPts val="300"/>
              </a:spcAft>
              <a:buSzPct val="100000"/>
              <a:buChar char="•"/>
            </a:pPr>
            <a:r>
              <a:rPr lang="en-US" sz="1250" dirty="0">
                <a:solidFill>
                  <a:srgbClr val="374151"/>
                </a:solidFill>
                <a:latin typeface="Calibri" pitchFamily="34" charset="0"/>
                <a:ea typeface="Calibri" pitchFamily="34" charset="-122"/>
                <a:cs typeface="Calibri" pitchFamily="34" charset="-120"/>
              </a:rPr>
              <a:t>The CI directory — mounted read-only beneath it</a:t>
            </a:r>
            <a:endParaRPr lang="en-US" sz="1250" dirty="0"/>
          </a:p>
          <a:p>
            <a:pPr marL="342900" indent="-342900">
              <a:spcAft>
                <a:spcPts val="300"/>
              </a:spcAft>
              <a:buSzPct val="100000"/>
              <a:buChar char="•"/>
            </a:pPr>
            <a:r>
              <a:rPr lang="en-US" sz="1250" dirty="0">
                <a:solidFill>
                  <a:srgbClr val="374151"/>
                </a:solidFill>
                <a:latin typeface="Calibri" pitchFamily="34" charset="0"/>
                <a:ea typeface="Calibri" pitchFamily="34" charset="-122"/>
                <a:cs typeface="Calibri" pitchFamily="34" charset="-120"/>
              </a:rPr>
              <a:t>Deploy credentials, held as repository secrets</a:t>
            </a:r>
            <a:endParaRPr lang="en-US" sz="1250" dirty="0"/>
          </a:p>
          <a:p>
            <a:pPr marL="342900" indent="-342900">
              <a:spcAft>
                <a:spcPts val="300"/>
              </a:spcAft>
              <a:buSzPct val="100000"/>
              <a:buChar char="•"/>
            </a:pPr>
            <a:r>
              <a:rPr lang="en-US" sz="1250" dirty="0">
                <a:solidFill>
                  <a:srgbClr val="374151"/>
                </a:solidFill>
                <a:latin typeface="Calibri" pitchFamily="34" charset="0"/>
                <a:ea typeface="Calibri" pitchFamily="34" charset="-122"/>
                <a:cs typeface="Calibri" pitchFamily="34" charset="-120"/>
              </a:rPr>
              <a:t>Branch ruleset and code ownership</a:t>
            </a:r>
            <a:endParaRPr lang="en-US" sz="1250" dirty="0"/>
          </a:p>
        </p:txBody>
      </p:sp>
      <p:sp>
        <p:nvSpPr>
          <p:cNvPr id="14" name="Shape 12"/>
          <p:cNvSpPr/>
          <p:nvPr/>
        </p:nvSpPr>
        <p:spPr>
          <a:xfrm>
            <a:off x="566928" y="4544568"/>
            <a:ext cx="11055096" cy="1077468"/>
          </a:xfrm>
          <a:prstGeom prst="rect">
            <a:avLst/>
          </a:prstGeom>
          <a:solidFill>
            <a:srgbClr val="F3F4F6"/>
          </a:solidFill>
          <a:ln w="12700">
            <a:solidFill>
              <a:srgbClr val="E5E7EB"/>
            </a:solidFill>
            <a:prstDash val="solid"/>
          </a:ln>
        </p:spPr>
      </p:sp>
      <p:sp>
        <p:nvSpPr>
          <p:cNvPr id="15" name="Text 13"/>
          <p:cNvSpPr txBox="1"/>
          <p:nvPr/>
        </p:nvSpPr>
        <p:spPr>
          <a:xfrm>
            <a:off x="877824" y="4681728"/>
            <a:ext cx="10433304" cy="292608"/>
          </a:xfrm>
          <a:prstGeom prst="rect">
            <a:avLst/>
          </a:prstGeom>
          <a:noFill/>
          <a:ln/>
        </p:spPr>
        <p:txBody>
          <a:bodyPr wrap="square" lIns="0" tIns="0" rIns="0" bIns="0" rtlCol="0" anchor="t"/>
          <a:lstStyle/>
          <a:p>
            <a:pPr indent="0" marL="0">
              <a:buNone/>
            </a:pPr>
            <a:r>
              <a:rPr lang="en-US" sz="1500" b="1" dirty="0">
                <a:solidFill>
                  <a:srgbClr val="1F2937"/>
                </a:solidFill>
                <a:latin typeface="Cambria" pitchFamily="34" charset="0"/>
                <a:ea typeface="Cambria" pitchFamily="34" charset="-122"/>
                <a:cs typeface="Cambria" pitchFamily="34" charset="-120"/>
              </a:rPr>
              <a:t>The asymmetry that makes it work</a:t>
            </a:r>
            <a:endParaRPr lang="en-US" sz="1500" dirty="0"/>
          </a:p>
        </p:txBody>
      </p:sp>
      <p:sp>
        <p:nvSpPr>
          <p:cNvPr id="16" name="Text 14"/>
          <p:cNvSpPr txBox="1"/>
          <p:nvPr/>
        </p:nvSpPr>
        <p:spPr>
          <a:xfrm>
            <a:off x="877824" y="5056632"/>
            <a:ext cx="10433304" cy="510540"/>
          </a:xfrm>
          <a:prstGeom prst="rect">
            <a:avLst/>
          </a:prstGeom>
          <a:noFill/>
          <a:ln/>
        </p:spPr>
        <p:txBody>
          <a:bodyPr wrap="square" lIns="0" tIns="0" rIns="0" bIns="0" rtlCol="0" anchor="t"/>
          <a:lstStyle/>
          <a:p>
            <a:pPr indent="0" marL="0">
              <a:lnSpc>
                <a:spcPts val="1650"/>
              </a:lnSpc>
              <a:buNone/>
            </a:pPr>
            <a:r>
              <a:rPr lang="en-US" sz="1250" dirty="0">
                <a:solidFill>
                  <a:srgbClr val="374151"/>
                </a:solidFill>
                <a:latin typeface="Calibri" pitchFamily="34" charset="0"/>
                <a:ea typeface="Calibri" pitchFamily="34" charset="-122"/>
                <a:cs typeface="Calibri" pitchFamily="34" charset="-120"/>
              </a:rPr>
              <a:t>The agent writes to the canvas and is deployed by the control plane. It can see its own output and cannot see the machinery that publishes it. </a:t>
            </a:r>
            <a:pPr indent="0" marL="0">
              <a:lnSpc>
                <a:spcPts val="1650"/>
              </a:lnSpc>
              <a:buNone/>
            </a:pPr>
            <a:r>
              <a:rPr lang="en-US" sz="1250" b="1" dirty="0">
                <a:solidFill>
                  <a:srgbClr val="1F2937"/>
                </a:solidFill>
                <a:latin typeface="Calibri" pitchFamily="34" charset="0"/>
                <a:ea typeface="Calibri" pitchFamily="34" charset="-122"/>
                <a:cs typeface="Calibri" pitchFamily="34" charset="-120"/>
              </a:rPr>
              <a:t>Neither repository alone contains enough to compromise the system</a:t>
            </a:r>
            <a:pPr indent="0" marL="0">
              <a:lnSpc>
                <a:spcPts val="1650"/>
              </a:lnSpc>
              <a:buNone/>
            </a:pPr>
            <a:r>
              <a:rPr lang="en-US" sz="1250" dirty="0">
                <a:solidFill>
                  <a:srgbClr val="374151"/>
                </a:solidFill>
                <a:latin typeface="Calibri" pitchFamily="34" charset="0"/>
                <a:ea typeface="Calibri" pitchFamily="34" charset="-122"/>
                <a:cs typeface="Calibri" pitchFamily="34" charset="-120"/>
              </a:rPr>
              <a:t> — which is the property you are actually buying.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47472"/>
            <a:ext cx="11055096" cy="566928"/>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Allocating authority across the two repositories</a:t>
            </a:r>
            <a:endParaRPr lang="en-US" sz="3000" dirty="0"/>
          </a:p>
        </p:txBody>
      </p:sp>
      <p:sp>
        <p:nvSpPr>
          <p:cNvPr id="3" name="Text 1"/>
          <p:cNvSpPr txBox="1"/>
          <p:nvPr/>
        </p:nvSpPr>
        <p:spPr>
          <a:xfrm>
            <a:off x="566928" y="914400"/>
            <a:ext cx="11055096" cy="329184"/>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For each capability: who holds it, and what stops the agent from acquiring it.</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5096" cy="914400"/>
        </p:xfrm>
        <a:graphic>
          <a:graphicData uri="http://schemas.openxmlformats.org/drawingml/2006/table">
            <a:tbl>
              <a:tblPr/>
              <a:tblGrid>
                <a:gridCol w="2331720"/>
                <a:gridCol w="1691640"/>
                <a:gridCol w="3611880"/>
                <a:gridCol w="3419856"/>
              </a:tblGrid>
              <a:tr h="384048">
                <a:tc>
                  <a:txBody>
                    <a:bodyPr/>
                    <a:lstStyle/>
                    <a:p>
                      <a:pPr indent="0" marL="0">
                        <a:buNone/>
                      </a:pPr>
                      <a:r>
                        <a:rPr lang="en-US" sz="1150" b="1" spc="120" kern="0" dirty="0">
                          <a:solidFill>
                            <a:srgbClr val="B45309"/>
                          </a:solidFill>
                          <a:latin typeface="Calibri" pitchFamily="34" charset="0"/>
                          <a:ea typeface="Calibri" pitchFamily="34" charset="-122"/>
                          <a:cs typeface="Calibri" pitchFamily="34" charset="-120"/>
                        </a:rPr>
                        <a:t>CAPABILITY</a:t>
                      </a:r>
                      <a:endParaRPr lang="en-US" sz="115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b="1" spc="120" kern="0" dirty="0">
                          <a:solidFill>
                            <a:srgbClr val="B45309"/>
                          </a:solidFill>
                          <a:latin typeface="Calibri" pitchFamily="34" charset="0"/>
                          <a:ea typeface="Calibri" pitchFamily="34" charset="-122"/>
                          <a:cs typeface="Calibri" pitchFamily="34" charset="-120"/>
                        </a:rPr>
                        <a:t>HELD BY</a:t>
                      </a:r>
                      <a:endParaRPr lang="en-US" sz="115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b="1" spc="120" kern="0" dirty="0">
                          <a:solidFill>
                            <a:srgbClr val="B45309"/>
                          </a:solidFill>
                          <a:latin typeface="Calibri" pitchFamily="34" charset="0"/>
                          <a:ea typeface="Calibri" pitchFamily="34" charset="-122"/>
                          <a:cs typeface="Calibri" pitchFamily="34" charset="-120"/>
                        </a:rPr>
                        <a:t>MECHANISM</a:t>
                      </a:r>
                      <a:endParaRPr lang="en-US" sz="115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b="1" spc="120" kern="0" dirty="0">
                          <a:solidFill>
                            <a:srgbClr val="B45309"/>
                          </a:solidFill>
                          <a:latin typeface="Calibri" pitchFamily="34" charset="0"/>
                          <a:ea typeface="Calibri" pitchFamily="34" charset="-122"/>
                          <a:cs typeface="Calibri" pitchFamily="34" charset="-120"/>
                        </a:rPr>
                        <a:t>WHAT THE AGENT SEES</a:t>
                      </a:r>
                      <a:endParaRPr lang="en-US" sz="115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Write site content</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Agent</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Bind-mounted working directory, read-write</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A normal folder of files</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Write CI configuration</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Human</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Same directory mounted read-only beneath it</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Writes fail at the filesystem layer</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Merge to the deployed branch</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Human</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Branch ruleset; pull requests required</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Push to branch succeeds, merge is refused</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Authenticate to the forge</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Proxy</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Credential attached in transit by reverse proxy</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Git and CLI simply work; no token present</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Deploy to the edge</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CI runner</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Scoped identity in forge-held secrets</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No cloud credential exists in its environment</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Define infrastructure</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Human</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Lives in the control-plane repository</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Not visible from the canvas at all</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Destroy or reset state</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Host</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Privileged script outside the agent sandbox</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It can request a reset; it cannot perform one</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Choose its own model</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Host</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Gateway alias rotated by the reset process</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Calls an alias; never learns the target</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5029200"/>
            <a:ext cx="11055096" cy="1287018"/>
          </a:xfrm>
          <a:prstGeom prst="rect">
            <a:avLst/>
          </a:prstGeom>
          <a:solidFill>
            <a:srgbClr val="F3F4F6"/>
          </a:solidFill>
          <a:ln w="12700">
            <a:solidFill>
              <a:srgbClr val="E5E7EB"/>
            </a:solidFill>
            <a:prstDash val="solid"/>
          </a:ln>
        </p:spPr>
      </p:sp>
      <p:sp>
        <p:nvSpPr>
          <p:cNvPr id="6" name="Text 3"/>
          <p:cNvSpPr txBox="1"/>
          <p:nvPr/>
        </p:nvSpPr>
        <p:spPr>
          <a:xfrm>
            <a:off x="877824" y="5166360"/>
            <a:ext cx="10433304" cy="292608"/>
          </a:xfrm>
          <a:prstGeom prst="rect">
            <a:avLst/>
          </a:prstGeom>
          <a:noFill/>
          <a:ln/>
        </p:spPr>
        <p:txBody>
          <a:bodyPr wrap="square" lIns="0" tIns="0" rIns="0" bIns="0" rtlCol="0" anchor="t"/>
          <a:lstStyle/>
          <a:p>
            <a:pPr indent="0" marL="0">
              <a:buNone/>
            </a:pPr>
            <a:r>
              <a:rPr lang="en-US" sz="1500" b="1" dirty="0">
                <a:solidFill>
                  <a:srgbClr val="1F2937"/>
                </a:solidFill>
                <a:latin typeface="Cambria" pitchFamily="34" charset="0"/>
                <a:ea typeface="Cambria" pitchFamily="34" charset="-122"/>
                <a:cs typeface="Cambria" pitchFamily="34" charset="-120"/>
              </a:rPr>
              <a:t>Read this as a checklist, not a description</a:t>
            </a:r>
            <a:endParaRPr lang="en-US" sz="1500" dirty="0"/>
          </a:p>
        </p:txBody>
      </p:sp>
      <p:sp>
        <p:nvSpPr>
          <p:cNvPr id="7" name="Text 4"/>
          <p:cNvSpPr txBox="1"/>
          <p:nvPr/>
        </p:nvSpPr>
        <p:spPr>
          <a:xfrm>
            <a:off x="877824" y="5541264"/>
            <a:ext cx="10433304" cy="720090"/>
          </a:xfrm>
          <a:prstGeom prst="rect">
            <a:avLst/>
          </a:prstGeom>
          <a:noFill/>
          <a:ln/>
        </p:spPr>
        <p:txBody>
          <a:bodyPr wrap="square" lIns="0" tIns="0" rIns="0" bIns="0" rtlCol="0" anchor="t"/>
          <a:lstStyle/>
          <a:p>
            <a:pPr indent="0" marL="0">
              <a:lnSpc>
                <a:spcPts val="1650"/>
              </a:lnSpc>
              <a:buNone/>
            </a:pPr>
            <a:r>
              <a:rPr lang="en-US" sz="1250" dirty="0">
                <a:solidFill>
                  <a:srgbClr val="374151"/>
                </a:solidFill>
                <a:latin typeface="Calibri" pitchFamily="34" charset="0"/>
                <a:ea typeface="Calibri" pitchFamily="34" charset="-122"/>
                <a:cs typeface="Calibri" pitchFamily="34" charset="-120"/>
              </a:rPr>
              <a:t>Every row is a capability that a naive implementation would have granted by default. The exercise of writing this table — capability, holder, mechanism, and what the agent perceives — is most of the security design work. </a:t>
            </a:r>
            <a:pPr indent="0" marL="0">
              <a:lnSpc>
                <a:spcPts val="1650"/>
              </a:lnSpc>
              <a:buNone/>
            </a:pPr>
            <a:r>
              <a:rPr lang="en-US" sz="1250" b="1" dirty="0">
                <a:solidFill>
                  <a:srgbClr val="1F2937"/>
                </a:solidFill>
                <a:latin typeface="Calibri" pitchFamily="34" charset="0"/>
                <a:ea typeface="Calibri" pitchFamily="34" charset="-122"/>
                <a:cs typeface="Calibri" pitchFamily="34" charset="-120"/>
              </a:rPr>
              <a:t>The fourth column is the one teams skip, and it is where prompt-injection resistance actually comes from.</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66928" y="2331720"/>
            <a:ext cx="7315200" cy="320040"/>
          </a:xfrm>
          <a:prstGeom prst="rect">
            <a:avLst/>
          </a:prstGeom>
          <a:noFill/>
          <a:ln/>
        </p:spPr>
        <p:txBody>
          <a:bodyPr wrap="square" lIns="0" tIns="0" rIns="0" bIns="0" rtlCol="0" anchor="ctr"/>
          <a:lstStyle/>
          <a:p>
            <a:pPr indent="0" marL="0">
              <a:buNone/>
            </a:pPr>
            <a:r>
              <a:rPr lang="en-US" sz="1400" b="1" spc="300" kern="0" dirty="0">
                <a:solidFill>
                  <a:srgbClr val="B45309"/>
                </a:solidFill>
                <a:latin typeface="Calibri" pitchFamily="34" charset="0"/>
                <a:ea typeface="Calibri" pitchFamily="34" charset="-122"/>
                <a:cs typeface="Calibri" pitchFamily="34" charset="-120"/>
              </a:rPr>
              <a:t>PART TWO</a:t>
            </a:r>
            <a:endParaRPr lang="en-US" sz="1400" dirty="0"/>
          </a:p>
        </p:txBody>
      </p:sp>
      <p:sp>
        <p:nvSpPr>
          <p:cNvPr id="3" name="Text 1"/>
          <p:cNvSpPr txBox="1"/>
          <p:nvPr/>
        </p:nvSpPr>
        <p:spPr>
          <a:xfrm>
            <a:off x="566928" y="278892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Credential custody</a:t>
            </a:r>
            <a:endParaRPr lang="en-US" sz="4000" dirty="0"/>
          </a:p>
        </p:txBody>
      </p:sp>
      <p:sp>
        <p:nvSpPr>
          <p:cNvPr id="4" name="Text 2"/>
          <p:cNvSpPr txBox="1"/>
          <p:nvPr/>
        </p:nvSpPr>
        <p:spPr>
          <a:xfrm>
            <a:off x="566928" y="3794760"/>
            <a:ext cx="9601200" cy="548640"/>
          </a:xfrm>
          <a:prstGeom prst="rect">
            <a:avLst/>
          </a:prstGeom>
          <a:noFill/>
          <a:ln/>
        </p:spPr>
        <p:txBody>
          <a:bodyPr wrap="square" lIns="0" tIns="0" rIns="0" bIns="0" rtlCol="0" anchor="ctr"/>
          <a:lstStyle/>
          <a:p>
            <a:pPr indent="0" marL="0">
              <a:buNone/>
            </a:pPr>
            <a:r>
              <a:rPr lang="en-US" sz="1600" dirty="0">
                <a:solidFill>
                  <a:srgbClr val="93C5FD"/>
                </a:solidFill>
                <a:latin typeface="Calibri" pitchFamily="34" charset="0"/>
                <a:ea typeface="Calibri" pitchFamily="34" charset="-122"/>
                <a:cs typeface="Calibri" pitchFamily="34" charset="-120"/>
              </a:rPr>
              <a:t>Removing the asset rather than protecting it.</a:t>
            </a:r>
            <a:endParaRPr lang="en-US" sz="1600" dirty="0"/>
          </a:p>
        </p:txBody>
      </p:sp>
      <p:sp>
        <p:nvSpPr>
          <p:cNvPr id="5" name="Shape 3"/>
          <p:cNvSpPr/>
          <p:nvPr/>
        </p:nvSpPr>
        <p:spPr>
          <a:xfrm>
            <a:off x="566928" y="4709160"/>
            <a:ext cx="137160" cy="137160"/>
          </a:xfrm>
          <a:prstGeom prst="rect">
            <a:avLst/>
          </a:prstGeom>
          <a:solidFill>
            <a:srgbClr val="B45309"/>
          </a:solidFill>
          <a:ln w="12700">
            <a:solidFill>
              <a:srgbClr val="B45309"/>
            </a:solidFill>
            <a:prstDash val="solid"/>
          </a:ln>
        </p:spPr>
      </p:sp>
      <p:sp>
        <p:nvSpPr>
          <p:cNvPr id="6" name="Shape 4"/>
          <p:cNvSpPr/>
          <p:nvPr/>
        </p:nvSpPr>
        <p:spPr>
          <a:xfrm>
            <a:off x="822960" y="4709160"/>
            <a:ext cx="137160" cy="137160"/>
          </a:xfrm>
          <a:prstGeom prst="rect">
            <a:avLst/>
          </a:prstGeom>
          <a:solidFill>
            <a:srgbClr val="0E7490"/>
          </a:solidFill>
          <a:ln w="12700">
            <a:solidFill>
              <a:srgbClr val="0E7490"/>
            </a:solidFill>
            <a:prstDash val="solid"/>
          </a:ln>
        </p:spPr>
      </p:sp>
      <p:sp>
        <p:nvSpPr>
          <p:cNvPr id="7" name="Shape 5"/>
          <p:cNvSpPr/>
          <p:nvPr/>
        </p:nvSpPr>
        <p:spPr>
          <a:xfrm>
            <a:off x="1078992" y="4709160"/>
            <a:ext cx="137160" cy="137160"/>
          </a:xfrm>
          <a:prstGeom prst="rect">
            <a:avLst/>
          </a:prstGeom>
          <a:solidFill>
            <a:srgbClr val="6D28D9"/>
          </a:solidFill>
          <a:ln w="12700">
            <a:solidFill>
              <a:srgbClr val="6D28D9"/>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47472"/>
            <a:ext cx="11055096" cy="566928"/>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Injecting the credential in transit</a:t>
            </a:r>
            <a:endParaRPr lang="en-US" sz="3000" dirty="0"/>
          </a:p>
        </p:txBody>
      </p:sp>
      <p:sp>
        <p:nvSpPr>
          <p:cNvPr id="3" name="Text 1"/>
          <p:cNvSpPr txBox="1"/>
          <p:nvPr/>
        </p:nvSpPr>
        <p:spPr>
          <a:xfrm>
            <a:off x="566928" y="914400"/>
            <a:ext cx="11055096" cy="329184"/>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Two configuration lines and a reverse proxy remove the secret from the agent entirely.</a:t>
            </a:r>
            <a:endParaRPr lang="en-US" sz="1400" dirty="0"/>
          </a:p>
        </p:txBody>
      </p:sp>
      <p:sp>
        <p:nvSpPr>
          <p:cNvPr id="4" name="Shape 2"/>
          <p:cNvSpPr/>
          <p:nvPr/>
        </p:nvSpPr>
        <p:spPr>
          <a:xfrm>
            <a:off x="566928" y="1481328"/>
            <a:ext cx="3246120" cy="2103120"/>
          </a:xfrm>
          <a:prstGeom prst="rect">
            <a:avLst/>
          </a:prstGeom>
          <a:solidFill>
            <a:srgbClr val="FFFFFF"/>
          </a:solidFill>
          <a:ln w="12700">
            <a:solidFill>
              <a:srgbClr val="E5E7EB"/>
            </a:solidFill>
            <a:prstDash val="solid"/>
          </a:ln>
        </p:spPr>
      </p:sp>
      <p:sp>
        <p:nvSpPr>
          <p:cNvPr id="5" name="Shape 3"/>
          <p:cNvSpPr/>
          <p:nvPr/>
        </p:nvSpPr>
        <p:spPr>
          <a:xfrm>
            <a:off x="841248" y="1773936"/>
            <a:ext cx="137160" cy="137160"/>
          </a:xfrm>
          <a:prstGeom prst="rect">
            <a:avLst/>
          </a:prstGeom>
          <a:solidFill>
            <a:srgbClr val="6D28D9"/>
          </a:solidFill>
          <a:ln w="12700">
            <a:solidFill>
              <a:srgbClr val="6D28D9"/>
            </a:solidFill>
            <a:prstDash val="solid"/>
          </a:ln>
        </p:spPr>
      </p:sp>
      <p:sp>
        <p:nvSpPr>
          <p:cNvPr id="6" name="Text 4"/>
          <p:cNvSpPr txBox="1"/>
          <p:nvPr/>
        </p:nvSpPr>
        <p:spPr>
          <a:xfrm>
            <a:off x="1097280" y="1664208"/>
            <a:ext cx="2441448" cy="347472"/>
          </a:xfrm>
          <a:prstGeom prst="rect">
            <a:avLst/>
          </a:prstGeom>
          <a:noFill/>
          <a:ln/>
        </p:spPr>
        <p:txBody>
          <a:bodyPr wrap="square" lIns="0" tIns="0" rIns="0" bIns="0" rtlCol="0" anchor="ctr"/>
          <a:lstStyle/>
          <a:p>
            <a:pPr indent="0" marL="0">
              <a:buNone/>
            </a:pPr>
            <a:r>
              <a:rPr lang="en-US" sz="1650" b="1" dirty="0">
                <a:solidFill>
                  <a:srgbClr val="6D28D9"/>
                </a:solidFill>
                <a:latin typeface="Cambria" pitchFamily="34" charset="0"/>
                <a:ea typeface="Cambria" pitchFamily="34" charset="-122"/>
                <a:cs typeface="Cambria" pitchFamily="34" charset="-120"/>
              </a:rPr>
              <a:t>1 · Rewrite</a:t>
            </a:r>
            <a:endParaRPr lang="en-US" sz="1650" dirty="0"/>
          </a:p>
        </p:txBody>
      </p:sp>
      <p:sp>
        <p:nvSpPr>
          <p:cNvPr id="7" name="Text 5"/>
          <p:cNvSpPr txBox="1"/>
          <p:nvPr/>
        </p:nvSpPr>
        <p:spPr>
          <a:xfrm>
            <a:off x="841248" y="2139696"/>
            <a:ext cx="2697480" cy="914400"/>
          </a:xfrm>
          <a:prstGeom prst="rect">
            <a:avLst/>
          </a:prstGeom>
          <a:noFill/>
          <a:ln/>
        </p:spPr>
        <p:txBody>
          <a:bodyPr wrap="square" lIns="0" tIns="0" rIns="0" bIns="0" rtlCol="0" anchor="t"/>
          <a:lstStyle/>
          <a:p>
            <a:pPr indent="0" marL="0">
              <a:lnSpc>
                <a:spcPts val="1600"/>
              </a:lnSpc>
              <a:buNone/>
            </a:pPr>
            <a:r>
              <a:rPr lang="en-US" sz="1200" dirty="0">
                <a:solidFill>
                  <a:srgbClr val="374151"/>
                </a:solidFill>
                <a:latin typeface="Calibri" pitchFamily="34" charset="0"/>
                <a:ea typeface="Calibri" pitchFamily="34" charset="-122"/>
                <a:cs typeface="Calibri" pitchFamily="34" charset="-120"/>
              </a:rPr>
              <a:t>At image build time, the version-control client is configured to substitute an internal hostname for the public one, and to use a helper for credentials.</a:t>
            </a:r>
            <a:endParaRPr lang="en-US" sz="1200" dirty="0"/>
          </a:p>
        </p:txBody>
      </p:sp>
      <p:sp>
        <p:nvSpPr>
          <p:cNvPr id="8" name="Text 6"/>
          <p:cNvSpPr txBox="1"/>
          <p:nvPr/>
        </p:nvSpPr>
        <p:spPr>
          <a:xfrm>
            <a:off x="841248" y="3035808"/>
            <a:ext cx="2697480" cy="475488"/>
          </a:xfrm>
          <a:prstGeom prst="rect">
            <a:avLst/>
          </a:prstGeom>
          <a:noFill/>
          <a:ln/>
        </p:spPr>
        <p:txBody>
          <a:bodyPr wrap="square" lIns="0" tIns="0" rIns="0" bIns="0" rtlCol="0" anchor="ctr"/>
          <a:lstStyle/>
          <a:p>
            <a:pPr indent="0" marL="0">
              <a:lnSpc>
                <a:spcPts val="1500"/>
              </a:lnSpc>
              <a:buNone/>
            </a:pPr>
            <a:r>
              <a:rPr lang="en-US" sz="1150" i="1" dirty="0">
                <a:solidFill>
                  <a:srgbClr val="6B7280"/>
                </a:solidFill>
                <a:latin typeface="Calibri" pitchFamily="34" charset="0"/>
                <a:ea typeface="Calibri" pitchFamily="34" charset="-122"/>
                <a:cs typeface="Calibri" pitchFamily="34" charset="-120"/>
              </a:rPr>
              <a:t>Baked into the image, not the runtime config — so it cannot be overridden by anything the agent edits.</a:t>
            </a:r>
            <a:endParaRPr lang="en-US" sz="1150" dirty="0"/>
          </a:p>
        </p:txBody>
      </p:sp>
      <p:sp>
        <p:nvSpPr>
          <p:cNvPr id="9" name="Text 7"/>
          <p:cNvSpPr txBox="1"/>
          <p:nvPr/>
        </p:nvSpPr>
        <p:spPr>
          <a:xfrm>
            <a:off x="3895344" y="2441448"/>
            <a:ext cx="402336" cy="457200"/>
          </a:xfrm>
          <a:prstGeom prst="rect">
            <a:avLst/>
          </a:prstGeom>
          <a:noFill/>
          <a:ln/>
        </p:spPr>
        <p:txBody>
          <a:bodyPr wrap="square" lIns="0" tIns="0" rIns="0" bIns="0" rtlCol="0" anchor="ctr"/>
          <a:lstStyle/>
          <a:p>
            <a:pPr algn="ctr" indent="0" marL="0">
              <a:buNone/>
            </a:pPr>
            <a:r>
              <a:rPr lang="en-US" sz="2000" dirty="0">
                <a:solidFill>
                  <a:srgbClr val="D1D5DB"/>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4379976" y="1481328"/>
            <a:ext cx="3246120" cy="2103120"/>
          </a:xfrm>
          <a:prstGeom prst="rect">
            <a:avLst/>
          </a:prstGeom>
          <a:solidFill>
            <a:srgbClr val="FFFFFF"/>
          </a:solidFill>
          <a:ln w="12700">
            <a:solidFill>
              <a:srgbClr val="E5E7EB"/>
            </a:solidFill>
            <a:prstDash val="solid"/>
          </a:ln>
        </p:spPr>
      </p:sp>
      <p:sp>
        <p:nvSpPr>
          <p:cNvPr id="11" name="Shape 9"/>
          <p:cNvSpPr/>
          <p:nvPr/>
        </p:nvSpPr>
        <p:spPr>
          <a:xfrm>
            <a:off x="4654296" y="1773936"/>
            <a:ext cx="137160" cy="137160"/>
          </a:xfrm>
          <a:prstGeom prst="rect">
            <a:avLst/>
          </a:prstGeom>
          <a:solidFill>
            <a:srgbClr val="0E7490"/>
          </a:solidFill>
          <a:ln w="12700">
            <a:solidFill>
              <a:srgbClr val="0E7490"/>
            </a:solidFill>
            <a:prstDash val="solid"/>
          </a:ln>
        </p:spPr>
      </p:sp>
      <p:sp>
        <p:nvSpPr>
          <p:cNvPr id="12" name="Text 10"/>
          <p:cNvSpPr txBox="1"/>
          <p:nvPr/>
        </p:nvSpPr>
        <p:spPr>
          <a:xfrm>
            <a:off x="4910328" y="1664208"/>
            <a:ext cx="2441448" cy="347472"/>
          </a:xfrm>
          <a:prstGeom prst="rect">
            <a:avLst/>
          </a:prstGeom>
          <a:noFill/>
          <a:ln/>
        </p:spPr>
        <p:txBody>
          <a:bodyPr wrap="square" lIns="0" tIns="0" rIns="0" bIns="0" rtlCol="0" anchor="ctr"/>
          <a:lstStyle/>
          <a:p>
            <a:pPr indent="0" marL="0">
              <a:buNone/>
            </a:pPr>
            <a:r>
              <a:rPr lang="en-US" sz="1650" b="1" dirty="0">
                <a:solidFill>
                  <a:srgbClr val="0E7490"/>
                </a:solidFill>
                <a:latin typeface="Cambria" pitchFamily="34" charset="0"/>
                <a:ea typeface="Cambria" pitchFamily="34" charset="-122"/>
                <a:cs typeface="Cambria" pitchFamily="34" charset="-120"/>
              </a:rPr>
              <a:t>2 · Inject</a:t>
            </a:r>
            <a:endParaRPr lang="en-US" sz="1650" dirty="0"/>
          </a:p>
        </p:txBody>
      </p:sp>
      <p:sp>
        <p:nvSpPr>
          <p:cNvPr id="13" name="Text 11"/>
          <p:cNvSpPr txBox="1"/>
          <p:nvPr/>
        </p:nvSpPr>
        <p:spPr>
          <a:xfrm>
            <a:off x="4654296" y="2139696"/>
            <a:ext cx="2697480" cy="914400"/>
          </a:xfrm>
          <a:prstGeom prst="rect">
            <a:avLst/>
          </a:prstGeom>
          <a:noFill/>
          <a:ln/>
        </p:spPr>
        <p:txBody>
          <a:bodyPr wrap="square" lIns="0" tIns="0" rIns="0" bIns="0" rtlCol="0" anchor="t"/>
          <a:lstStyle/>
          <a:p>
            <a:pPr indent="0" marL="0">
              <a:lnSpc>
                <a:spcPts val="1600"/>
              </a:lnSpc>
              <a:buNone/>
            </a:pPr>
            <a:r>
              <a:rPr lang="en-US" sz="1200" dirty="0">
                <a:solidFill>
                  <a:srgbClr val="374151"/>
                </a:solidFill>
                <a:latin typeface="Calibri" pitchFamily="34" charset="0"/>
                <a:ea typeface="Calibri" pitchFamily="34" charset="-122"/>
                <a:cs typeface="Calibri" pitchFamily="34" charset="-120"/>
              </a:rPr>
              <a:t>The internal host is a reverse proxy holding the credential in its own environment. It attaches the authorization header and forwards upstream.</a:t>
            </a:r>
            <a:endParaRPr lang="en-US" sz="1200" dirty="0"/>
          </a:p>
        </p:txBody>
      </p:sp>
      <p:sp>
        <p:nvSpPr>
          <p:cNvPr id="14" name="Text 12"/>
          <p:cNvSpPr txBox="1"/>
          <p:nvPr/>
        </p:nvSpPr>
        <p:spPr>
          <a:xfrm>
            <a:off x="4654296" y="3035808"/>
            <a:ext cx="2697480" cy="475488"/>
          </a:xfrm>
          <a:prstGeom prst="rect">
            <a:avLst/>
          </a:prstGeom>
          <a:noFill/>
          <a:ln/>
        </p:spPr>
        <p:txBody>
          <a:bodyPr wrap="square" lIns="0" tIns="0" rIns="0" bIns="0" rtlCol="0" anchor="ctr"/>
          <a:lstStyle/>
          <a:p>
            <a:pPr indent="0" marL="0">
              <a:lnSpc>
                <a:spcPts val="1500"/>
              </a:lnSpc>
              <a:buNone/>
            </a:pPr>
            <a:r>
              <a:rPr lang="en-US" sz="1150" i="1" dirty="0">
                <a:solidFill>
                  <a:srgbClr val="6B7280"/>
                </a:solidFill>
                <a:latin typeface="Calibri" pitchFamily="34" charset="0"/>
                <a:ea typeface="Calibri" pitchFamily="34" charset="-122"/>
                <a:cs typeface="Calibri" pitchFamily="34" charset="-120"/>
              </a:rPr>
              <a:t>The proxy is the only process on the appliance that can read the secret.</a:t>
            </a:r>
            <a:endParaRPr lang="en-US" sz="1150" dirty="0"/>
          </a:p>
        </p:txBody>
      </p:sp>
      <p:sp>
        <p:nvSpPr>
          <p:cNvPr id="15" name="Text 13"/>
          <p:cNvSpPr txBox="1"/>
          <p:nvPr/>
        </p:nvSpPr>
        <p:spPr>
          <a:xfrm>
            <a:off x="7708392" y="2441448"/>
            <a:ext cx="402336" cy="457200"/>
          </a:xfrm>
          <a:prstGeom prst="rect">
            <a:avLst/>
          </a:prstGeom>
          <a:noFill/>
          <a:ln/>
        </p:spPr>
        <p:txBody>
          <a:bodyPr wrap="square" lIns="0" tIns="0" rIns="0" bIns="0" rtlCol="0" anchor="ctr"/>
          <a:lstStyle/>
          <a:p>
            <a:pPr algn="ctr" indent="0" marL="0">
              <a:buNone/>
            </a:pPr>
            <a:r>
              <a:rPr lang="en-US" sz="2000" dirty="0">
                <a:solidFill>
                  <a:srgbClr val="D1D5DB"/>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8193024" y="1481328"/>
            <a:ext cx="3246120" cy="2103120"/>
          </a:xfrm>
          <a:prstGeom prst="rect">
            <a:avLst/>
          </a:prstGeom>
          <a:solidFill>
            <a:srgbClr val="FFFFFF"/>
          </a:solidFill>
          <a:ln w="12700">
            <a:solidFill>
              <a:srgbClr val="E5E7EB"/>
            </a:solidFill>
            <a:prstDash val="solid"/>
          </a:ln>
        </p:spPr>
      </p:sp>
      <p:sp>
        <p:nvSpPr>
          <p:cNvPr id="17" name="Shape 15"/>
          <p:cNvSpPr/>
          <p:nvPr/>
        </p:nvSpPr>
        <p:spPr>
          <a:xfrm>
            <a:off x="8467344" y="1773936"/>
            <a:ext cx="137160" cy="137160"/>
          </a:xfrm>
          <a:prstGeom prst="rect">
            <a:avLst/>
          </a:prstGeom>
          <a:solidFill>
            <a:srgbClr val="B45309"/>
          </a:solidFill>
          <a:ln w="12700">
            <a:solidFill>
              <a:srgbClr val="B45309"/>
            </a:solidFill>
            <a:prstDash val="solid"/>
          </a:ln>
        </p:spPr>
      </p:sp>
      <p:sp>
        <p:nvSpPr>
          <p:cNvPr id="18" name="Text 16"/>
          <p:cNvSpPr txBox="1"/>
          <p:nvPr/>
        </p:nvSpPr>
        <p:spPr>
          <a:xfrm>
            <a:off x="8723376" y="1664208"/>
            <a:ext cx="2441448" cy="347472"/>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3 · Assert</a:t>
            </a:r>
            <a:endParaRPr lang="en-US" sz="1650" dirty="0"/>
          </a:p>
        </p:txBody>
      </p:sp>
      <p:sp>
        <p:nvSpPr>
          <p:cNvPr id="19" name="Text 17"/>
          <p:cNvSpPr txBox="1"/>
          <p:nvPr/>
        </p:nvSpPr>
        <p:spPr>
          <a:xfrm>
            <a:off x="8467344" y="2139696"/>
            <a:ext cx="2697480" cy="914400"/>
          </a:xfrm>
          <a:prstGeom prst="rect">
            <a:avLst/>
          </a:prstGeom>
          <a:noFill/>
          <a:ln/>
        </p:spPr>
        <p:txBody>
          <a:bodyPr wrap="square" lIns="0" tIns="0" rIns="0" bIns="0" rtlCol="0" anchor="t"/>
          <a:lstStyle/>
          <a:p>
            <a:pPr indent="0" marL="0">
              <a:lnSpc>
                <a:spcPts val="1600"/>
              </a:lnSpc>
              <a:buNone/>
            </a:pPr>
            <a:r>
              <a:rPr lang="en-US" sz="1200" dirty="0">
                <a:solidFill>
                  <a:srgbClr val="374151"/>
                </a:solidFill>
                <a:latin typeface="Calibri" pitchFamily="34" charset="0"/>
                <a:ea typeface="Calibri" pitchFamily="34" charset="-122"/>
                <a:cs typeface="Calibri" pitchFamily="34" charset="-120"/>
              </a:rPr>
              <a:t>A verification suite dumps the container environment and fails the build if anything resembling a token appears, then performs a live commit and push.</a:t>
            </a:r>
            <a:endParaRPr lang="en-US" sz="1200" dirty="0"/>
          </a:p>
        </p:txBody>
      </p:sp>
      <p:sp>
        <p:nvSpPr>
          <p:cNvPr id="20" name="Text 18"/>
          <p:cNvSpPr txBox="1"/>
          <p:nvPr/>
        </p:nvSpPr>
        <p:spPr>
          <a:xfrm>
            <a:off x="8467344" y="3035808"/>
            <a:ext cx="2697480" cy="475488"/>
          </a:xfrm>
          <a:prstGeom prst="rect">
            <a:avLst/>
          </a:prstGeom>
          <a:noFill/>
          <a:ln/>
        </p:spPr>
        <p:txBody>
          <a:bodyPr wrap="square" lIns="0" tIns="0" rIns="0" bIns="0" rtlCol="0" anchor="ctr"/>
          <a:lstStyle/>
          <a:p>
            <a:pPr indent="0" marL="0">
              <a:lnSpc>
                <a:spcPts val="1500"/>
              </a:lnSpc>
              <a:buNone/>
            </a:pPr>
            <a:r>
              <a:rPr lang="en-US" sz="1150" i="1" dirty="0">
                <a:solidFill>
                  <a:srgbClr val="6B7280"/>
                </a:solidFill>
                <a:latin typeface="Calibri" pitchFamily="34" charset="0"/>
                <a:ea typeface="Calibri" pitchFamily="34" charset="-122"/>
                <a:cs typeface="Calibri" pitchFamily="34" charset="-120"/>
              </a:rPr>
              <a:t>The property is regression-tested, not documented.</a:t>
            </a:r>
            <a:endParaRPr lang="en-US" sz="1150" dirty="0"/>
          </a:p>
        </p:txBody>
      </p:sp>
      <p:sp>
        <p:nvSpPr>
          <p:cNvPr id="21" name="Shape 19"/>
          <p:cNvSpPr/>
          <p:nvPr/>
        </p:nvSpPr>
        <p:spPr>
          <a:xfrm>
            <a:off x="566928" y="3858768"/>
            <a:ext cx="11055096" cy="1287018"/>
          </a:xfrm>
          <a:prstGeom prst="rect">
            <a:avLst/>
          </a:prstGeom>
          <a:solidFill>
            <a:srgbClr val="F3F4F6"/>
          </a:solidFill>
          <a:ln w="12700">
            <a:solidFill>
              <a:srgbClr val="E5E7EB"/>
            </a:solidFill>
            <a:prstDash val="solid"/>
          </a:ln>
        </p:spPr>
      </p:sp>
      <p:sp>
        <p:nvSpPr>
          <p:cNvPr id="22" name="Text 20"/>
          <p:cNvSpPr txBox="1"/>
          <p:nvPr/>
        </p:nvSpPr>
        <p:spPr>
          <a:xfrm>
            <a:off x="877824" y="3995928"/>
            <a:ext cx="10433304" cy="292608"/>
          </a:xfrm>
          <a:prstGeom prst="rect">
            <a:avLst/>
          </a:prstGeom>
          <a:noFill/>
          <a:ln/>
        </p:spPr>
        <p:txBody>
          <a:bodyPr wrap="square" lIns="0" tIns="0" rIns="0" bIns="0" rtlCol="0" anchor="t"/>
          <a:lstStyle/>
          <a:p>
            <a:pPr indent="0" marL="0">
              <a:buNone/>
            </a:pPr>
            <a:r>
              <a:rPr lang="en-US" sz="1500" b="1" dirty="0">
                <a:solidFill>
                  <a:srgbClr val="1F2937"/>
                </a:solidFill>
                <a:latin typeface="Cambria" pitchFamily="34" charset="0"/>
                <a:ea typeface="Cambria" pitchFamily="34" charset="-122"/>
                <a:cs typeface="Cambria" pitchFamily="34" charset="-120"/>
              </a:rPr>
              <a:t>The trust chain is closed, not bypassed</a:t>
            </a:r>
            <a:endParaRPr lang="en-US" sz="1500" dirty="0"/>
          </a:p>
        </p:txBody>
      </p:sp>
      <p:sp>
        <p:nvSpPr>
          <p:cNvPr id="23" name="Text 21"/>
          <p:cNvSpPr txBox="1"/>
          <p:nvPr/>
        </p:nvSpPr>
        <p:spPr>
          <a:xfrm>
            <a:off x="877824" y="4370832"/>
            <a:ext cx="10433304" cy="720090"/>
          </a:xfrm>
          <a:prstGeom prst="rect">
            <a:avLst/>
          </a:prstGeom>
          <a:noFill/>
          <a:ln/>
        </p:spPr>
        <p:txBody>
          <a:bodyPr wrap="square" lIns="0" tIns="0" rIns="0" bIns="0" rtlCol="0" anchor="t"/>
          <a:lstStyle/>
          <a:p>
            <a:pPr indent="0" marL="0">
              <a:lnSpc>
                <a:spcPts val="1650"/>
              </a:lnSpc>
              <a:buNone/>
            </a:pPr>
            <a:r>
              <a:rPr lang="en-US" sz="1250" dirty="0">
                <a:solidFill>
                  <a:srgbClr val="374151"/>
                </a:solidFill>
                <a:latin typeface="Calibri" pitchFamily="34" charset="0"/>
                <a:ea typeface="Calibri" pitchFamily="34" charset="-122"/>
                <a:cs typeface="Calibri" pitchFamily="34" charset="-120"/>
              </a:rPr>
              <a:t>A boot hook installs the proxy's internal certificate authority into the container's trust store, so verification stays fully enabled end to end. </a:t>
            </a:r>
            <a:pPr indent="0" marL="0">
              <a:lnSpc>
                <a:spcPts val="1650"/>
              </a:lnSpc>
              <a:buNone/>
            </a:pPr>
            <a:r>
              <a:rPr lang="en-US" sz="1250" b="1" dirty="0">
                <a:solidFill>
                  <a:srgbClr val="1F2937"/>
                </a:solidFill>
                <a:latin typeface="Calibri" pitchFamily="34" charset="0"/>
                <a:ea typeface="Calibri" pitchFamily="34" charset="-122"/>
                <a:cs typeface="Calibri" pitchFamily="34" charset="-120"/>
              </a:rPr>
              <a:t>No verification-skipping flag appears anywhere in the chain</a:t>
            </a:r>
            <a:pPr indent="0" marL="0">
              <a:lnSpc>
                <a:spcPts val="1650"/>
              </a:lnSpc>
              <a:buNone/>
            </a:pPr>
            <a:r>
              <a:rPr lang="en-US" sz="1250" dirty="0">
                <a:solidFill>
                  <a:srgbClr val="374151"/>
                </a:solidFill>
                <a:latin typeface="Calibri" pitchFamily="34" charset="0"/>
                <a:ea typeface="Calibri" pitchFamily="34" charset="-122"/>
                <a:cs typeface="Calibri" pitchFamily="34" charset="-120"/>
              </a:rPr>
              <a:t> — the detail that separates this from the usual internal-proxy shortcut.</a:t>
            </a:r>
            <a:endParaRPr lang="en-US" sz="1250" dirty="0"/>
          </a:p>
        </p:txBody>
      </p:sp>
      <p:sp>
        <p:nvSpPr>
          <p:cNvPr id="24" name="Shape 22"/>
          <p:cNvSpPr/>
          <p:nvPr/>
        </p:nvSpPr>
        <p:spPr>
          <a:xfrm>
            <a:off x="566928" y="5420106"/>
            <a:ext cx="11055096" cy="1077468"/>
          </a:xfrm>
          <a:prstGeom prst="rect">
            <a:avLst/>
          </a:prstGeom>
          <a:solidFill>
            <a:srgbClr val="FFF7ED"/>
          </a:solidFill>
          <a:ln w="12700">
            <a:solidFill>
              <a:srgbClr val="FED7AA"/>
            </a:solidFill>
            <a:prstDash val="solid"/>
          </a:ln>
        </p:spPr>
      </p:sp>
      <p:sp>
        <p:nvSpPr>
          <p:cNvPr id="25" name="Text 23"/>
          <p:cNvSpPr txBox="1"/>
          <p:nvPr/>
        </p:nvSpPr>
        <p:spPr>
          <a:xfrm>
            <a:off x="877824" y="5557266"/>
            <a:ext cx="10433304" cy="292608"/>
          </a:xfrm>
          <a:prstGeom prst="rect">
            <a:avLst/>
          </a:prstGeom>
          <a:noFill/>
          <a:ln/>
        </p:spPr>
        <p:txBody>
          <a:bodyPr wrap="square" lIns="0" tIns="0" rIns="0" bIns="0" rtlCol="0" anchor="t"/>
          <a:lstStyle/>
          <a:p>
            <a:pPr indent="0" marL="0">
              <a:buNone/>
            </a:pPr>
            <a:r>
              <a:rPr lang="en-US" sz="1500" b="1" dirty="0">
                <a:solidFill>
                  <a:srgbClr val="EA580C"/>
                </a:solidFill>
                <a:latin typeface="Cambria" pitchFamily="34" charset="0"/>
                <a:ea typeface="Cambria" pitchFamily="34" charset="-122"/>
                <a:cs typeface="Cambria" pitchFamily="34" charset="-120"/>
              </a:rPr>
              <a:t>The honest limit</a:t>
            </a:r>
            <a:endParaRPr lang="en-US" sz="1500" dirty="0"/>
          </a:p>
        </p:txBody>
      </p:sp>
      <p:sp>
        <p:nvSpPr>
          <p:cNvPr id="26" name="Text 24"/>
          <p:cNvSpPr txBox="1"/>
          <p:nvPr/>
        </p:nvSpPr>
        <p:spPr>
          <a:xfrm>
            <a:off x="877824" y="5932170"/>
            <a:ext cx="10433304" cy="510540"/>
          </a:xfrm>
          <a:prstGeom prst="rect">
            <a:avLst/>
          </a:prstGeom>
          <a:noFill/>
          <a:ln/>
        </p:spPr>
        <p:txBody>
          <a:bodyPr wrap="square" lIns="0" tIns="0" rIns="0" bIns="0" rtlCol="0" anchor="t"/>
          <a:lstStyle/>
          <a:p>
            <a:pPr indent="0" marL="0">
              <a:lnSpc>
                <a:spcPts val="1650"/>
              </a:lnSpc>
              <a:buNone/>
            </a:pPr>
            <a:r>
              <a:rPr lang="en-US" sz="1250" dirty="0">
                <a:solidFill>
                  <a:srgbClr val="374151"/>
                </a:solidFill>
                <a:latin typeface="Calibri" pitchFamily="34" charset="0"/>
                <a:ea typeface="Calibri" pitchFamily="34" charset="-122"/>
                <a:cs typeface="Calibri" pitchFamily="34" charset="-120"/>
              </a:rPr>
              <a:t>This is secret custody, not egress control. Unless the agent network also restricts outbound traffic, the proxy is bypassable by design. Both halves are needed; </a:t>
            </a:r>
            <a:pPr indent="0" marL="0">
              <a:lnSpc>
                <a:spcPts val="1650"/>
              </a:lnSpc>
              <a:buNone/>
            </a:pPr>
            <a:r>
              <a:rPr lang="en-US" sz="1250" b="1" dirty="0">
                <a:solidFill>
                  <a:srgbClr val="1F2937"/>
                </a:solidFill>
                <a:latin typeface="Calibri" pitchFamily="34" charset="0"/>
                <a:ea typeface="Calibri" pitchFamily="34" charset="-122"/>
                <a:cs typeface="Calibri" pitchFamily="34" charset="-120"/>
              </a:rPr>
              <a:t>describe them separately or the architecture overstates itself.</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47472"/>
            <a:ext cx="11055096" cy="566928"/>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Separation of powers: it may propose, never ratify</a:t>
            </a:r>
            <a:endParaRPr lang="en-US" sz="3000" dirty="0"/>
          </a:p>
        </p:txBody>
      </p:sp>
      <p:sp>
        <p:nvSpPr>
          <p:cNvPr id="3" name="Text 1"/>
          <p:cNvSpPr txBox="1"/>
          <p:nvPr/>
        </p:nvSpPr>
        <p:spPr>
          <a:xfrm>
            <a:off x="566928" y="914400"/>
            <a:ext cx="11055096" cy="329184"/>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Four independent layers, each owned by a different authority. None is sufficient alone.</a:t>
            </a:r>
            <a:endParaRPr lang="en-US" sz="1400" dirty="0"/>
          </a:p>
        </p:txBody>
      </p:sp>
      <p:sp>
        <p:nvSpPr>
          <p:cNvPr id="4" name="Shape 2"/>
          <p:cNvSpPr/>
          <p:nvPr/>
        </p:nvSpPr>
        <p:spPr>
          <a:xfrm>
            <a:off x="566928" y="1481328"/>
            <a:ext cx="11055096" cy="804672"/>
          </a:xfrm>
          <a:prstGeom prst="rect">
            <a:avLst/>
          </a:prstGeom>
          <a:solidFill>
            <a:srgbClr val="FFFFFF"/>
          </a:solidFill>
          <a:ln w="12700">
            <a:solidFill>
              <a:srgbClr val="E5E7EB"/>
            </a:solidFill>
            <a:prstDash val="solid"/>
          </a:ln>
        </p:spPr>
      </p:sp>
      <p:sp>
        <p:nvSpPr>
          <p:cNvPr id="5" name="Shape 3"/>
          <p:cNvSpPr/>
          <p:nvPr/>
        </p:nvSpPr>
        <p:spPr>
          <a:xfrm>
            <a:off x="841248" y="1828800"/>
            <a:ext cx="137160" cy="137160"/>
          </a:xfrm>
          <a:prstGeom prst="rect">
            <a:avLst/>
          </a:prstGeom>
          <a:solidFill>
            <a:srgbClr val="6D28D9"/>
          </a:solidFill>
          <a:ln w="12700">
            <a:solidFill>
              <a:srgbClr val="6D28D9"/>
            </a:solidFill>
            <a:prstDash val="solid"/>
          </a:ln>
        </p:spPr>
      </p:sp>
      <p:sp>
        <p:nvSpPr>
          <p:cNvPr id="6" name="Text 4"/>
          <p:cNvSpPr txBox="1"/>
          <p:nvPr/>
        </p:nvSpPr>
        <p:spPr>
          <a:xfrm>
            <a:off x="1097280" y="1618488"/>
            <a:ext cx="1463040" cy="237744"/>
          </a:xfrm>
          <a:prstGeom prst="rect">
            <a:avLst/>
          </a:prstGeom>
          <a:noFill/>
          <a:ln/>
        </p:spPr>
        <p:txBody>
          <a:bodyPr wrap="square" lIns="0" tIns="0" rIns="0" bIns="0" rtlCol="0" anchor="ctr"/>
          <a:lstStyle/>
          <a:p>
            <a:pPr indent="0" marL="0">
              <a:buNone/>
            </a:pPr>
            <a:r>
              <a:rPr lang="en-US" sz="1050" b="1" spc="160" kern="0" dirty="0">
                <a:solidFill>
                  <a:srgbClr val="6D28D9"/>
                </a:solidFill>
                <a:latin typeface="Calibri" pitchFamily="34" charset="0"/>
                <a:ea typeface="Calibri" pitchFamily="34" charset="-122"/>
                <a:cs typeface="Calibri" pitchFamily="34" charset="-120"/>
              </a:rPr>
              <a:t>KERNEL</a:t>
            </a:r>
            <a:endParaRPr lang="en-US" sz="1050" dirty="0"/>
          </a:p>
        </p:txBody>
      </p:sp>
      <p:sp>
        <p:nvSpPr>
          <p:cNvPr id="7" name="Text 5"/>
          <p:cNvSpPr txBox="1"/>
          <p:nvPr/>
        </p:nvSpPr>
        <p:spPr>
          <a:xfrm>
            <a:off x="1097280" y="1865376"/>
            <a:ext cx="2286000" cy="310896"/>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Filesystem masking</a:t>
            </a:r>
            <a:endParaRPr lang="en-US" sz="1550" dirty="0"/>
          </a:p>
        </p:txBody>
      </p:sp>
      <p:sp>
        <p:nvSpPr>
          <p:cNvPr id="8" name="Text 6"/>
          <p:cNvSpPr txBox="1"/>
          <p:nvPr/>
        </p:nvSpPr>
        <p:spPr>
          <a:xfrm>
            <a:off x="3630168" y="1627632"/>
            <a:ext cx="7671816" cy="621792"/>
          </a:xfrm>
          <a:prstGeom prst="rect">
            <a:avLst/>
          </a:prstGeom>
          <a:noFill/>
          <a:ln/>
        </p:spPr>
        <p:txBody>
          <a:bodyPr wrap="square" lIns="0" tIns="0" rIns="0" bIns="0" rtlCol="0" anchor="t"/>
          <a:lstStyle/>
          <a:p>
            <a:pPr indent="0" marL="0">
              <a:lnSpc>
                <a:spcPts val="1600"/>
              </a:lnSpc>
              <a:buNone/>
            </a:pPr>
            <a:r>
              <a:rPr lang="en-US" sz="1200" dirty="0">
                <a:solidFill>
                  <a:srgbClr val="374151"/>
                </a:solidFill>
                <a:latin typeface="Calibri" pitchFamily="34" charset="0"/>
                <a:ea typeface="Calibri" pitchFamily="34" charset="-122"/>
                <a:cs typeface="Calibri" pitchFamily="34" charset="-120"/>
              </a:rPr>
              <a:t>The governed directory is bind-mounted read-only beneath the agent's writable canvas. A write returns a read-only filesystem error before any policy, prompt or model judgement is consulted.</a:t>
            </a:r>
            <a:endParaRPr lang="en-US" sz="1200" dirty="0"/>
          </a:p>
        </p:txBody>
      </p:sp>
      <p:sp>
        <p:nvSpPr>
          <p:cNvPr id="9" name="Shape 7"/>
          <p:cNvSpPr/>
          <p:nvPr/>
        </p:nvSpPr>
        <p:spPr>
          <a:xfrm>
            <a:off x="566928" y="2359152"/>
            <a:ext cx="11055096" cy="804672"/>
          </a:xfrm>
          <a:prstGeom prst="rect">
            <a:avLst/>
          </a:prstGeom>
          <a:solidFill>
            <a:srgbClr val="FFFFFF"/>
          </a:solidFill>
          <a:ln w="12700">
            <a:solidFill>
              <a:srgbClr val="E5E7EB"/>
            </a:solidFill>
            <a:prstDash val="solid"/>
          </a:ln>
        </p:spPr>
      </p:sp>
      <p:sp>
        <p:nvSpPr>
          <p:cNvPr id="10" name="Shape 8"/>
          <p:cNvSpPr/>
          <p:nvPr/>
        </p:nvSpPr>
        <p:spPr>
          <a:xfrm>
            <a:off x="841248" y="2706624"/>
            <a:ext cx="137160" cy="137160"/>
          </a:xfrm>
          <a:prstGeom prst="rect">
            <a:avLst/>
          </a:prstGeom>
          <a:solidFill>
            <a:srgbClr val="0E7490"/>
          </a:solidFill>
          <a:ln w="12700">
            <a:solidFill>
              <a:srgbClr val="0E7490"/>
            </a:solidFill>
            <a:prstDash val="solid"/>
          </a:ln>
        </p:spPr>
      </p:sp>
      <p:sp>
        <p:nvSpPr>
          <p:cNvPr id="11" name="Text 9"/>
          <p:cNvSpPr txBox="1"/>
          <p:nvPr/>
        </p:nvSpPr>
        <p:spPr>
          <a:xfrm>
            <a:off x="1097280" y="2496312"/>
            <a:ext cx="1463040" cy="237744"/>
          </a:xfrm>
          <a:prstGeom prst="rect">
            <a:avLst/>
          </a:prstGeom>
          <a:noFill/>
          <a:ln/>
        </p:spPr>
        <p:txBody>
          <a:bodyPr wrap="square" lIns="0" tIns="0" rIns="0" bIns="0" rtlCol="0" anchor="ctr"/>
          <a:lstStyle/>
          <a:p>
            <a:pPr indent="0" marL="0">
              <a:buNone/>
            </a:pPr>
            <a:r>
              <a:rPr lang="en-US" sz="1050" b="1" spc="160" kern="0" dirty="0">
                <a:solidFill>
                  <a:srgbClr val="0E7490"/>
                </a:solidFill>
                <a:latin typeface="Calibri" pitchFamily="34" charset="0"/>
                <a:ea typeface="Calibri" pitchFamily="34" charset="-122"/>
                <a:cs typeface="Calibri" pitchFamily="34" charset="-120"/>
              </a:rPr>
              <a:t>RUNTIME</a:t>
            </a:r>
            <a:endParaRPr lang="en-US" sz="1050" dirty="0"/>
          </a:p>
        </p:txBody>
      </p:sp>
      <p:sp>
        <p:nvSpPr>
          <p:cNvPr id="12" name="Text 10"/>
          <p:cNvSpPr txBox="1"/>
          <p:nvPr/>
        </p:nvSpPr>
        <p:spPr>
          <a:xfrm>
            <a:off x="1097280" y="2743200"/>
            <a:ext cx="2286000" cy="310896"/>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Write-safe roots</a:t>
            </a:r>
            <a:endParaRPr lang="en-US" sz="1550" dirty="0"/>
          </a:p>
        </p:txBody>
      </p:sp>
      <p:sp>
        <p:nvSpPr>
          <p:cNvPr id="13" name="Text 11"/>
          <p:cNvSpPr txBox="1"/>
          <p:nvPr/>
        </p:nvSpPr>
        <p:spPr>
          <a:xfrm>
            <a:off x="3630168" y="2505456"/>
            <a:ext cx="7671816" cy="621792"/>
          </a:xfrm>
          <a:prstGeom prst="rect">
            <a:avLst/>
          </a:prstGeom>
          <a:noFill/>
          <a:ln/>
        </p:spPr>
        <p:txBody>
          <a:bodyPr wrap="square" lIns="0" tIns="0" rIns="0" bIns="0" rtlCol="0" anchor="t"/>
          <a:lstStyle/>
          <a:p>
            <a:pPr indent="0" marL="0">
              <a:lnSpc>
                <a:spcPts val="1600"/>
              </a:lnSpc>
              <a:buNone/>
            </a:pPr>
            <a:r>
              <a:rPr lang="en-US" sz="1200" dirty="0">
                <a:solidFill>
                  <a:srgbClr val="374151"/>
                </a:solidFill>
                <a:latin typeface="Calibri" pitchFamily="34" charset="0"/>
                <a:ea typeface="Calibri" pitchFamily="34" charset="-122"/>
                <a:cs typeface="Calibri" pitchFamily="34" charset="-120"/>
              </a:rPr>
              <a:t>The agent runtime is given an explicit list of three writable paths. Everything outside them is refused by the runtime, independently of what the filesystem would have allowed.</a:t>
            </a:r>
            <a:endParaRPr lang="en-US" sz="1200" dirty="0"/>
          </a:p>
        </p:txBody>
      </p:sp>
      <p:sp>
        <p:nvSpPr>
          <p:cNvPr id="14" name="Shape 12"/>
          <p:cNvSpPr/>
          <p:nvPr/>
        </p:nvSpPr>
        <p:spPr>
          <a:xfrm>
            <a:off x="566928" y="3236976"/>
            <a:ext cx="11055096" cy="804672"/>
          </a:xfrm>
          <a:prstGeom prst="rect">
            <a:avLst/>
          </a:prstGeom>
          <a:solidFill>
            <a:srgbClr val="FFFFFF"/>
          </a:solidFill>
          <a:ln w="12700">
            <a:solidFill>
              <a:srgbClr val="E5E7EB"/>
            </a:solidFill>
            <a:prstDash val="solid"/>
          </a:ln>
        </p:spPr>
      </p:sp>
      <p:sp>
        <p:nvSpPr>
          <p:cNvPr id="15" name="Shape 13"/>
          <p:cNvSpPr/>
          <p:nvPr/>
        </p:nvSpPr>
        <p:spPr>
          <a:xfrm>
            <a:off x="841248" y="3584448"/>
            <a:ext cx="137160" cy="137160"/>
          </a:xfrm>
          <a:prstGeom prst="rect">
            <a:avLst/>
          </a:prstGeom>
          <a:solidFill>
            <a:srgbClr val="B45309"/>
          </a:solidFill>
          <a:ln w="12700">
            <a:solidFill>
              <a:srgbClr val="B45309"/>
            </a:solidFill>
            <a:prstDash val="solid"/>
          </a:ln>
        </p:spPr>
      </p:sp>
      <p:sp>
        <p:nvSpPr>
          <p:cNvPr id="16" name="Text 14"/>
          <p:cNvSpPr txBox="1"/>
          <p:nvPr/>
        </p:nvSpPr>
        <p:spPr>
          <a:xfrm>
            <a:off x="1097280" y="3374136"/>
            <a:ext cx="1463040" cy="237744"/>
          </a:xfrm>
          <a:prstGeom prst="rect">
            <a:avLst/>
          </a:prstGeom>
          <a:noFill/>
          <a:ln/>
        </p:spPr>
        <p:txBody>
          <a:bodyPr wrap="square" lIns="0" tIns="0" rIns="0" bIns="0" rtlCol="0" anchor="ctr"/>
          <a:lstStyle/>
          <a:p>
            <a:pPr indent="0" marL="0">
              <a:buNone/>
            </a:pPr>
            <a:r>
              <a:rPr lang="en-US" sz="1050" b="1" spc="160" kern="0" dirty="0">
                <a:solidFill>
                  <a:srgbClr val="B45309"/>
                </a:solidFill>
                <a:latin typeface="Calibri" pitchFamily="34" charset="0"/>
                <a:ea typeface="Calibri" pitchFamily="34" charset="-122"/>
                <a:cs typeface="Calibri" pitchFamily="34" charset="-120"/>
              </a:rPr>
              <a:t>FORGE</a:t>
            </a:r>
            <a:endParaRPr lang="en-US" sz="1050" dirty="0"/>
          </a:p>
        </p:txBody>
      </p:sp>
      <p:sp>
        <p:nvSpPr>
          <p:cNvPr id="17" name="Text 15"/>
          <p:cNvSpPr txBox="1"/>
          <p:nvPr/>
        </p:nvSpPr>
        <p:spPr>
          <a:xfrm>
            <a:off x="1097280" y="3621024"/>
            <a:ext cx="2286000" cy="310896"/>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Branch ruleset</a:t>
            </a:r>
            <a:endParaRPr lang="en-US" sz="1550" dirty="0"/>
          </a:p>
        </p:txBody>
      </p:sp>
      <p:sp>
        <p:nvSpPr>
          <p:cNvPr id="18" name="Text 16"/>
          <p:cNvSpPr txBox="1"/>
          <p:nvPr/>
        </p:nvSpPr>
        <p:spPr>
          <a:xfrm>
            <a:off x="3630168" y="3383280"/>
            <a:ext cx="7671816" cy="621792"/>
          </a:xfrm>
          <a:prstGeom prst="rect">
            <a:avLst/>
          </a:prstGeom>
          <a:noFill/>
          <a:ln/>
        </p:spPr>
        <p:txBody>
          <a:bodyPr wrap="square" lIns="0" tIns="0" rIns="0" bIns="0" rtlCol="0" anchor="t"/>
          <a:lstStyle/>
          <a:p>
            <a:pPr indent="0" marL="0">
              <a:lnSpc>
                <a:spcPts val="1600"/>
              </a:lnSpc>
              <a:buNone/>
            </a:pPr>
            <a:r>
              <a:rPr lang="en-US" sz="1200" dirty="0">
                <a:solidFill>
                  <a:srgbClr val="374151"/>
                </a:solidFill>
                <a:latin typeface="Calibri" pitchFamily="34" charset="0"/>
                <a:ea typeface="Calibri" pitchFamily="34" charset="-122"/>
                <a:cs typeface="Calibri" pitchFamily="34" charset="-120"/>
              </a:rPr>
              <a:t>Direct pushes and branch deletions on the deployed branch are blocked. A pull request and a named required status check are the only route in.</a:t>
            </a:r>
            <a:endParaRPr lang="en-US" sz="1200" dirty="0"/>
          </a:p>
        </p:txBody>
      </p:sp>
      <p:sp>
        <p:nvSpPr>
          <p:cNvPr id="19" name="Shape 17"/>
          <p:cNvSpPr/>
          <p:nvPr/>
        </p:nvSpPr>
        <p:spPr>
          <a:xfrm>
            <a:off x="566928" y="4114800"/>
            <a:ext cx="11055096" cy="804672"/>
          </a:xfrm>
          <a:prstGeom prst="rect">
            <a:avLst/>
          </a:prstGeom>
          <a:solidFill>
            <a:srgbClr val="FFFFFF"/>
          </a:solidFill>
          <a:ln w="12700">
            <a:solidFill>
              <a:srgbClr val="E5E7EB"/>
            </a:solidFill>
            <a:prstDash val="solid"/>
          </a:ln>
        </p:spPr>
      </p:sp>
      <p:sp>
        <p:nvSpPr>
          <p:cNvPr id="20" name="Shape 18"/>
          <p:cNvSpPr/>
          <p:nvPr/>
        </p:nvSpPr>
        <p:spPr>
          <a:xfrm>
            <a:off x="841248" y="4462272"/>
            <a:ext cx="137160" cy="137160"/>
          </a:xfrm>
          <a:prstGeom prst="rect">
            <a:avLst/>
          </a:prstGeom>
          <a:solidFill>
            <a:srgbClr val="15803D"/>
          </a:solidFill>
          <a:ln w="12700">
            <a:solidFill>
              <a:srgbClr val="15803D"/>
            </a:solidFill>
            <a:prstDash val="solid"/>
          </a:ln>
        </p:spPr>
      </p:sp>
      <p:sp>
        <p:nvSpPr>
          <p:cNvPr id="21" name="Text 19"/>
          <p:cNvSpPr txBox="1"/>
          <p:nvPr/>
        </p:nvSpPr>
        <p:spPr>
          <a:xfrm>
            <a:off x="1097280" y="4251960"/>
            <a:ext cx="1463040" cy="237744"/>
          </a:xfrm>
          <a:prstGeom prst="rect">
            <a:avLst/>
          </a:prstGeom>
          <a:noFill/>
          <a:ln/>
        </p:spPr>
        <p:txBody>
          <a:bodyPr wrap="square" lIns="0" tIns="0" rIns="0" bIns="0" rtlCol="0" anchor="ctr"/>
          <a:lstStyle/>
          <a:p>
            <a:pPr indent="0" marL="0">
              <a:buNone/>
            </a:pPr>
            <a:r>
              <a:rPr lang="en-US" sz="1050" b="1" spc="160" kern="0" dirty="0">
                <a:solidFill>
                  <a:srgbClr val="15803D"/>
                </a:solidFill>
                <a:latin typeface="Calibri" pitchFamily="34" charset="0"/>
                <a:ea typeface="Calibri" pitchFamily="34" charset="-122"/>
                <a:cs typeface="Calibri" pitchFamily="34" charset="-120"/>
              </a:rPr>
              <a:t>OWNERSHIP</a:t>
            </a:r>
            <a:endParaRPr lang="en-US" sz="1050" dirty="0"/>
          </a:p>
        </p:txBody>
      </p:sp>
      <p:sp>
        <p:nvSpPr>
          <p:cNvPr id="22" name="Text 20"/>
          <p:cNvSpPr txBox="1"/>
          <p:nvPr/>
        </p:nvSpPr>
        <p:spPr>
          <a:xfrm>
            <a:off x="1097280" y="4498848"/>
            <a:ext cx="2286000" cy="310896"/>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Guard workflow and code owners</a:t>
            </a:r>
            <a:endParaRPr lang="en-US" sz="1550" dirty="0"/>
          </a:p>
        </p:txBody>
      </p:sp>
      <p:sp>
        <p:nvSpPr>
          <p:cNvPr id="23" name="Text 21"/>
          <p:cNvSpPr txBox="1"/>
          <p:nvPr/>
        </p:nvSpPr>
        <p:spPr>
          <a:xfrm>
            <a:off x="3630168" y="4261104"/>
            <a:ext cx="7671816" cy="621792"/>
          </a:xfrm>
          <a:prstGeom prst="rect">
            <a:avLst/>
          </a:prstGeom>
          <a:noFill/>
          <a:ln/>
        </p:spPr>
        <p:txBody>
          <a:bodyPr wrap="square" lIns="0" tIns="0" rIns="0" bIns="0" rtlCol="0" anchor="t"/>
          <a:lstStyle/>
          <a:p>
            <a:pPr indent="0" marL="0">
              <a:lnSpc>
                <a:spcPts val="1600"/>
              </a:lnSpc>
              <a:buNone/>
            </a:pPr>
            <a:r>
              <a:rPr lang="en-US" sz="1200" dirty="0">
                <a:solidFill>
                  <a:srgbClr val="374151"/>
                </a:solidFill>
                <a:latin typeface="Calibri" pitchFamily="34" charset="0"/>
                <a:ea typeface="Calibri" pitchFamily="34" charset="-122"/>
                <a:cs typeface="Calibri" pitchFamily="34" charset="-120"/>
              </a:rPr>
              <a:t>A workflow diffs each pull request and fails it if the governed directory changed. Code ownership assigns those paths to a human identity the agent cannot assume.</a:t>
            </a:r>
            <a:endParaRPr lang="en-US" sz="1200" dirty="0"/>
          </a:p>
        </p:txBody>
      </p:sp>
      <p:sp>
        <p:nvSpPr>
          <p:cNvPr id="24" name="Shape 22"/>
          <p:cNvSpPr/>
          <p:nvPr/>
        </p:nvSpPr>
        <p:spPr>
          <a:xfrm>
            <a:off x="566928" y="5193792"/>
            <a:ext cx="11055096" cy="1287018"/>
          </a:xfrm>
          <a:prstGeom prst="rect">
            <a:avLst/>
          </a:prstGeom>
          <a:solidFill>
            <a:srgbClr val="F3F4F6"/>
          </a:solidFill>
          <a:ln w="12700">
            <a:solidFill>
              <a:srgbClr val="E5E7EB"/>
            </a:solidFill>
            <a:prstDash val="solid"/>
          </a:ln>
        </p:spPr>
      </p:sp>
      <p:sp>
        <p:nvSpPr>
          <p:cNvPr id="25" name="Text 23"/>
          <p:cNvSpPr txBox="1"/>
          <p:nvPr/>
        </p:nvSpPr>
        <p:spPr>
          <a:xfrm>
            <a:off x="877824" y="5330952"/>
            <a:ext cx="10433304" cy="292608"/>
          </a:xfrm>
          <a:prstGeom prst="rect">
            <a:avLst/>
          </a:prstGeom>
          <a:noFill/>
          <a:ln/>
        </p:spPr>
        <p:txBody>
          <a:bodyPr wrap="square" lIns="0" tIns="0" rIns="0" bIns="0" rtlCol="0" anchor="t"/>
          <a:lstStyle/>
          <a:p>
            <a:pPr indent="0" marL="0">
              <a:buNone/>
            </a:pPr>
            <a:r>
              <a:rPr lang="en-US" sz="1500" b="1" dirty="0">
                <a:solidFill>
                  <a:srgbClr val="1F2937"/>
                </a:solidFill>
                <a:latin typeface="Cambria" pitchFamily="34" charset="0"/>
                <a:ea typeface="Cambria" pitchFamily="34" charset="-122"/>
                <a:cs typeface="Cambria" pitchFamily="34" charset="-120"/>
              </a:rPr>
              <a:t>The self-referential trick</a:t>
            </a:r>
            <a:endParaRPr lang="en-US" sz="1500" dirty="0"/>
          </a:p>
        </p:txBody>
      </p:sp>
      <p:sp>
        <p:nvSpPr>
          <p:cNvPr id="26" name="Text 24"/>
          <p:cNvSpPr txBox="1"/>
          <p:nvPr/>
        </p:nvSpPr>
        <p:spPr>
          <a:xfrm>
            <a:off x="877824" y="5705856"/>
            <a:ext cx="10433304" cy="720090"/>
          </a:xfrm>
          <a:prstGeom prst="rect">
            <a:avLst/>
          </a:prstGeom>
          <a:noFill/>
          <a:ln/>
        </p:spPr>
        <p:txBody>
          <a:bodyPr wrap="square" lIns="0" tIns="0" rIns="0" bIns="0" rtlCol="0" anchor="t"/>
          <a:lstStyle/>
          <a:p>
            <a:pPr indent="0" marL="0">
              <a:lnSpc>
                <a:spcPts val="1650"/>
              </a:lnSpc>
              <a:buNone/>
            </a:pPr>
            <a:r>
              <a:rPr lang="en-US" sz="1250" dirty="0">
                <a:solidFill>
                  <a:srgbClr val="374151"/>
                </a:solidFill>
                <a:latin typeface="Calibri" pitchFamily="34" charset="0"/>
                <a:ea typeface="Calibri" pitchFamily="34" charset="-122"/>
                <a:cs typeface="Calibri" pitchFamily="34" charset="-120"/>
              </a:rPr>
              <a:t>The check that protects the governance directory is defined inside that directory, which is masked read-only beneath the agent and owned by someone else. </a:t>
            </a:r>
            <a:pPr indent="0" marL="0">
              <a:lnSpc>
                <a:spcPts val="1650"/>
              </a:lnSpc>
              <a:buNone/>
            </a:pPr>
            <a:r>
              <a:rPr lang="en-US" sz="1250" b="1" dirty="0">
                <a:solidFill>
                  <a:srgbClr val="1F2937"/>
                </a:solidFill>
                <a:latin typeface="Calibri" pitchFamily="34" charset="0"/>
                <a:ea typeface="Calibri" pitchFamily="34" charset="-122"/>
                <a:cs typeface="Calibri" pitchFamily="34" charset="-120"/>
              </a:rPr>
              <a:t>A fully compromised agent — one ignoring every instruction it was given — can at worst open a pull request.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47472"/>
            <a:ext cx="11055096" cy="566928"/>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Express destructive actions as requests, not actions</a:t>
            </a:r>
            <a:endParaRPr lang="en-US" sz="3000" dirty="0"/>
          </a:p>
        </p:txBody>
      </p:sp>
      <p:sp>
        <p:nvSpPr>
          <p:cNvPr id="3" name="Text 1"/>
          <p:cNvSpPr txBox="1"/>
          <p:nvPr/>
        </p:nvSpPr>
        <p:spPr>
          <a:xfrm>
            <a:off x="566928" y="914400"/>
            <a:ext cx="11055096" cy="329184"/>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The most portable idea in the pattern, and the cheapest to implement.</a:t>
            </a:r>
            <a:endParaRPr lang="en-US" sz="1400" dirty="0"/>
          </a:p>
        </p:txBody>
      </p:sp>
      <p:sp>
        <p:nvSpPr>
          <p:cNvPr id="4" name="Shape 2"/>
          <p:cNvSpPr/>
          <p:nvPr/>
        </p:nvSpPr>
        <p:spPr>
          <a:xfrm>
            <a:off x="566928" y="1481328"/>
            <a:ext cx="3200400" cy="2103120"/>
          </a:xfrm>
          <a:prstGeom prst="rect">
            <a:avLst/>
          </a:prstGeom>
          <a:solidFill>
            <a:srgbClr val="FFFFFF"/>
          </a:solidFill>
          <a:ln w="12700">
            <a:solidFill>
              <a:srgbClr val="E5E7EB"/>
            </a:solidFill>
            <a:prstDash val="solid"/>
          </a:ln>
        </p:spPr>
      </p:sp>
      <p:sp>
        <p:nvSpPr>
          <p:cNvPr id="5" name="Text 3"/>
          <p:cNvSpPr txBox="1"/>
          <p:nvPr/>
        </p:nvSpPr>
        <p:spPr>
          <a:xfrm>
            <a:off x="841248" y="1700784"/>
            <a:ext cx="2286000" cy="237744"/>
          </a:xfrm>
          <a:prstGeom prst="rect">
            <a:avLst/>
          </a:prstGeom>
          <a:noFill/>
          <a:ln/>
        </p:spPr>
        <p:txBody>
          <a:bodyPr wrap="square" lIns="0" tIns="0" rIns="0" bIns="0" rtlCol="0" anchor="ctr"/>
          <a:lstStyle/>
          <a:p>
            <a:pPr indent="0" marL="0">
              <a:buNone/>
            </a:pPr>
            <a:r>
              <a:rPr lang="en-US" sz="1050" b="1" spc="160" kern="0" dirty="0">
                <a:solidFill>
                  <a:srgbClr val="6D28D9"/>
                </a:solidFill>
                <a:latin typeface="Calibri" pitchFamily="34" charset="0"/>
                <a:ea typeface="Calibri" pitchFamily="34" charset="-122"/>
                <a:cs typeface="Calibri" pitchFamily="34" charset="-120"/>
              </a:rPr>
              <a:t>AGENT</a:t>
            </a:r>
            <a:endParaRPr lang="en-US" sz="1050" dirty="0"/>
          </a:p>
        </p:txBody>
      </p:sp>
      <p:sp>
        <p:nvSpPr>
          <p:cNvPr id="6" name="Text 4"/>
          <p:cNvSpPr txBox="1"/>
          <p:nvPr/>
        </p:nvSpPr>
        <p:spPr>
          <a:xfrm>
            <a:off x="841248" y="1975104"/>
            <a:ext cx="2651760" cy="347472"/>
          </a:xfrm>
          <a:prstGeom prst="rect">
            <a:avLst/>
          </a:prstGeom>
          <a:noFill/>
          <a:ln/>
        </p:spPr>
        <p:txBody>
          <a:bodyPr wrap="square" lIns="0" tIns="0" rIns="0" bIns="0" rtlCol="0" anchor="ctr"/>
          <a:lstStyle/>
          <a:p>
            <a:pPr indent="0" marL="0">
              <a:buNone/>
            </a:pPr>
            <a:r>
              <a:rPr lang="en-US" sz="1650" b="1" dirty="0">
                <a:solidFill>
                  <a:srgbClr val="1F2937"/>
                </a:solidFill>
                <a:latin typeface="Cambria" pitchFamily="34" charset="0"/>
                <a:ea typeface="Cambria" pitchFamily="34" charset="-122"/>
                <a:cs typeface="Cambria" pitchFamily="34" charset="-120"/>
              </a:rPr>
              <a:t>Declares completion</a:t>
            </a:r>
            <a:endParaRPr lang="en-US" sz="1650" dirty="0"/>
          </a:p>
        </p:txBody>
      </p:sp>
      <p:sp>
        <p:nvSpPr>
          <p:cNvPr id="7" name="Text 5"/>
          <p:cNvSpPr txBox="1"/>
          <p:nvPr/>
        </p:nvSpPr>
        <p:spPr>
          <a:xfrm>
            <a:off x="841248" y="2414016"/>
            <a:ext cx="2651760" cy="960120"/>
          </a:xfrm>
          <a:prstGeom prst="rect">
            <a:avLst/>
          </a:prstGeom>
          <a:noFill/>
          <a:ln/>
        </p:spPr>
        <p:txBody>
          <a:bodyPr wrap="square" lIns="0" tIns="0" rIns="0" bIns="0" rtlCol="0" anchor="ctr"/>
          <a:lstStyle/>
          <a:p>
            <a:pPr indent="0" marL="0">
              <a:lnSpc>
                <a:spcPts val="1700"/>
              </a:lnSpc>
              <a:buNone/>
            </a:pPr>
            <a:r>
              <a:rPr lang="en-US" sz="1250" dirty="0">
                <a:solidFill>
                  <a:srgbClr val="374151"/>
                </a:solidFill>
                <a:latin typeface="Calibri" pitchFamily="34" charset="0"/>
                <a:ea typeface="Calibri" pitchFamily="34" charset="-122"/>
                <a:cs typeface="Calibri" pitchFamily="34" charset="-120"/>
              </a:rPr>
              <a:t>Writes a closing summary, then creates a zero-byte flag file. That is the entire extent of its authority over the reset.</a:t>
            </a:r>
            <a:endParaRPr lang="en-US" sz="1250" dirty="0"/>
          </a:p>
        </p:txBody>
      </p:sp>
      <p:sp>
        <p:nvSpPr>
          <p:cNvPr id="8" name="Text 6"/>
          <p:cNvSpPr txBox="1"/>
          <p:nvPr/>
        </p:nvSpPr>
        <p:spPr>
          <a:xfrm>
            <a:off x="3858768" y="2304288"/>
            <a:ext cx="457200" cy="457200"/>
          </a:xfrm>
          <a:prstGeom prst="rect">
            <a:avLst/>
          </a:prstGeom>
          <a:noFill/>
          <a:ln/>
        </p:spPr>
        <p:txBody>
          <a:bodyPr wrap="square" lIns="0" tIns="0" rIns="0" bIns="0" rtlCol="0" anchor="ctr"/>
          <a:lstStyle/>
          <a:p>
            <a:pPr algn="ctr" indent="0" marL="0">
              <a:buNone/>
            </a:pPr>
            <a:r>
              <a:rPr lang="en-US" sz="2200" dirty="0">
                <a:solidFill>
                  <a:srgbClr val="D1D5DB"/>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4407408" y="1481328"/>
            <a:ext cx="7196328" cy="2103120"/>
          </a:xfrm>
          <a:prstGeom prst="rect">
            <a:avLst/>
          </a:prstGeom>
          <a:solidFill>
            <a:srgbClr val="FFFFFF"/>
          </a:solidFill>
          <a:ln w="12700">
            <a:solidFill>
              <a:srgbClr val="D1D5DB"/>
            </a:solidFill>
            <a:prstDash val="solid"/>
          </a:ln>
        </p:spPr>
      </p:sp>
      <p:sp>
        <p:nvSpPr>
          <p:cNvPr id="10" name="Text 8"/>
          <p:cNvSpPr txBox="1"/>
          <p:nvPr/>
        </p:nvSpPr>
        <p:spPr>
          <a:xfrm>
            <a:off x="4681728" y="1700784"/>
            <a:ext cx="3657600" cy="237744"/>
          </a:xfrm>
          <a:prstGeom prst="rect">
            <a:avLst/>
          </a:prstGeom>
          <a:noFill/>
          <a:ln/>
        </p:spPr>
        <p:txBody>
          <a:bodyPr wrap="square" lIns="0" tIns="0" rIns="0" bIns="0" rtlCol="0" anchor="ctr"/>
          <a:lstStyle/>
          <a:p>
            <a:pPr indent="0" marL="0">
              <a:buNone/>
            </a:pPr>
            <a:r>
              <a:rPr lang="en-US" sz="1050" b="1" spc="160" kern="0" dirty="0">
                <a:solidFill>
                  <a:srgbClr val="B45309"/>
                </a:solidFill>
                <a:latin typeface="Calibri" pitchFamily="34" charset="0"/>
                <a:ea typeface="Calibri" pitchFamily="34" charset="-122"/>
                <a:cs typeface="Calibri" pitchFamily="34" charset="-120"/>
              </a:rPr>
              <a:t>HOST AUTHORITY</a:t>
            </a:r>
            <a:endParaRPr lang="en-US" sz="1050" dirty="0"/>
          </a:p>
        </p:txBody>
      </p:sp>
      <p:sp>
        <p:nvSpPr>
          <p:cNvPr id="11" name="Text 9"/>
          <p:cNvSpPr txBox="1"/>
          <p:nvPr/>
        </p:nvSpPr>
        <p:spPr>
          <a:xfrm>
            <a:off x="4681728" y="1975104"/>
            <a:ext cx="6583680" cy="347472"/>
          </a:xfrm>
          <a:prstGeom prst="rect">
            <a:avLst/>
          </a:prstGeom>
          <a:noFill/>
          <a:ln/>
        </p:spPr>
        <p:txBody>
          <a:bodyPr wrap="square" lIns="0" tIns="0" rIns="0" bIns="0" rtlCol="0" anchor="ctr"/>
          <a:lstStyle/>
          <a:p>
            <a:pPr indent="0" marL="0">
              <a:buNone/>
            </a:pPr>
            <a:r>
              <a:rPr lang="en-US" sz="1650" b="1" dirty="0">
                <a:solidFill>
                  <a:srgbClr val="1F2937"/>
                </a:solidFill>
                <a:latin typeface="Cambria" pitchFamily="34" charset="0"/>
                <a:ea typeface="Cambria" pitchFamily="34" charset="-122"/>
                <a:cs typeface="Cambria" pitchFamily="34" charset="-120"/>
              </a:rPr>
              <a:t>Performs the irreversible work</a:t>
            </a:r>
            <a:endParaRPr lang="en-US" sz="1650" dirty="0"/>
          </a:p>
        </p:txBody>
      </p:sp>
      <p:sp>
        <p:nvSpPr>
          <p:cNvPr id="12" name="Shape 10"/>
          <p:cNvSpPr/>
          <p:nvPr/>
        </p:nvSpPr>
        <p:spPr>
          <a:xfrm>
            <a:off x="4681728" y="2532888"/>
            <a:ext cx="118872" cy="118872"/>
          </a:xfrm>
          <a:prstGeom prst="rect">
            <a:avLst/>
          </a:prstGeom>
          <a:solidFill>
            <a:srgbClr val="B45309"/>
          </a:solidFill>
          <a:ln w="12700">
            <a:solidFill>
              <a:srgbClr val="B45309"/>
            </a:solidFill>
            <a:prstDash val="solid"/>
          </a:ln>
        </p:spPr>
      </p:sp>
      <p:sp>
        <p:nvSpPr>
          <p:cNvPr id="13" name="Text 11"/>
          <p:cNvSpPr txBox="1"/>
          <p:nvPr/>
        </p:nvSpPr>
        <p:spPr>
          <a:xfrm>
            <a:off x="4901184" y="2441448"/>
            <a:ext cx="2011680" cy="310896"/>
          </a:xfrm>
          <a:prstGeom prst="rect">
            <a:avLst/>
          </a:prstGeom>
          <a:noFill/>
          <a:ln/>
        </p:spPr>
        <p:txBody>
          <a:bodyPr wrap="square" lIns="0" tIns="0" rIns="0" bIns="0" rtlCol="0" anchor="ctr"/>
          <a:lstStyle/>
          <a:p>
            <a:pPr indent="0" marL="0">
              <a:buNone/>
            </a:pPr>
            <a:r>
              <a:rPr lang="en-US" sz="1200" dirty="0">
                <a:solidFill>
                  <a:srgbClr val="374151"/>
                </a:solidFill>
                <a:latin typeface="Calibri" pitchFamily="34" charset="0"/>
                <a:ea typeface="Calibri" pitchFamily="34" charset="-122"/>
                <a:cs typeface="Calibri" pitchFamily="34" charset="-120"/>
              </a:rPr>
              <a:t>1. Snapshot the canvas</a:t>
            </a:r>
            <a:endParaRPr lang="en-US" sz="1200" dirty="0"/>
          </a:p>
        </p:txBody>
      </p:sp>
      <p:sp>
        <p:nvSpPr>
          <p:cNvPr id="14" name="Shape 12"/>
          <p:cNvSpPr/>
          <p:nvPr/>
        </p:nvSpPr>
        <p:spPr>
          <a:xfrm>
            <a:off x="6949440" y="2532888"/>
            <a:ext cx="118872" cy="118872"/>
          </a:xfrm>
          <a:prstGeom prst="rect">
            <a:avLst/>
          </a:prstGeom>
          <a:solidFill>
            <a:srgbClr val="B45309"/>
          </a:solidFill>
          <a:ln w="12700">
            <a:solidFill>
              <a:srgbClr val="B45309"/>
            </a:solidFill>
            <a:prstDash val="solid"/>
          </a:ln>
        </p:spPr>
      </p:sp>
      <p:sp>
        <p:nvSpPr>
          <p:cNvPr id="15" name="Text 13"/>
          <p:cNvSpPr txBox="1"/>
          <p:nvPr/>
        </p:nvSpPr>
        <p:spPr>
          <a:xfrm>
            <a:off x="7168896" y="2441448"/>
            <a:ext cx="2011680" cy="310896"/>
          </a:xfrm>
          <a:prstGeom prst="rect">
            <a:avLst/>
          </a:prstGeom>
          <a:noFill/>
          <a:ln/>
        </p:spPr>
        <p:txBody>
          <a:bodyPr wrap="square" lIns="0" tIns="0" rIns="0" bIns="0" rtlCol="0" anchor="ctr"/>
          <a:lstStyle/>
          <a:p>
            <a:pPr indent="0" marL="0">
              <a:buNone/>
            </a:pPr>
            <a:r>
              <a:rPr lang="en-US" sz="1200" dirty="0">
                <a:solidFill>
                  <a:srgbClr val="374151"/>
                </a:solidFill>
                <a:latin typeface="Calibri" pitchFamily="34" charset="0"/>
                <a:ea typeface="Calibri" pitchFamily="34" charset="-122"/>
                <a:cs typeface="Calibri" pitchFamily="34" charset="-120"/>
              </a:rPr>
              <a:t>2. Append to the ledger</a:t>
            </a:r>
            <a:endParaRPr lang="en-US" sz="1200" dirty="0"/>
          </a:p>
        </p:txBody>
      </p:sp>
      <p:sp>
        <p:nvSpPr>
          <p:cNvPr id="16" name="Shape 14"/>
          <p:cNvSpPr/>
          <p:nvPr/>
        </p:nvSpPr>
        <p:spPr>
          <a:xfrm>
            <a:off x="9217152" y="2532888"/>
            <a:ext cx="118872" cy="118872"/>
          </a:xfrm>
          <a:prstGeom prst="rect">
            <a:avLst/>
          </a:prstGeom>
          <a:solidFill>
            <a:srgbClr val="B45309"/>
          </a:solidFill>
          <a:ln w="12700">
            <a:solidFill>
              <a:srgbClr val="B45309"/>
            </a:solidFill>
            <a:prstDash val="solid"/>
          </a:ln>
        </p:spPr>
      </p:sp>
      <p:sp>
        <p:nvSpPr>
          <p:cNvPr id="17" name="Text 15"/>
          <p:cNvSpPr txBox="1"/>
          <p:nvPr/>
        </p:nvSpPr>
        <p:spPr>
          <a:xfrm>
            <a:off x="9436608" y="2441448"/>
            <a:ext cx="2011680" cy="310896"/>
          </a:xfrm>
          <a:prstGeom prst="rect">
            <a:avLst/>
          </a:prstGeom>
          <a:noFill/>
          <a:ln/>
        </p:spPr>
        <p:txBody>
          <a:bodyPr wrap="square" lIns="0" tIns="0" rIns="0" bIns="0" rtlCol="0" anchor="ctr"/>
          <a:lstStyle/>
          <a:p>
            <a:pPr indent="0" marL="0">
              <a:buNone/>
            </a:pPr>
            <a:r>
              <a:rPr lang="en-US" sz="1200" dirty="0">
                <a:solidFill>
                  <a:srgbClr val="374151"/>
                </a:solidFill>
                <a:latin typeface="Calibri" pitchFamily="34" charset="0"/>
                <a:ea typeface="Calibri" pitchFamily="34" charset="-122"/>
                <a:cs typeface="Calibri" pitchFamily="34" charset="-120"/>
              </a:rPr>
              <a:t>3. Cut an immutable tag</a:t>
            </a:r>
            <a:endParaRPr lang="en-US" sz="1200" dirty="0"/>
          </a:p>
        </p:txBody>
      </p:sp>
      <p:sp>
        <p:nvSpPr>
          <p:cNvPr id="18" name="Shape 16"/>
          <p:cNvSpPr/>
          <p:nvPr/>
        </p:nvSpPr>
        <p:spPr>
          <a:xfrm>
            <a:off x="4681728" y="3035808"/>
            <a:ext cx="118872" cy="118872"/>
          </a:xfrm>
          <a:prstGeom prst="rect">
            <a:avLst/>
          </a:prstGeom>
          <a:solidFill>
            <a:srgbClr val="B45309"/>
          </a:solidFill>
          <a:ln w="12700">
            <a:solidFill>
              <a:srgbClr val="B45309"/>
            </a:solidFill>
            <a:prstDash val="solid"/>
          </a:ln>
        </p:spPr>
      </p:sp>
      <p:sp>
        <p:nvSpPr>
          <p:cNvPr id="19" name="Text 17"/>
          <p:cNvSpPr txBox="1"/>
          <p:nvPr/>
        </p:nvSpPr>
        <p:spPr>
          <a:xfrm>
            <a:off x="4901184" y="2944368"/>
            <a:ext cx="2011680" cy="310896"/>
          </a:xfrm>
          <a:prstGeom prst="rect">
            <a:avLst/>
          </a:prstGeom>
          <a:noFill/>
          <a:ln/>
        </p:spPr>
        <p:txBody>
          <a:bodyPr wrap="square" lIns="0" tIns="0" rIns="0" bIns="0" rtlCol="0" anchor="ctr"/>
          <a:lstStyle/>
          <a:p>
            <a:pPr indent="0" marL="0">
              <a:buNone/>
            </a:pPr>
            <a:r>
              <a:rPr lang="en-US" sz="1200" dirty="0">
                <a:solidFill>
                  <a:srgbClr val="374151"/>
                </a:solidFill>
                <a:latin typeface="Calibri" pitchFamily="34" charset="0"/>
                <a:ea typeface="Calibri" pitchFamily="34" charset="-122"/>
                <a:cs typeface="Calibri" pitchFamily="34" charset="-120"/>
              </a:rPr>
              <a:t>4. Rotate the model alias</a:t>
            </a:r>
            <a:endParaRPr lang="en-US" sz="1200" dirty="0"/>
          </a:p>
        </p:txBody>
      </p:sp>
      <p:sp>
        <p:nvSpPr>
          <p:cNvPr id="20" name="Shape 18"/>
          <p:cNvSpPr/>
          <p:nvPr/>
        </p:nvSpPr>
        <p:spPr>
          <a:xfrm>
            <a:off x="6949440" y="3035808"/>
            <a:ext cx="118872" cy="118872"/>
          </a:xfrm>
          <a:prstGeom prst="rect">
            <a:avLst/>
          </a:prstGeom>
          <a:solidFill>
            <a:srgbClr val="B45309"/>
          </a:solidFill>
          <a:ln w="12700">
            <a:solidFill>
              <a:srgbClr val="B45309"/>
            </a:solidFill>
            <a:prstDash val="solid"/>
          </a:ln>
        </p:spPr>
      </p:sp>
      <p:sp>
        <p:nvSpPr>
          <p:cNvPr id="21" name="Text 19"/>
          <p:cNvSpPr txBox="1"/>
          <p:nvPr/>
        </p:nvSpPr>
        <p:spPr>
          <a:xfrm>
            <a:off x="7168896" y="2944368"/>
            <a:ext cx="2011680" cy="310896"/>
          </a:xfrm>
          <a:prstGeom prst="rect">
            <a:avLst/>
          </a:prstGeom>
          <a:noFill/>
          <a:ln/>
        </p:spPr>
        <p:txBody>
          <a:bodyPr wrap="square" lIns="0" tIns="0" rIns="0" bIns="0" rtlCol="0" anchor="ctr"/>
          <a:lstStyle/>
          <a:p>
            <a:pPr indent="0" marL="0">
              <a:buNone/>
            </a:pPr>
            <a:r>
              <a:rPr lang="en-US" sz="1200" dirty="0">
                <a:solidFill>
                  <a:srgbClr val="374151"/>
                </a:solidFill>
                <a:latin typeface="Calibri" pitchFamily="34" charset="0"/>
                <a:ea typeface="Calibri" pitchFamily="34" charset="-122"/>
                <a:cs typeface="Calibri" pitchFamily="34" charset="-120"/>
              </a:rPr>
              <a:t>5. Wipe and reseed</a:t>
            </a:r>
            <a:endParaRPr lang="en-US" sz="1200" dirty="0"/>
          </a:p>
        </p:txBody>
      </p:sp>
      <p:sp>
        <p:nvSpPr>
          <p:cNvPr id="22" name="Shape 20"/>
          <p:cNvSpPr/>
          <p:nvPr/>
        </p:nvSpPr>
        <p:spPr>
          <a:xfrm>
            <a:off x="9217152" y="3035808"/>
            <a:ext cx="118872" cy="118872"/>
          </a:xfrm>
          <a:prstGeom prst="rect">
            <a:avLst/>
          </a:prstGeom>
          <a:solidFill>
            <a:srgbClr val="B45309"/>
          </a:solidFill>
          <a:ln w="12700">
            <a:solidFill>
              <a:srgbClr val="B45309"/>
            </a:solidFill>
            <a:prstDash val="solid"/>
          </a:ln>
        </p:spPr>
      </p:sp>
      <p:sp>
        <p:nvSpPr>
          <p:cNvPr id="23" name="Text 21"/>
          <p:cNvSpPr txBox="1"/>
          <p:nvPr/>
        </p:nvSpPr>
        <p:spPr>
          <a:xfrm>
            <a:off x="9436608" y="2944368"/>
            <a:ext cx="2011680" cy="310896"/>
          </a:xfrm>
          <a:prstGeom prst="rect">
            <a:avLst/>
          </a:prstGeom>
          <a:noFill/>
          <a:ln/>
        </p:spPr>
        <p:txBody>
          <a:bodyPr wrap="square" lIns="0" tIns="0" rIns="0" bIns="0" rtlCol="0" anchor="ctr"/>
          <a:lstStyle/>
          <a:p>
            <a:pPr indent="0" marL="0">
              <a:buNone/>
            </a:pPr>
            <a:r>
              <a:rPr lang="en-US" sz="1200" dirty="0">
                <a:solidFill>
                  <a:srgbClr val="374151"/>
                </a:solidFill>
                <a:latin typeface="Calibri" pitchFamily="34" charset="0"/>
                <a:ea typeface="Calibri" pitchFamily="34" charset="-122"/>
                <a:cs typeface="Calibri" pitchFamily="34" charset="-120"/>
              </a:rPr>
              <a:t>6. Rebuild the archive</a:t>
            </a:r>
            <a:endParaRPr lang="en-US" sz="1200" dirty="0"/>
          </a:p>
        </p:txBody>
      </p:sp>
      <p:sp>
        <p:nvSpPr>
          <p:cNvPr id="24" name="Shape 22"/>
          <p:cNvSpPr/>
          <p:nvPr/>
        </p:nvSpPr>
        <p:spPr>
          <a:xfrm>
            <a:off x="566928" y="3858768"/>
            <a:ext cx="11055096" cy="1287018"/>
          </a:xfrm>
          <a:prstGeom prst="rect">
            <a:avLst/>
          </a:prstGeom>
          <a:solidFill>
            <a:srgbClr val="F3F4F6"/>
          </a:solidFill>
          <a:ln w="12700">
            <a:solidFill>
              <a:srgbClr val="E5E7EB"/>
            </a:solidFill>
            <a:prstDash val="solid"/>
          </a:ln>
        </p:spPr>
      </p:sp>
      <p:sp>
        <p:nvSpPr>
          <p:cNvPr id="25" name="Text 23"/>
          <p:cNvSpPr txBox="1"/>
          <p:nvPr/>
        </p:nvSpPr>
        <p:spPr>
          <a:xfrm>
            <a:off x="877824" y="3995928"/>
            <a:ext cx="10433304" cy="292608"/>
          </a:xfrm>
          <a:prstGeom prst="rect">
            <a:avLst/>
          </a:prstGeom>
          <a:noFill/>
          <a:ln/>
        </p:spPr>
        <p:txBody>
          <a:bodyPr wrap="square" lIns="0" tIns="0" rIns="0" bIns="0" rtlCol="0" anchor="t"/>
          <a:lstStyle/>
          <a:p>
            <a:pPr indent="0" marL="0">
              <a:buNone/>
            </a:pPr>
            <a:r>
              <a:rPr lang="en-US" sz="1500" b="1" dirty="0">
                <a:solidFill>
                  <a:srgbClr val="1F2937"/>
                </a:solidFill>
                <a:latin typeface="Cambria" pitchFamily="34" charset="0"/>
                <a:ea typeface="Cambria" pitchFamily="34" charset="-122"/>
                <a:cs typeface="Cambria" pitchFamily="34" charset="-120"/>
              </a:rPr>
              <a:t>Why the inversion matters</a:t>
            </a:r>
            <a:endParaRPr lang="en-US" sz="1500" dirty="0"/>
          </a:p>
        </p:txBody>
      </p:sp>
      <p:sp>
        <p:nvSpPr>
          <p:cNvPr id="26" name="Text 24"/>
          <p:cNvSpPr txBox="1"/>
          <p:nvPr/>
        </p:nvSpPr>
        <p:spPr>
          <a:xfrm>
            <a:off x="877824" y="4370832"/>
            <a:ext cx="10433304" cy="720090"/>
          </a:xfrm>
          <a:prstGeom prst="rect">
            <a:avLst/>
          </a:prstGeom>
          <a:noFill/>
          <a:ln/>
        </p:spPr>
        <p:txBody>
          <a:bodyPr wrap="square" lIns="0" tIns="0" rIns="0" bIns="0" rtlCol="0" anchor="t"/>
          <a:lstStyle/>
          <a:p>
            <a:pPr indent="0" marL="0">
              <a:lnSpc>
                <a:spcPts val="1650"/>
              </a:lnSpc>
              <a:buNone/>
            </a:pPr>
            <a:r>
              <a:rPr lang="en-US" sz="1250" dirty="0">
                <a:solidFill>
                  <a:srgbClr val="374151"/>
                </a:solidFill>
                <a:latin typeface="Calibri" pitchFamily="34" charset="0"/>
                <a:ea typeface="Calibri" pitchFamily="34" charset="-122"/>
                <a:cs typeface="Calibri" pitchFamily="34" charset="-120"/>
              </a:rPr>
              <a:t>The agent's most dangerous capability — deleting a week of published work — is reduced to writing an empty file. The script that acts on it runs outside the sandbox and can refuse. </a:t>
            </a:r>
            <a:pPr indent="0" marL="0">
              <a:lnSpc>
                <a:spcPts val="1650"/>
              </a:lnSpc>
              <a:buNone/>
            </a:pPr>
            <a:r>
              <a:rPr lang="en-US" sz="1250" b="1" dirty="0">
                <a:solidFill>
                  <a:srgbClr val="1F2937"/>
                </a:solidFill>
                <a:latin typeface="Calibri" pitchFamily="34" charset="0"/>
                <a:ea typeface="Calibri" pitchFamily="34" charset="-122"/>
                <a:cs typeface="Calibri" pitchFamily="34" charset="-120"/>
              </a:rPr>
              <a:t>Generalises to any irreversible operation: deletions, migrations, sends, payments, production cutovers.</a:t>
            </a:r>
            <a:endParaRPr lang="en-US" sz="1250" dirty="0"/>
          </a:p>
        </p:txBody>
      </p:sp>
      <p:sp>
        <p:nvSpPr>
          <p:cNvPr id="27" name="Shape 25"/>
          <p:cNvSpPr/>
          <p:nvPr/>
        </p:nvSpPr>
        <p:spPr>
          <a:xfrm>
            <a:off x="566928" y="5420106"/>
            <a:ext cx="11055096" cy="1077468"/>
          </a:xfrm>
          <a:prstGeom prst="rect">
            <a:avLst/>
          </a:prstGeom>
          <a:solidFill>
            <a:srgbClr val="F3F4F6"/>
          </a:solidFill>
          <a:ln w="12700">
            <a:solidFill>
              <a:srgbClr val="E5E7EB"/>
            </a:solidFill>
            <a:prstDash val="solid"/>
          </a:ln>
        </p:spPr>
      </p:sp>
      <p:sp>
        <p:nvSpPr>
          <p:cNvPr id="28" name="Text 26"/>
          <p:cNvSpPr txBox="1"/>
          <p:nvPr/>
        </p:nvSpPr>
        <p:spPr>
          <a:xfrm>
            <a:off x="877824" y="5557266"/>
            <a:ext cx="10433304" cy="292608"/>
          </a:xfrm>
          <a:prstGeom prst="rect">
            <a:avLst/>
          </a:prstGeom>
          <a:noFill/>
          <a:ln/>
        </p:spPr>
        <p:txBody>
          <a:bodyPr wrap="square" lIns="0" tIns="0" rIns="0" bIns="0" rtlCol="0" anchor="t"/>
          <a:lstStyle/>
          <a:p>
            <a:pPr indent="0" marL="0">
              <a:buNone/>
            </a:pPr>
            <a:r>
              <a:rPr lang="en-US" sz="1500" b="1" dirty="0">
                <a:solidFill>
                  <a:srgbClr val="1F2937"/>
                </a:solidFill>
                <a:latin typeface="Cambria" pitchFamily="34" charset="0"/>
                <a:ea typeface="Cambria" pitchFamily="34" charset="-122"/>
                <a:cs typeface="Cambria" pitchFamily="34" charset="-120"/>
              </a:rPr>
              <a:t>State that survives the reset, by design</a:t>
            </a:r>
            <a:endParaRPr lang="en-US" sz="1500" dirty="0"/>
          </a:p>
        </p:txBody>
      </p:sp>
      <p:sp>
        <p:nvSpPr>
          <p:cNvPr id="29" name="Text 27"/>
          <p:cNvSpPr txBox="1"/>
          <p:nvPr/>
        </p:nvSpPr>
        <p:spPr>
          <a:xfrm>
            <a:off x="877824" y="5932170"/>
            <a:ext cx="10433304" cy="510540"/>
          </a:xfrm>
          <a:prstGeom prst="rect">
            <a:avLst/>
          </a:prstGeom>
          <a:noFill/>
          <a:ln/>
        </p:spPr>
        <p:txBody>
          <a:bodyPr wrap="square" lIns="0" tIns="0" rIns="0" bIns="0" rtlCol="0" anchor="t"/>
          <a:lstStyle/>
          <a:p>
            <a:pPr indent="0" marL="0">
              <a:lnSpc>
                <a:spcPts val="1650"/>
              </a:lnSpc>
              <a:buNone/>
            </a:pPr>
            <a:r>
              <a:rPr lang="en-US" sz="1250" dirty="0">
                <a:solidFill>
                  <a:srgbClr val="374151"/>
                </a:solidFill>
                <a:latin typeface="Calibri" pitchFamily="34" charset="0"/>
                <a:ea typeface="Calibri" pitchFamily="34" charset="-122"/>
                <a:cs typeface="Calibri" pitchFamily="34" charset="-120"/>
              </a:rPr>
              <a:t>The canvas is wiped weekly; the agent's memory and working directories are untouched. It loses the artifact and keeps the learning. </a:t>
            </a:r>
            <a:pPr indent="0" marL="0">
              <a:lnSpc>
                <a:spcPts val="1650"/>
              </a:lnSpc>
              <a:buNone/>
            </a:pPr>
            <a:r>
              <a:rPr lang="en-US" sz="1250" b="1" dirty="0">
                <a:solidFill>
                  <a:srgbClr val="1F2937"/>
                </a:solidFill>
                <a:latin typeface="Calibri" pitchFamily="34" charset="0"/>
                <a:ea typeface="Calibri" pitchFamily="34" charset="-122"/>
                <a:cs typeface="Calibri" pitchFamily="34" charset="-120"/>
              </a:rPr>
              <a:t>Separating disposable output from durable state</a:t>
            </a:r>
            <a:pPr indent="0" marL="0">
              <a:lnSpc>
                <a:spcPts val="1650"/>
              </a:lnSpc>
              <a:buNone/>
            </a:pPr>
            <a:r>
              <a:rPr lang="en-US" sz="1250" dirty="0">
                <a:solidFill>
                  <a:srgbClr val="374151"/>
                </a:solidFill>
                <a:latin typeface="Calibri" pitchFamily="34" charset="0"/>
                <a:ea typeface="Calibri" pitchFamily="34" charset="-122"/>
                <a:cs typeface="Calibri" pitchFamily="34" charset="-120"/>
              </a:rPr>
              <a:t> is what makes an aggressive reset cadence safe enough to automate.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66928" y="2331720"/>
            <a:ext cx="7315200" cy="320040"/>
          </a:xfrm>
          <a:prstGeom prst="rect">
            <a:avLst/>
          </a:prstGeom>
          <a:noFill/>
          <a:ln/>
        </p:spPr>
        <p:txBody>
          <a:bodyPr wrap="square" lIns="0" tIns="0" rIns="0" bIns="0" rtlCol="0" anchor="ctr"/>
          <a:lstStyle/>
          <a:p>
            <a:pPr indent="0" marL="0">
              <a:buNone/>
            </a:pPr>
            <a:r>
              <a:rPr lang="en-US" sz="1400" b="1" spc="300" kern="0" dirty="0">
                <a:solidFill>
                  <a:srgbClr val="B45309"/>
                </a:solidFill>
                <a:latin typeface="Calibri" pitchFamily="34" charset="0"/>
                <a:ea typeface="Calibri" pitchFamily="34" charset="-122"/>
                <a:cs typeface="Calibri" pitchFamily="34" charset="-120"/>
              </a:rPr>
              <a:t>PART THREE</a:t>
            </a:r>
            <a:endParaRPr lang="en-US" sz="1400" dirty="0"/>
          </a:p>
        </p:txBody>
      </p:sp>
      <p:sp>
        <p:nvSpPr>
          <p:cNvPr id="3" name="Text 1"/>
          <p:cNvSpPr txBox="1"/>
          <p:nvPr/>
        </p:nvSpPr>
        <p:spPr>
          <a:xfrm>
            <a:off x="566928" y="2788920"/>
            <a:ext cx="105156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deployment pipeline</a:t>
            </a:r>
            <a:endParaRPr lang="en-US" sz="4000" dirty="0"/>
          </a:p>
        </p:txBody>
      </p:sp>
      <p:sp>
        <p:nvSpPr>
          <p:cNvPr id="4" name="Text 2"/>
          <p:cNvSpPr txBox="1"/>
          <p:nvPr/>
        </p:nvSpPr>
        <p:spPr>
          <a:xfrm>
            <a:off x="566928" y="3794760"/>
            <a:ext cx="9601200" cy="548640"/>
          </a:xfrm>
          <a:prstGeom prst="rect">
            <a:avLst/>
          </a:prstGeom>
          <a:noFill/>
          <a:ln/>
        </p:spPr>
        <p:txBody>
          <a:bodyPr wrap="square" lIns="0" tIns="0" rIns="0" bIns="0" rtlCol="0" anchor="ctr"/>
          <a:lstStyle/>
          <a:p>
            <a:pPr indent="0" marL="0">
              <a:buNone/>
            </a:pPr>
            <a:r>
              <a:rPr lang="en-US" sz="1600" dirty="0">
                <a:solidFill>
                  <a:srgbClr val="93C5FD"/>
                </a:solidFill>
                <a:latin typeface="Calibri" pitchFamily="34" charset="0"/>
                <a:ea typeface="Calibri" pitchFamily="34" charset="-122"/>
                <a:cs typeface="Calibri" pitchFamily="34" charset="-120"/>
              </a:rPr>
              <a:t>The reproducible artifact: canvas to edge, unattended.</a:t>
            </a:r>
            <a:endParaRPr lang="en-US" sz="1600" dirty="0"/>
          </a:p>
        </p:txBody>
      </p:sp>
      <p:sp>
        <p:nvSpPr>
          <p:cNvPr id="5" name="Shape 3"/>
          <p:cNvSpPr/>
          <p:nvPr/>
        </p:nvSpPr>
        <p:spPr>
          <a:xfrm>
            <a:off x="566928" y="4709160"/>
            <a:ext cx="137160" cy="137160"/>
          </a:xfrm>
          <a:prstGeom prst="rect">
            <a:avLst/>
          </a:prstGeom>
          <a:solidFill>
            <a:srgbClr val="B45309"/>
          </a:solidFill>
          <a:ln w="12700">
            <a:solidFill>
              <a:srgbClr val="B45309"/>
            </a:solidFill>
            <a:prstDash val="solid"/>
          </a:ln>
        </p:spPr>
      </p:sp>
      <p:sp>
        <p:nvSpPr>
          <p:cNvPr id="6" name="Shape 4"/>
          <p:cNvSpPr/>
          <p:nvPr/>
        </p:nvSpPr>
        <p:spPr>
          <a:xfrm>
            <a:off x="822960" y="4709160"/>
            <a:ext cx="137160" cy="137160"/>
          </a:xfrm>
          <a:prstGeom prst="rect">
            <a:avLst/>
          </a:prstGeom>
          <a:solidFill>
            <a:srgbClr val="0E7490"/>
          </a:solidFill>
          <a:ln w="12700">
            <a:solidFill>
              <a:srgbClr val="0E7490"/>
            </a:solidFill>
            <a:prstDash val="solid"/>
          </a:ln>
        </p:spPr>
      </p:sp>
      <p:sp>
        <p:nvSpPr>
          <p:cNvPr id="7" name="Shape 5"/>
          <p:cNvSpPr/>
          <p:nvPr/>
        </p:nvSpPr>
        <p:spPr>
          <a:xfrm>
            <a:off x="1078992" y="4709160"/>
            <a:ext cx="137160" cy="137160"/>
          </a:xfrm>
          <a:prstGeom prst="rect">
            <a:avLst/>
          </a:prstGeom>
          <a:solidFill>
            <a:srgbClr val="6D28D9"/>
          </a:solidFill>
          <a:ln w="12700">
            <a:solidFill>
              <a:srgbClr val="6D28D9"/>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347472"/>
            <a:ext cx="11055096" cy="566928"/>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The pipeline, end to end</a:t>
            </a:r>
            <a:endParaRPr lang="en-US" sz="3000" dirty="0"/>
          </a:p>
        </p:txBody>
      </p:sp>
      <p:sp>
        <p:nvSpPr>
          <p:cNvPr id="3" name="Text 1"/>
          <p:cNvSpPr txBox="1"/>
          <p:nvPr/>
        </p:nvSpPr>
        <p:spPr>
          <a:xfrm>
            <a:off x="566928" y="914400"/>
            <a:ext cx="11055096" cy="329184"/>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Seven stages. The agent participates in three of them and controls none of the gates.</a:t>
            </a:r>
            <a:endParaRPr lang="en-US" sz="1400" dirty="0"/>
          </a:p>
        </p:txBody>
      </p:sp>
      <p:sp>
        <p:nvSpPr>
          <p:cNvPr id="4" name="Shape 2"/>
          <p:cNvSpPr/>
          <p:nvPr/>
        </p:nvSpPr>
        <p:spPr>
          <a:xfrm>
            <a:off x="566928" y="1481328"/>
            <a:ext cx="1481328" cy="2377440"/>
          </a:xfrm>
          <a:prstGeom prst="rect">
            <a:avLst/>
          </a:prstGeom>
          <a:solidFill>
            <a:srgbClr val="FFFFFF"/>
          </a:solidFill>
          <a:ln w="12700">
            <a:solidFill>
              <a:srgbClr val="E5E7EB"/>
            </a:solidFill>
            <a:prstDash val="solid"/>
          </a:ln>
        </p:spPr>
      </p:sp>
      <p:sp>
        <p:nvSpPr>
          <p:cNvPr id="5" name="Shape 3"/>
          <p:cNvSpPr/>
          <p:nvPr/>
        </p:nvSpPr>
        <p:spPr>
          <a:xfrm>
            <a:off x="566928" y="1481328"/>
            <a:ext cx="1481328" cy="310896"/>
          </a:xfrm>
          <a:prstGeom prst="rect">
            <a:avLst/>
          </a:prstGeom>
          <a:solidFill>
            <a:srgbClr val="6D28D9"/>
          </a:solidFill>
          <a:ln w="12700">
            <a:solidFill>
              <a:srgbClr val="6D28D9"/>
            </a:solidFill>
            <a:prstDash val="solid"/>
          </a:ln>
        </p:spPr>
      </p:sp>
      <p:sp>
        <p:nvSpPr>
          <p:cNvPr id="6" name="Text 4"/>
          <p:cNvSpPr txBox="1"/>
          <p:nvPr/>
        </p:nvSpPr>
        <p:spPr>
          <a:xfrm>
            <a:off x="658368" y="1517904"/>
            <a:ext cx="1298448" cy="237744"/>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AGENT</a:t>
            </a:r>
            <a:endParaRPr lang="en-US" sz="900" dirty="0"/>
          </a:p>
        </p:txBody>
      </p:sp>
      <p:sp>
        <p:nvSpPr>
          <p:cNvPr id="7" name="Text 5"/>
          <p:cNvSpPr txBox="1"/>
          <p:nvPr/>
        </p:nvSpPr>
        <p:spPr>
          <a:xfrm>
            <a:off x="731520" y="1901952"/>
            <a:ext cx="1152144" cy="310896"/>
          </a:xfrm>
          <a:prstGeom prst="rect">
            <a:avLst/>
          </a:prstGeom>
          <a:noFill/>
          <a:ln/>
        </p:spPr>
        <p:txBody>
          <a:bodyPr wrap="square" lIns="0" tIns="0" rIns="0" bIns="0" rtlCol="0" anchor="ctr"/>
          <a:lstStyle/>
          <a:p>
            <a:pPr indent="0" marL="0">
              <a:buNone/>
            </a:pPr>
            <a:r>
              <a:rPr lang="en-US" sz="1100" b="1" spc="140" kern="0" dirty="0">
                <a:solidFill>
                  <a:srgbClr val="6D28D9"/>
                </a:solidFill>
                <a:latin typeface="Calibri" pitchFamily="34" charset="0"/>
                <a:ea typeface="Calibri" pitchFamily="34" charset="-122"/>
                <a:cs typeface="Calibri" pitchFamily="34" charset="-120"/>
              </a:rPr>
              <a:t>01</a:t>
            </a:r>
            <a:endParaRPr lang="en-US" sz="1100" dirty="0"/>
          </a:p>
        </p:txBody>
      </p:sp>
      <p:sp>
        <p:nvSpPr>
          <p:cNvPr id="8" name="Text 6"/>
          <p:cNvSpPr txBox="1"/>
          <p:nvPr/>
        </p:nvSpPr>
        <p:spPr>
          <a:xfrm>
            <a:off x="731520" y="2194560"/>
            <a:ext cx="1152144" cy="347472"/>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Wake</a:t>
            </a:r>
            <a:endParaRPr lang="en-US" sz="1600" dirty="0"/>
          </a:p>
        </p:txBody>
      </p:sp>
      <p:sp>
        <p:nvSpPr>
          <p:cNvPr id="9" name="Text 7"/>
          <p:cNvSpPr txBox="1"/>
          <p:nvPr/>
        </p:nvSpPr>
        <p:spPr>
          <a:xfrm>
            <a:off x="731520" y="2560320"/>
            <a:ext cx="1152144" cy="1188720"/>
          </a:xfrm>
          <a:prstGeom prst="rect">
            <a:avLst/>
          </a:prstGeom>
          <a:noFill/>
          <a:ln/>
        </p:spPr>
        <p:txBody>
          <a:bodyPr wrap="square" lIns="0" tIns="0" rIns="0" bIns="0" rtlCol="0" anchor="t"/>
          <a:lstStyle/>
          <a:p>
            <a:pPr indent="0" marL="0">
              <a:lnSpc>
                <a:spcPts val="1400"/>
              </a:lnSpc>
              <a:buNone/>
            </a:pPr>
            <a:r>
              <a:rPr lang="en-US" sz="1050" dirty="0">
                <a:solidFill>
                  <a:srgbClr val="374151"/>
                </a:solidFill>
                <a:latin typeface="Calibri" pitchFamily="34" charset="0"/>
                <a:ea typeface="Calibri" pitchFamily="34" charset="-122"/>
                <a:cs typeface="Calibri" pitchFamily="34" charset="-120"/>
              </a:rPr>
              <a:t>Scheduled job dispatches a prompt. No memory of the prior run beyond the memory plane.</a:t>
            </a:r>
            <a:endParaRPr lang="en-US" sz="1050" dirty="0"/>
          </a:p>
        </p:txBody>
      </p:sp>
      <p:sp>
        <p:nvSpPr>
          <p:cNvPr id="10" name="Shape 8"/>
          <p:cNvSpPr/>
          <p:nvPr/>
        </p:nvSpPr>
        <p:spPr>
          <a:xfrm>
            <a:off x="2171700" y="1481328"/>
            <a:ext cx="1481328" cy="2377440"/>
          </a:xfrm>
          <a:prstGeom prst="rect">
            <a:avLst/>
          </a:prstGeom>
          <a:solidFill>
            <a:srgbClr val="FFFFFF"/>
          </a:solidFill>
          <a:ln w="12700">
            <a:solidFill>
              <a:srgbClr val="E5E7EB"/>
            </a:solidFill>
            <a:prstDash val="solid"/>
          </a:ln>
        </p:spPr>
      </p:sp>
      <p:sp>
        <p:nvSpPr>
          <p:cNvPr id="11" name="Shape 9"/>
          <p:cNvSpPr/>
          <p:nvPr/>
        </p:nvSpPr>
        <p:spPr>
          <a:xfrm>
            <a:off x="2171700" y="1481328"/>
            <a:ext cx="1481328" cy="310896"/>
          </a:xfrm>
          <a:prstGeom prst="rect">
            <a:avLst/>
          </a:prstGeom>
          <a:solidFill>
            <a:srgbClr val="6D28D9"/>
          </a:solidFill>
          <a:ln w="12700">
            <a:solidFill>
              <a:srgbClr val="6D28D9"/>
            </a:solidFill>
            <a:prstDash val="solid"/>
          </a:ln>
        </p:spPr>
      </p:sp>
      <p:sp>
        <p:nvSpPr>
          <p:cNvPr id="12" name="Text 10"/>
          <p:cNvSpPr txBox="1"/>
          <p:nvPr/>
        </p:nvSpPr>
        <p:spPr>
          <a:xfrm>
            <a:off x="2263140" y="1517904"/>
            <a:ext cx="1298448" cy="237744"/>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AGENT</a:t>
            </a:r>
            <a:endParaRPr lang="en-US" sz="900" dirty="0"/>
          </a:p>
        </p:txBody>
      </p:sp>
      <p:sp>
        <p:nvSpPr>
          <p:cNvPr id="13" name="Text 11"/>
          <p:cNvSpPr txBox="1"/>
          <p:nvPr/>
        </p:nvSpPr>
        <p:spPr>
          <a:xfrm>
            <a:off x="2336292" y="1901952"/>
            <a:ext cx="1152144" cy="310896"/>
          </a:xfrm>
          <a:prstGeom prst="rect">
            <a:avLst/>
          </a:prstGeom>
          <a:noFill/>
          <a:ln/>
        </p:spPr>
        <p:txBody>
          <a:bodyPr wrap="square" lIns="0" tIns="0" rIns="0" bIns="0" rtlCol="0" anchor="ctr"/>
          <a:lstStyle/>
          <a:p>
            <a:pPr indent="0" marL="0">
              <a:buNone/>
            </a:pPr>
            <a:r>
              <a:rPr lang="en-US" sz="1100" b="1" spc="140" kern="0" dirty="0">
                <a:solidFill>
                  <a:srgbClr val="6D28D9"/>
                </a:solidFill>
                <a:latin typeface="Calibri" pitchFamily="34" charset="0"/>
                <a:ea typeface="Calibri" pitchFamily="34" charset="-122"/>
                <a:cs typeface="Calibri" pitchFamily="34" charset="-120"/>
              </a:rPr>
              <a:t>02</a:t>
            </a:r>
            <a:endParaRPr lang="en-US" sz="1100" dirty="0"/>
          </a:p>
        </p:txBody>
      </p:sp>
      <p:sp>
        <p:nvSpPr>
          <p:cNvPr id="14" name="Text 12"/>
          <p:cNvSpPr txBox="1"/>
          <p:nvPr/>
        </p:nvSpPr>
        <p:spPr>
          <a:xfrm>
            <a:off x="2336292" y="2194560"/>
            <a:ext cx="1152144" cy="347472"/>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Read</a:t>
            </a:r>
            <a:endParaRPr lang="en-US" sz="1600" dirty="0"/>
          </a:p>
        </p:txBody>
      </p:sp>
      <p:sp>
        <p:nvSpPr>
          <p:cNvPr id="15" name="Text 13"/>
          <p:cNvSpPr txBox="1"/>
          <p:nvPr/>
        </p:nvSpPr>
        <p:spPr>
          <a:xfrm>
            <a:off x="2336292" y="2560320"/>
            <a:ext cx="1152144" cy="1188720"/>
          </a:xfrm>
          <a:prstGeom prst="rect">
            <a:avLst/>
          </a:prstGeom>
          <a:noFill/>
          <a:ln/>
        </p:spPr>
        <p:txBody>
          <a:bodyPr wrap="square" lIns="0" tIns="0" rIns="0" bIns="0" rtlCol="0" anchor="t"/>
          <a:lstStyle/>
          <a:p>
            <a:pPr indent="0" marL="0">
              <a:lnSpc>
                <a:spcPts val="1400"/>
              </a:lnSpc>
              <a:buNone/>
            </a:pPr>
            <a:r>
              <a:rPr lang="en-US" sz="1050" dirty="0">
                <a:solidFill>
                  <a:srgbClr val="374151"/>
                </a:solidFill>
                <a:latin typeface="Calibri" pitchFamily="34" charset="0"/>
                <a:ea typeface="Calibri" pitchFamily="34" charset="-122"/>
                <a:cs typeface="Calibri" pitchFamily="34" charset="-120"/>
              </a:rPr>
              <a:t>Pulls the ranked community request queue and its own live site files.</a:t>
            </a:r>
            <a:endParaRPr lang="en-US" sz="1050" dirty="0"/>
          </a:p>
        </p:txBody>
      </p:sp>
      <p:sp>
        <p:nvSpPr>
          <p:cNvPr id="16" name="Shape 14"/>
          <p:cNvSpPr/>
          <p:nvPr/>
        </p:nvSpPr>
        <p:spPr>
          <a:xfrm>
            <a:off x="3776472" y="1481328"/>
            <a:ext cx="1481328" cy="2377440"/>
          </a:xfrm>
          <a:prstGeom prst="rect">
            <a:avLst/>
          </a:prstGeom>
          <a:solidFill>
            <a:srgbClr val="FFFFFF"/>
          </a:solidFill>
          <a:ln w="12700">
            <a:solidFill>
              <a:srgbClr val="E5E7EB"/>
            </a:solidFill>
            <a:prstDash val="solid"/>
          </a:ln>
        </p:spPr>
      </p:sp>
      <p:sp>
        <p:nvSpPr>
          <p:cNvPr id="17" name="Shape 15"/>
          <p:cNvSpPr/>
          <p:nvPr/>
        </p:nvSpPr>
        <p:spPr>
          <a:xfrm>
            <a:off x="3776472" y="1481328"/>
            <a:ext cx="1481328" cy="310896"/>
          </a:xfrm>
          <a:prstGeom prst="rect">
            <a:avLst/>
          </a:prstGeom>
          <a:solidFill>
            <a:srgbClr val="6D28D9"/>
          </a:solidFill>
          <a:ln w="12700">
            <a:solidFill>
              <a:srgbClr val="6D28D9"/>
            </a:solidFill>
            <a:prstDash val="solid"/>
          </a:ln>
        </p:spPr>
      </p:sp>
      <p:sp>
        <p:nvSpPr>
          <p:cNvPr id="18" name="Text 16"/>
          <p:cNvSpPr txBox="1"/>
          <p:nvPr/>
        </p:nvSpPr>
        <p:spPr>
          <a:xfrm>
            <a:off x="3867912" y="1517904"/>
            <a:ext cx="1298448" cy="237744"/>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AGENT</a:t>
            </a:r>
            <a:endParaRPr lang="en-US" sz="900" dirty="0"/>
          </a:p>
        </p:txBody>
      </p:sp>
      <p:sp>
        <p:nvSpPr>
          <p:cNvPr id="19" name="Text 17"/>
          <p:cNvSpPr txBox="1"/>
          <p:nvPr/>
        </p:nvSpPr>
        <p:spPr>
          <a:xfrm>
            <a:off x="3941064" y="1901952"/>
            <a:ext cx="1152144" cy="310896"/>
          </a:xfrm>
          <a:prstGeom prst="rect">
            <a:avLst/>
          </a:prstGeom>
          <a:noFill/>
          <a:ln/>
        </p:spPr>
        <p:txBody>
          <a:bodyPr wrap="square" lIns="0" tIns="0" rIns="0" bIns="0" rtlCol="0" anchor="ctr"/>
          <a:lstStyle/>
          <a:p>
            <a:pPr indent="0" marL="0">
              <a:buNone/>
            </a:pPr>
            <a:r>
              <a:rPr lang="en-US" sz="1100" b="1" spc="140" kern="0" dirty="0">
                <a:solidFill>
                  <a:srgbClr val="6D28D9"/>
                </a:solidFill>
                <a:latin typeface="Calibri" pitchFamily="34" charset="0"/>
                <a:ea typeface="Calibri" pitchFamily="34" charset="-122"/>
                <a:cs typeface="Calibri" pitchFamily="34" charset="-120"/>
              </a:rPr>
              <a:t>03</a:t>
            </a:r>
            <a:endParaRPr lang="en-US" sz="1100" dirty="0"/>
          </a:p>
        </p:txBody>
      </p:sp>
      <p:sp>
        <p:nvSpPr>
          <p:cNvPr id="20" name="Text 18"/>
          <p:cNvSpPr txBox="1"/>
          <p:nvPr/>
        </p:nvSpPr>
        <p:spPr>
          <a:xfrm>
            <a:off x="3941064" y="2194560"/>
            <a:ext cx="1152144" cy="347472"/>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Write</a:t>
            </a:r>
            <a:endParaRPr lang="en-US" sz="1600" dirty="0"/>
          </a:p>
        </p:txBody>
      </p:sp>
      <p:sp>
        <p:nvSpPr>
          <p:cNvPr id="21" name="Text 19"/>
          <p:cNvSpPr txBox="1"/>
          <p:nvPr/>
        </p:nvSpPr>
        <p:spPr>
          <a:xfrm>
            <a:off x="3941064" y="2560320"/>
            <a:ext cx="1152144" cy="1188720"/>
          </a:xfrm>
          <a:prstGeom prst="rect">
            <a:avLst/>
          </a:prstGeom>
          <a:noFill/>
          <a:ln/>
        </p:spPr>
        <p:txBody>
          <a:bodyPr wrap="square" lIns="0" tIns="0" rIns="0" bIns="0" rtlCol="0" anchor="t"/>
          <a:lstStyle/>
          <a:p>
            <a:pPr indent="0" marL="0">
              <a:lnSpc>
                <a:spcPts val="1400"/>
              </a:lnSpc>
              <a:buNone/>
            </a:pPr>
            <a:r>
              <a:rPr lang="en-US" sz="1050" dirty="0">
                <a:solidFill>
                  <a:srgbClr val="374151"/>
                </a:solidFill>
                <a:latin typeface="Calibri" pitchFamily="34" charset="0"/>
                <a:ea typeface="Calibri" pitchFamily="34" charset="-122"/>
                <a:cs typeface="Calibri" pitchFamily="34" charset="-120"/>
              </a:rPr>
              <a:t>A separate coding model generates changes directly into the canvas.</a:t>
            </a:r>
            <a:endParaRPr lang="en-US" sz="1050" dirty="0"/>
          </a:p>
        </p:txBody>
      </p:sp>
      <p:sp>
        <p:nvSpPr>
          <p:cNvPr id="22" name="Shape 20"/>
          <p:cNvSpPr/>
          <p:nvPr/>
        </p:nvSpPr>
        <p:spPr>
          <a:xfrm>
            <a:off x="5381244" y="1481328"/>
            <a:ext cx="1481328" cy="2377440"/>
          </a:xfrm>
          <a:prstGeom prst="rect">
            <a:avLst/>
          </a:prstGeom>
          <a:solidFill>
            <a:srgbClr val="FFFFFF"/>
          </a:solidFill>
          <a:ln w="12700">
            <a:solidFill>
              <a:srgbClr val="E5E7EB"/>
            </a:solidFill>
            <a:prstDash val="solid"/>
          </a:ln>
        </p:spPr>
      </p:sp>
      <p:sp>
        <p:nvSpPr>
          <p:cNvPr id="23" name="Shape 21"/>
          <p:cNvSpPr/>
          <p:nvPr/>
        </p:nvSpPr>
        <p:spPr>
          <a:xfrm>
            <a:off x="5381244" y="1481328"/>
            <a:ext cx="1481328" cy="310896"/>
          </a:xfrm>
          <a:prstGeom prst="rect">
            <a:avLst/>
          </a:prstGeom>
          <a:solidFill>
            <a:srgbClr val="0E7490"/>
          </a:solidFill>
          <a:ln w="12700">
            <a:solidFill>
              <a:srgbClr val="0E7490"/>
            </a:solidFill>
            <a:prstDash val="solid"/>
          </a:ln>
        </p:spPr>
      </p:sp>
      <p:sp>
        <p:nvSpPr>
          <p:cNvPr id="24" name="Text 22"/>
          <p:cNvSpPr txBox="1"/>
          <p:nvPr/>
        </p:nvSpPr>
        <p:spPr>
          <a:xfrm>
            <a:off x="5472684" y="1517904"/>
            <a:ext cx="1298448" cy="237744"/>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PROXY</a:t>
            </a:r>
            <a:endParaRPr lang="en-US" sz="900" dirty="0"/>
          </a:p>
        </p:txBody>
      </p:sp>
      <p:sp>
        <p:nvSpPr>
          <p:cNvPr id="25" name="Text 23"/>
          <p:cNvSpPr txBox="1"/>
          <p:nvPr/>
        </p:nvSpPr>
        <p:spPr>
          <a:xfrm>
            <a:off x="5545836" y="1901952"/>
            <a:ext cx="1152144" cy="310896"/>
          </a:xfrm>
          <a:prstGeom prst="rect">
            <a:avLst/>
          </a:prstGeom>
          <a:noFill/>
          <a:ln/>
        </p:spPr>
        <p:txBody>
          <a:bodyPr wrap="square" lIns="0" tIns="0" rIns="0" bIns="0" rtlCol="0" anchor="ctr"/>
          <a:lstStyle/>
          <a:p>
            <a:pPr indent="0" marL="0">
              <a:buNone/>
            </a:pPr>
            <a:r>
              <a:rPr lang="en-US" sz="1100" b="1" spc="140" kern="0" dirty="0">
                <a:solidFill>
                  <a:srgbClr val="0E7490"/>
                </a:solidFill>
                <a:latin typeface="Calibri" pitchFamily="34" charset="0"/>
                <a:ea typeface="Calibri" pitchFamily="34" charset="-122"/>
                <a:cs typeface="Calibri" pitchFamily="34" charset="-120"/>
              </a:rPr>
              <a:t>04</a:t>
            </a:r>
            <a:endParaRPr lang="en-US" sz="1100" dirty="0"/>
          </a:p>
        </p:txBody>
      </p:sp>
      <p:sp>
        <p:nvSpPr>
          <p:cNvPr id="26" name="Text 24"/>
          <p:cNvSpPr txBox="1"/>
          <p:nvPr/>
        </p:nvSpPr>
        <p:spPr>
          <a:xfrm>
            <a:off x="5545836" y="2194560"/>
            <a:ext cx="1152144" cy="347472"/>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Push</a:t>
            </a:r>
            <a:endParaRPr lang="en-US" sz="1600" dirty="0"/>
          </a:p>
        </p:txBody>
      </p:sp>
      <p:sp>
        <p:nvSpPr>
          <p:cNvPr id="27" name="Text 25"/>
          <p:cNvSpPr txBox="1"/>
          <p:nvPr/>
        </p:nvSpPr>
        <p:spPr>
          <a:xfrm>
            <a:off x="5545836" y="2560320"/>
            <a:ext cx="1152144" cy="1188720"/>
          </a:xfrm>
          <a:prstGeom prst="rect">
            <a:avLst/>
          </a:prstGeom>
          <a:noFill/>
          <a:ln/>
        </p:spPr>
        <p:txBody>
          <a:bodyPr wrap="square" lIns="0" tIns="0" rIns="0" bIns="0" rtlCol="0" anchor="t"/>
          <a:lstStyle/>
          <a:p>
            <a:pPr indent="0" marL="0">
              <a:lnSpc>
                <a:spcPts val="1400"/>
              </a:lnSpc>
              <a:buNone/>
            </a:pPr>
            <a:r>
              <a:rPr lang="en-US" sz="1050" dirty="0">
                <a:solidFill>
                  <a:srgbClr val="374151"/>
                </a:solidFill>
                <a:latin typeface="Calibri" pitchFamily="34" charset="0"/>
                <a:ea typeface="Calibri" pitchFamily="34" charset="-122"/>
                <a:cs typeface="Calibri" pitchFamily="34" charset="-120"/>
              </a:rPr>
              <a:t>Commit and push through the injecting proxy. Lands on a branch; never the deployed one.</a:t>
            </a:r>
            <a:endParaRPr lang="en-US" sz="1050" dirty="0"/>
          </a:p>
        </p:txBody>
      </p:sp>
      <p:sp>
        <p:nvSpPr>
          <p:cNvPr id="28" name="Shape 26"/>
          <p:cNvSpPr/>
          <p:nvPr/>
        </p:nvSpPr>
        <p:spPr>
          <a:xfrm>
            <a:off x="6986016" y="1481328"/>
            <a:ext cx="1481328" cy="2377440"/>
          </a:xfrm>
          <a:prstGeom prst="rect">
            <a:avLst/>
          </a:prstGeom>
          <a:solidFill>
            <a:srgbClr val="FFFFFF"/>
          </a:solidFill>
          <a:ln w="12700">
            <a:solidFill>
              <a:srgbClr val="E5E7EB"/>
            </a:solidFill>
            <a:prstDash val="solid"/>
          </a:ln>
        </p:spPr>
      </p:sp>
      <p:sp>
        <p:nvSpPr>
          <p:cNvPr id="29" name="Shape 27"/>
          <p:cNvSpPr/>
          <p:nvPr/>
        </p:nvSpPr>
        <p:spPr>
          <a:xfrm>
            <a:off x="6986016" y="1481328"/>
            <a:ext cx="1481328" cy="310896"/>
          </a:xfrm>
          <a:prstGeom prst="rect">
            <a:avLst/>
          </a:prstGeom>
          <a:solidFill>
            <a:srgbClr val="B45309"/>
          </a:solidFill>
          <a:ln w="12700">
            <a:solidFill>
              <a:srgbClr val="B45309"/>
            </a:solidFill>
            <a:prstDash val="solid"/>
          </a:ln>
        </p:spPr>
      </p:sp>
      <p:sp>
        <p:nvSpPr>
          <p:cNvPr id="30" name="Text 28"/>
          <p:cNvSpPr txBox="1"/>
          <p:nvPr/>
        </p:nvSpPr>
        <p:spPr>
          <a:xfrm>
            <a:off x="7077456" y="1517904"/>
            <a:ext cx="1298448" cy="237744"/>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FORGE</a:t>
            </a:r>
            <a:endParaRPr lang="en-US" sz="900" dirty="0"/>
          </a:p>
        </p:txBody>
      </p:sp>
      <p:sp>
        <p:nvSpPr>
          <p:cNvPr id="31" name="Text 29"/>
          <p:cNvSpPr txBox="1"/>
          <p:nvPr/>
        </p:nvSpPr>
        <p:spPr>
          <a:xfrm>
            <a:off x="7150608" y="1901952"/>
            <a:ext cx="1152144" cy="310896"/>
          </a:xfrm>
          <a:prstGeom prst="rect">
            <a:avLst/>
          </a:prstGeom>
          <a:noFill/>
          <a:ln/>
        </p:spPr>
        <p:txBody>
          <a:bodyPr wrap="square" lIns="0" tIns="0" rIns="0" bIns="0" rtlCol="0" anchor="ctr"/>
          <a:lstStyle/>
          <a:p>
            <a:pPr indent="0" marL="0">
              <a:buNone/>
            </a:pPr>
            <a:r>
              <a:rPr lang="en-US" sz="1100" b="1" spc="140" kern="0" dirty="0">
                <a:solidFill>
                  <a:srgbClr val="B45309"/>
                </a:solidFill>
                <a:latin typeface="Calibri" pitchFamily="34" charset="0"/>
                <a:ea typeface="Calibri" pitchFamily="34" charset="-122"/>
                <a:cs typeface="Calibri" pitchFamily="34" charset="-120"/>
              </a:rPr>
              <a:t>05</a:t>
            </a:r>
            <a:endParaRPr lang="en-US" sz="1100" dirty="0"/>
          </a:p>
        </p:txBody>
      </p:sp>
      <p:sp>
        <p:nvSpPr>
          <p:cNvPr id="32" name="Text 30"/>
          <p:cNvSpPr txBox="1"/>
          <p:nvPr/>
        </p:nvSpPr>
        <p:spPr>
          <a:xfrm>
            <a:off x="7150608" y="2194560"/>
            <a:ext cx="1152144" cy="347472"/>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Gate</a:t>
            </a:r>
            <a:endParaRPr lang="en-US" sz="1600" dirty="0"/>
          </a:p>
        </p:txBody>
      </p:sp>
      <p:sp>
        <p:nvSpPr>
          <p:cNvPr id="33" name="Text 31"/>
          <p:cNvSpPr txBox="1"/>
          <p:nvPr/>
        </p:nvSpPr>
        <p:spPr>
          <a:xfrm>
            <a:off x="7150608" y="2560320"/>
            <a:ext cx="1152144" cy="1188720"/>
          </a:xfrm>
          <a:prstGeom prst="rect">
            <a:avLst/>
          </a:prstGeom>
          <a:noFill/>
          <a:ln/>
        </p:spPr>
        <p:txBody>
          <a:bodyPr wrap="square" lIns="0" tIns="0" rIns="0" bIns="0" rtlCol="0" anchor="t"/>
          <a:lstStyle/>
          <a:p>
            <a:pPr indent="0" marL="0">
              <a:lnSpc>
                <a:spcPts val="1400"/>
              </a:lnSpc>
              <a:buNone/>
            </a:pPr>
            <a:r>
              <a:rPr lang="en-US" sz="1050" dirty="0">
                <a:solidFill>
                  <a:srgbClr val="374151"/>
                </a:solidFill>
                <a:latin typeface="Calibri" pitchFamily="34" charset="0"/>
                <a:ea typeface="Calibri" pitchFamily="34" charset="-122"/>
                <a:cs typeface="Calibri" pitchFamily="34" charset="-120"/>
              </a:rPr>
              <a:t>Guard workflow diffs the pull request, refuses governed paths, checks syntax.</a:t>
            </a:r>
            <a:endParaRPr lang="en-US" sz="1050" dirty="0"/>
          </a:p>
        </p:txBody>
      </p:sp>
      <p:sp>
        <p:nvSpPr>
          <p:cNvPr id="34" name="Shape 32"/>
          <p:cNvSpPr/>
          <p:nvPr/>
        </p:nvSpPr>
        <p:spPr>
          <a:xfrm>
            <a:off x="8590788" y="1481328"/>
            <a:ext cx="1481328" cy="2377440"/>
          </a:xfrm>
          <a:prstGeom prst="rect">
            <a:avLst/>
          </a:prstGeom>
          <a:solidFill>
            <a:srgbClr val="FFFFFF"/>
          </a:solidFill>
          <a:ln w="12700">
            <a:solidFill>
              <a:srgbClr val="E5E7EB"/>
            </a:solidFill>
            <a:prstDash val="solid"/>
          </a:ln>
        </p:spPr>
      </p:sp>
      <p:sp>
        <p:nvSpPr>
          <p:cNvPr id="35" name="Shape 33"/>
          <p:cNvSpPr/>
          <p:nvPr/>
        </p:nvSpPr>
        <p:spPr>
          <a:xfrm>
            <a:off x="8590788" y="1481328"/>
            <a:ext cx="1481328" cy="310896"/>
          </a:xfrm>
          <a:prstGeom prst="rect">
            <a:avLst/>
          </a:prstGeom>
          <a:solidFill>
            <a:srgbClr val="B45309"/>
          </a:solidFill>
          <a:ln w="12700">
            <a:solidFill>
              <a:srgbClr val="B45309"/>
            </a:solidFill>
            <a:prstDash val="solid"/>
          </a:ln>
        </p:spPr>
      </p:sp>
      <p:sp>
        <p:nvSpPr>
          <p:cNvPr id="36" name="Text 34"/>
          <p:cNvSpPr txBox="1"/>
          <p:nvPr/>
        </p:nvSpPr>
        <p:spPr>
          <a:xfrm>
            <a:off x="8682228" y="1517904"/>
            <a:ext cx="1298448" cy="237744"/>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FORGE</a:t>
            </a:r>
            <a:endParaRPr lang="en-US" sz="900" dirty="0"/>
          </a:p>
        </p:txBody>
      </p:sp>
      <p:sp>
        <p:nvSpPr>
          <p:cNvPr id="37" name="Text 35"/>
          <p:cNvSpPr txBox="1"/>
          <p:nvPr/>
        </p:nvSpPr>
        <p:spPr>
          <a:xfrm>
            <a:off x="8755380" y="1901952"/>
            <a:ext cx="1152144" cy="310896"/>
          </a:xfrm>
          <a:prstGeom prst="rect">
            <a:avLst/>
          </a:prstGeom>
          <a:noFill/>
          <a:ln/>
        </p:spPr>
        <p:txBody>
          <a:bodyPr wrap="square" lIns="0" tIns="0" rIns="0" bIns="0" rtlCol="0" anchor="ctr"/>
          <a:lstStyle/>
          <a:p>
            <a:pPr indent="0" marL="0">
              <a:buNone/>
            </a:pPr>
            <a:r>
              <a:rPr lang="en-US" sz="1100" b="1" spc="140" kern="0" dirty="0">
                <a:solidFill>
                  <a:srgbClr val="B45309"/>
                </a:solidFill>
                <a:latin typeface="Calibri" pitchFamily="34" charset="0"/>
                <a:ea typeface="Calibri" pitchFamily="34" charset="-122"/>
                <a:cs typeface="Calibri" pitchFamily="34" charset="-120"/>
              </a:rPr>
              <a:t>06</a:t>
            </a:r>
            <a:endParaRPr lang="en-US" sz="1100" dirty="0"/>
          </a:p>
        </p:txBody>
      </p:sp>
      <p:sp>
        <p:nvSpPr>
          <p:cNvPr id="38" name="Text 36"/>
          <p:cNvSpPr txBox="1"/>
          <p:nvPr/>
        </p:nvSpPr>
        <p:spPr>
          <a:xfrm>
            <a:off x="8755380" y="2194560"/>
            <a:ext cx="1152144" cy="347472"/>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Merge</a:t>
            </a:r>
            <a:endParaRPr lang="en-US" sz="1600" dirty="0"/>
          </a:p>
        </p:txBody>
      </p:sp>
      <p:sp>
        <p:nvSpPr>
          <p:cNvPr id="39" name="Text 37"/>
          <p:cNvSpPr txBox="1"/>
          <p:nvPr/>
        </p:nvSpPr>
        <p:spPr>
          <a:xfrm>
            <a:off x="8755380" y="2560320"/>
            <a:ext cx="1152144" cy="1188720"/>
          </a:xfrm>
          <a:prstGeom prst="rect">
            <a:avLst/>
          </a:prstGeom>
          <a:noFill/>
          <a:ln/>
        </p:spPr>
        <p:txBody>
          <a:bodyPr wrap="square" lIns="0" tIns="0" rIns="0" bIns="0" rtlCol="0" anchor="t"/>
          <a:lstStyle/>
          <a:p>
            <a:pPr indent="0" marL="0">
              <a:lnSpc>
                <a:spcPts val="1400"/>
              </a:lnSpc>
              <a:buNone/>
            </a:pPr>
            <a:r>
              <a:rPr lang="en-US" sz="1050" dirty="0">
                <a:solidFill>
                  <a:srgbClr val="374151"/>
                </a:solidFill>
                <a:latin typeface="Calibri" pitchFamily="34" charset="0"/>
                <a:ea typeface="Calibri" pitchFamily="34" charset="-122"/>
                <a:cs typeface="Calibri" pitchFamily="34" charset="-120"/>
              </a:rPr>
              <a:t>Squash-merge, permitted only once the required check passes.</a:t>
            </a:r>
            <a:endParaRPr lang="en-US" sz="1050" dirty="0"/>
          </a:p>
        </p:txBody>
      </p:sp>
      <p:sp>
        <p:nvSpPr>
          <p:cNvPr id="40" name="Shape 38"/>
          <p:cNvSpPr/>
          <p:nvPr/>
        </p:nvSpPr>
        <p:spPr>
          <a:xfrm>
            <a:off x="10195560" y="1481328"/>
            <a:ext cx="1481328" cy="2377440"/>
          </a:xfrm>
          <a:prstGeom prst="rect">
            <a:avLst/>
          </a:prstGeom>
          <a:solidFill>
            <a:srgbClr val="FFFFFF"/>
          </a:solidFill>
          <a:ln w="12700">
            <a:solidFill>
              <a:srgbClr val="E5E7EB"/>
            </a:solidFill>
            <a:prstDash val="solid"/>
          </a:ln>
        </p:spPr>
      </p:sp>
      <p:sp>
        <p:nvSpPr>
          <p:cNvPr id="41" name="Shape 39"/>
          <p:cNvSpPr/>
          <p:nvPr/>
        </p:nvSpPr>
        <p:spPr>
          <a:xfrm>
            <a:off x="10195560" y="1481328"/>
            <a:ext cx="1481328" cy="310896"/>
          </a:xfrm>
          <a:prstGeom prst="rect">
            <a:avLst/>
          </a:prstGeom>
          <a:solidFill>
            <a:srgbClr val="15803D"/>
          </a:solidFill>
          <a:ln w="12700">
            <a:solidFill>
              <a:srgbClr val="15803D"/>
            </a:solidFill>
            <a:prstDash val="solid"/>
          </a:ln>
        </p:spPr>
      </p:sp>
      <p:sp>
        <p:nvSpPr>
          <p:cNvPr id="42" name="Text 40"/>
          <p:cNvSpPr txBox="1"/>
          <p:nvPr/>
        </p:nvSpPr>
        <p:spPr>
          <a:xfrm>
            <a:off x="10287000" y="1517904"/>
            <a:ext cx="1298448" cy="237744"/>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CI</a:t>
            </a:r>
            <a:endParaRPr lang="en-US" sz="900" dirty="0"/>
          </a:p>
        </p:txBody>
      </p:sp>
      <p:sp>
        <p:nvSpPr>
          <p:cNvPr id="43" name="Text 41"/>
          <p:cNvSpPr txBox="1"/>
          <p:nvPr/>
        </p:nvSpPr>
        <p:spPr>
          <a:xfrm>
            <a:off x="10360152" y="1901952"/>
            <a:ext cx="1152144" cy="310896"/>
          </a:xfrm>
          <a:prstGeom prst="rect">
            <a:avLst/>
          </a:prstGeom>
          <a:noFill/>
          <a:ln/>
        </p:spPr>
        <p:txBody>
          <a:bodyPr wrap="square" lIns="0" tIns="0" rIns="0" bIns="0" rtlCol="0" anchor="ctr"/>
          <a:lstStyle/>
          <a:p>
            <a:pPr indent="0" marL="0">
              <a:buNone/>
            </a:pPr>
            <a:r>
              <a:rPr lang="en-US" sz="1100" b="1" spc="140" kern="0" dirty="0">
                <a:solidFill>
                  <a:srgbClr val="15803D"/>
                </a:solidFill>
                <a:latin typeface="Calibri" pitchFamily="34" charset="0"/>
                <a:ea typeface="Calibri" pitchFamily="34" charset="-122"/>
                <a:cs typeface="Calibri" pitchFamily="34" charset="-120"/>
              </a:rPr>
              <a:t>07</a:t>
            </a:r>
            <a:endParaRPr lang="en-US" sz="1100" dirty="0"/>
          </a:p>
        </p:txBody>
      </p:sp>
      <p:sp>
        <p:nvSpPr>
          <p:cNvPr id="44" name="Text 42"/>
          <p:cNvSpPr txBox="1"/>
          <p:nvPr/>
        </p:nvSpPr>
        <p:spPr>
          <a:xfrm>
            <a:off x="10360152" y="2194560"/>
            <a:ext cx="1152144" cy="347472"/>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Deploy</a:t>
            </a:r>
            <a:endParaRPr lang="en-US" sz="1600" dirty="0"/>
          </a:p>
        </p:txBody>
      </p:sp>
      <p:sp>
        <p:nvSpPr>
          <p:cNvPr id="45" name="Text 43"/>
          <p:cNvSpPr txBox="1"/>
          <p:nvPr/>
        </p:nvSpPr>
        <p:spPr>
          <a:xfrm>
            <a:off x="10360152" y="2560320"/>
            <a:ext cx="1152144" cy="1188720"/>
          </a:xfrm>
          <a:prstGeom prst="rect">
            <a:avLst/>
          </a:prstGeom>
          <a:noFill/>
          <a:ln/>
        </p:spPr>
        <p:txBody>
          <a:bodyPr wrap="square" lIns="0" tIns="0" rIns="0" bIns="0" rtlCol="0" anchor="t"/>
          <a:lstStyle/>
          <a:p>
            <a:pPr indent="0" marL="0">
              <a:lnSpc>
                <a:spcPts val="1400"/>
              </a:lnSpc>
              <a:buNone/>
            </a:pPr>
            <a:r>
              <a:rPr lang="en-US" sz="1050" dirty="0">
                <a:solidFill>
                  <a:srgbClr val="374151"/>
                </a:solidFill>
                <a:latin typeface="Calibri" pitchFamily="34" charset="0"/>
                <a:ea typeface="Calibri" pitchFamily="34" charset="-122"/>
                <a:cs typeface="Calibri" pitchFamily="34" charset="-120"/>
              </a:rPr>
              <a:t>Runner syncs to object storage and invalidates the edge cache with a scoped identity.</a:t>
            </a:r>
            <a:endParaRPr lang="en-US" sz="1050" dirty="0"/>
          </a:p>
        </p:txBody>
      </p:sp>
      <p:sp>
        <p:nvSpPr>
          <p:cNvPr id="46" name="Shape 44"/>
          <p:cNvSpPr/>
          <p:nvPr/>
        </p:nvSpPr>
        <p:spPr>
          <a:xfrm>
            <a:off x="566928" y="4133088"/>
            <a:ext cx="11055096" cy="1077468"/>
          </a:xfrm>
          <a:prstGeom prst="rect">
            <a:avLst/>
          </a:prstGeom>
          <a:solidFill>
            <a:srgbClr val="F3F4F6"/>
          </a:solidFill>
          <a:ln w="12700">
            <a:solidFill>
              <a:srgbClr val="E5E7EB"/>
            </a:solidFill>
            <a:prstDash val="solid"/>
          </a:ln>
        </p:spPr>
      </p:sp>
      <p:sp>
        <p:nvSpPr>
          <p:cNvPr id="47" name="Text 45"/>
          <p:cNvSpPr txBox="1"/>
          <p:nvPr/>
        </p:nvSpPr>
        <p:spPr>
          <a:xfrm>
            <a:off x="877824" y="4270248"/>
            <a:ext cx="10433304" cy="292608"/>
          </a:xfrm>
          <a:prstGeom prst="rect">
            <a:avLst/>
          </a:prstGeom>
          <a:noFill/>
          <a:ln/>
        </p:spPr>
        <p:txBody>
          <a:bodyPr wrap="square" lIns="0" tIns="0" rIns="0" bIns="0" rtlCol="0" anchor="t"/>
          <a:lstStyle/>
          <a:p>
            <a:pPr indent="0" marL="0">
              <a:buNone/>
            </a:pPr>
            <a:r>
              <a:rPr lang="en-US" sz="1500" b="1" dirty="0">
                <a:solidFill>
                  <a:srgbClr val="1F2937"/>
                </a:solidFill>
                <a:latin typeface="Cambria" pitchFamily="34" charset="0"/>
                <a:ea typeface="Cambria" pitchFamily="34" charset="-122"/>
                <a:cs typeface="Cambria" pitchFamily="34" charset="-120"/>
              </a:rPr>
              <a:t>The gate is the whole design</a:t>
            </a:r>
            <a:endParaRPr lang="en-US" sz="1500" dirty="0"/>
          </a:p>
        </p:txBody>
      </p:sp>
      <p:sp>
        <p:nvSpPr>
          <p:cNvPr id="48" name="Text 46"/>
          <p:cNvSpPr txBox="1"/>
          <p:nvPr/>
        </p:nvSpPr>
        <p:spPr>
          <a:xfrm>
            <a:off x="877824" y="4645152"/>
            <a:ext cx="10433304" cy="510540"/>
          </a:xfrm>
          <a:prstGeom prst="rect">
            <a:avLst/>
          </a:prstGeom>
          <a:noFill/>
          <a:ln/>
        </p:spPr>
        <p:txBody>
          <a:bodyPr wrap="square" lIns="0" tIns="0" rIns="0" bIns="0" rtlCol="0" anchor="t"/>
          <a:lstStyle/>
          <a:p>
            <a:pPr indent="0" marL="0">
              <a:lnSpc>
                <a:spcPts val="1650"/>
              </a:lnSpc>
              <a:buNone/>
            </a:pPr>
            <a:r>
              <a:rPr lang="en-US" sz="1250" dirty="0">
                <a:solidFill>
                  <a:srgbClr val="374151"/>
                </a:solidFill>
                <a:latin typeface="Calibri" pitchFamily="34" charset="0"/>
                <a:ea typeface="Calibri" pitchFamily="34" charset="-122"/>
                <a:cs typeface="Calibri" pitchFamily="34" charset="-120"/>
              </a:rPr>
              <a:t>Stages 1 to 4 are fully autonomous. Stages 5 and 6 are owned by configuration the agent cannot reach. </a:t>
            </a:r>
            <a:pPr indent="0" marL="0">
              <a:lnSpc>
                <a:spcPts val="1650"/>
              </a:lnSpc>
              <a:buNone/>
            </a:pPr>
            <a:r>
              <a:rPr lang="en-US" sz="1250" b="1" dirty="0">
                <a:solidFill>
                  <a:srgbClr val="1F2937"/>
                </a:solidFill>
                <a:latin typeface="Calibri" pitchFamily="34" charset="0"/>
                <a:ea typeface="Calibri" pitchFamily="34" charset="-122"/>
                <a:cs typeface="Calibri" pitchFamily="34" charset="-120"/>
              </a:rPr>
              <a:t>Autonomy is bounded by a checkpoint rather than by trust</a:t>
            </a:r>
            <a:pPr indent="0" marL="0">
              <a:lnSpc>
                <a:spcPts val="1650"/>
              </a:lnSpc>
              <a:buNone/>
            </a:pPr>
            <a:r>
              <a:rPr lang="en-US" sz="1250" dirty="0">
                <a:solidFill>
                  <a:srgbClr val="374151"/>
                </a:solidFill>
                <a:latin typeface="Calibri" pitchFamily="34" charset="0"/>
                <a:ea typeface="Calibri" pitchFamily="34" charset="-122"/>
                <a:cs typeface="Calibri" pitchFamily="34" charset="-120"/>
              </a:rPr>
              <a:t>, which is why the cadence can be daily rather than occasional.</a:t>
            </a:r>
            <a:endParaRPr lang="en-US" sz="1250" dirty="0"/>
          </a:p>
        </p:txBody>
      </p:sp>
      <p:sp>
        <p:nvSpPr>
          <p:cNvPr id="49" name="Shape 47"/>
          <p:cNvSpPr/>
          <p:nvPr/>
        </p:nvSpPr>
        <p:spPr>
          <a:xfrm>
            <a:off x="566928" y="5484876"/>
            <a:ext cx="11055096" cy="1077468"/>
          </a:xfrm>
          <a:prstGeom prst="rect">
            <a:avLst/>
          </a:prstGeom>
          <a:solidFill>
            <a:srgbClr val="F3F4F6"/>
          </a:solidFill>
          <a:ln w="12700">
            <a:solidFill>
              <a:srgbClr val="E5E7EB"/>
            </a:solidFill>
            <a:prstDash val="solid"/>
          </a:ln>
        </p:spPr>
      </p:sp>
      <p:sp>
        <p:nvSpPr>
          <p:cNvPr id="50" name="Text 48"/>
          <p:cNvSpPr txBox="1"/>
          <p:nvPr/>
        </p:nvSpPr>
        <p:spPr>
          <a:xfrm>
            <a:off x="877824" y="5622036"/>
            <a:ext cx="10433304" cy="292608"/>
          </a:xfrm>
          <a:prstGeom prst="rect">
            <a:avLst/>
          </a:prstGeom>
          <a:noFill/>
          <a:ln/>
        </p:spPr>
        <p:txBody>
          <a:bodyPr wrap="square" lIns="0" tIns="0" rIns="0" bIns="0" rtlCol="0" anchor="t"/>
          <a:lstStyle/>
          <a:p>
            <a:pPr indent="0" marL="0">
              <a:buNone/>
            </a:pPr>
            <a:r>
              <a:rPr lang="en-US" sz="1500" b="1" dirty="0">
                <a:solidFill>
                  <a:srgbClr val="1F2937"/>
                </a:solidFill>
                <a:latin typeface="Cambria" pitchFamily="34" charset="0"/>
                <a:ea typeface="Cambria" pitchFamily="34" charset="-122"/>
                <a:cs typeface="Cambria" pitchFamily="34" charset="-120"/>
              </a:rPr>
              <a:t>Two deploy modes, and a caution</a:t>
            </a:r>
            <a:endParaRPr lang="en-US" sz="1500" dirty="0"/>
          </a:p>
        </p:txBody>
      </p:sp>
      <p:sp>
        <p:nvSpPr>
          <p:cNvPr id="51" name="Text 49"/>
          <p:cNvSpPr txBox="1"/>
          <p:nvPr/>
        </p:nvSpPr>
        <p:spPr>
          <a:xfrm>
            <a:off x="877824" y="5996940"/>
            <a:ext cx="10433304" cy="510540"/>
          </a:xfrm>
          <a:prstGeom prst="rect">
            <a:avLst/>
          </a:prstGeom>
          <a:noFill/>
          <a:ln/>
        </p:spPr>
        <p:txBody>
          <a:bodyPr wrap="square" lIns="0" tIns="0" rIns="0" bIns="0" rtlCol="0" anchor="t"/>
          <a:lstStyle/>
          <a:p>
            <a:pPr indent="0" marL="0">
              <a:lnSpc>
                <a:spcPts val="1650"/>
              </a:lnSpc>
              <a:buNone/>
            </a:pPr>
            <a:r>
              <a:rPr lang="en-US" sz="1250" dirty="0">
                <a:solidFill>
                  <a:srgbClr val="374151"/>
                </a:solidFill>
                <a:latin typeface="Calibri" pitchFamily="34" charset="0"/>
                <a:ea typeface="Calibri" pitchFamily="34" charset="-122"/>
                <a:cs typeface="Calibri" pitchFamily="34" charset="-120"/>
              </a:rPr>
              <a:t>Operators keep a direct infrastructure-as-code deploy. Running both against one backend risks divergent state — </a:t>
            </a:r>
            <a:pPr indent="0" marL="0">
              <a:lnSpc>
                <a:spcPts val="1650"/>
              </a:lnSpc>
              <a:buNone/>
            </a:pPr>
            <a:r>
              <a:rPr lang="en-US" sz="1250" b="1" dirty="0">
                <a:solidFill>
                  <a:srgbClr val="1F2937"/>
                </a:solidFill>
                <a:latin typeface="Calibri" pitchFamily="34" charset="0"/>
                <a:ea typeface="Calibri" pitchFamily="34" charset="-122"/>
                <a:cs typeface="Calibri" pitchFamily="34" charset="-120"/>
              </a:rPr>
              <a:t>pick one as authoritative and document which.</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347472"/>
            <a:ext cx="11055096" cy="566928"/>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Infrastructure as code as the deployment contract</a:t>
            </a:r>
            <a:endParaRPr lang="en-US" sz="3000" dirty="0"/>
          </a:p>
        </p:txBody>
      </p:sp>
      <p:sp>
        <p:nvSpPr>
          <p:cNvPr id="3" name="Text 1"/>
          <p:cNvSpPr txBox="1"/>
          <p:nvPr/>
        </p:nvSpPr>
        <p:spPr>
          <a:xfrm>
            <a:off x="566928" y="914400"/>
            <a:ext cx="11055096" cy="329184"/>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Defined once in the control plane; the agent never sees it and never needs to.</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5096" cy="914400"/>
        </p:xfrm>
        <a:graphic>
          <a:graphicData uri="http://schemas.openxmlformats.org/drawingml/2006/table">
            <a:tbl>
              <a:tblPr/>
              <a:tblGrid>
                <a:gridCol w="2286000"/>
                <a:gridCol w="3931920"/>
                <a:gridCol w="4837176"/>
              </a:tblGrid>
              <a:tr h="402336">
                <a:tc>
                  <a:txBody>
                    <a:bodyPr/>
                    <a:lstStyle/>
                    <a:p>
                      <a:pPr indent="0" marL="0">
                        <a:buNone/>
                      </a:pPr>
                      <a:r>
                        <a:rPr lang="en-US" sz="1150" b="1" spc="120" kern="0" dirty="0">
                          <a:solidFill>
                            <a:srgbClr val="B45309"/>
                          </a:solidFill>
                          <a:latin typeface="Calibri" pitchFamily="34" charset="0"/>
                          <a:ea typeface="Calibri" pitchFamily="34" charset="-122"/>
                          <a:cs typeface="Calibri" pitchFamily="34" charset="-120"/>
                        </a:rPr>
                        <a:t>RESOURCE</a:t>
                      </a:r>
                      <a:endParaRPr lang="en-US" sz="115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b="1" spc="120" kern="0" dirty="0">
                          <a:solidFill>
                            <a:srgbClr val="B45309"/>
                          </a:solidFill>
                          <a:latin typeface="Calibri" pitchFamily="34" charset="0"/>
                          <a:ea typeface="Calibri" pitchFamily="34" charset="-122"/>
                          <a:cs typeface="Calibri" pitchFamily="34" charset="-120"/>
                        </a:rPr>
                        <a:t>PURPOSE</a:t>
                      </a:r>
                      <a:endParaRPr lang="en-US" sz="115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b="1" spc="120" kern="0" dirty="0">
                          <a:solidFill>
                            <a:srgbClr val="B45309"/>
                          </a:solidFill>
                          <a:latin typeface="Calibri" pitchFamily="34" charset="0"/>
                          <a:ea typeface="Calibri" pitchFamily="34" charset="-122"/>
                          <a:cs typeface="Calibri" pitchFamily="34" charset="-120"/>
                        </a:rPr>
                        <a:t>SAFETY PROPERTY</a:t>
                      </a:r>
                      <a:endParaRPr lang="en-US" sz="115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Request table</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Community suggestions and vote counts, by era</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Read through an interface, never a database credential</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Request API</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Three routes: read ranked, submit, vote</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Input caps and screening before the agent sees text</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Production site</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Static hosting for the live canvas</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Object versioning on; every published state is recoverable</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Archive site</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Static hosting for the sealed museum of eras</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Written only by the host reset process, never the agent</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3657600"/>
            <a:ext cx="3554273" cy="1325880"/>
          </a:xfrm>
          <a:prstGeom prst="rect">
            <a:avLst/>
          </a:prstGeom>
          <a:solidFill>
            <a:srgbClr val="FFFFFF"/>
          </a:solidFill>
          <a:ln w="12700">
            <a:solidFill>
              <a:srgbClr val="E5E7EB"/>
            </a:solidFill>
            <a:prstDash val="solid"/>
          </a:ln>
        </p:spPr>
      </p:sp>
      <p:sp>
        <p:nvSpPr>
          <p:cNvPr id="6" name="Shape 3"/>
          <p:cNvSpPr/>
          <p:nvPr/>
        </p:nvSpPr>
        <p:spPr>
          <a:xfrm>
            <a:off x="822960" y="3931920"/>
            <a:ext cx="137160" cy="137160"/>
          </a:xfrm>
          <a:prstGeom prst="rect">
            <a:avLst/>
          </a:prstGeom>
          <a:solidFill>
            <a:srgbClr val="15803D"/>
          </a:solidFill>
          <a:ln w="12700">
            <a:solidFill>
              <a:srgbClr val="15803D"/>
            </a:solidFill>
            <a:prstDash val="solid"/>
          </a:ln>
        </p:spPr>
      </p:sp>
      <p:sp>
        <p:nvSpPr>
          <p:cNvPr id="7" name="Text 4"/>
          <p:cNvSpPr txBox="1"/>
          <p:nvPr/>
        </p:nvSpPr>
        <p:spPr>
          <a:xfrm>
            <a:off x="1060704" y="3822192"/>
            <a:ext cx="2822753" cy="347472"/>
          </a:xfrm>
          <a:prstGeom prst="rect">
            <a:avLst/>
          </a:prstGeom>
          <a:noFill/>
          <a:ln/>
        </p:spPr>
        <p:txBody>
          <a:bodyPr wrap="square" lIns="0" tIns="0" rIns="0" bIns="0" rtlCol="0" anchor="ctr"/>
          <a:lstStyle/>
          <a:p>
            <a:pPr indent="0" marL="0">
              <a:buNone/>
            </a:pPr>
            <a:r>
              <a:rPr lang="en-US" sz="1500" b="1" dirty="0">
                <a:solidFill>
                  <a:srgbClr val="15803D"/>
                </a:solidFill>
                <a:latin typeface="Cambria" pitchFamily="34" charset="0"/>
                <a:ea typeface="Cambria" pitchFamily="34" charset="-122"/>
                <a:cs typeface="Cambria" pitchFamily="34" charset="-120"/>
              </a:rPr>
              <a:t>Retention on production</a:t>
            </a:r>
            <a:endParaRPr lang="en-US" sz="1500" dirty="0"/>
          </a:p>
        </p:txBody>
      </p:sp>
      <p:sp>
        <p:nvSpPr>
          <p:cNvPr id="8" name="Text 5"/>
          <p:cNvSpPr txBox="1"/>
          <p:nvPr/>
        </p:nvSpPr>
        <p:spPr>
          <a:xfrm>
            <a:off x="822960" y="4261104"/>
            <a:ext cx="3042209" cy="713232"/>
          </a:xfrm>
          <a:prstGeom prst="rect">
            <a:avLst/>
          </a:prstGeom>
          <a:noFill/>
          <a:ln/>
        </p:spPr>
        <p:txBody>
          <a:bodyPr wrap="square" lIns="0" tIns="0" rIns="0" bIns="0" rtlCol="0" anchor="ctr"/>
          <a:lstStyle/>
          <a:p>
            <a:pPr indent="0" marL="0">
              <a:lnSpc>
                <a:spcPts val="1600"/>
              </a:lnSpc>
              <a:buNone/>
            </a:pPr>
            <a:r>
              <a:rPr lang="en-US" sz="1200" dirty="0">
                <a:solidFill>
                  <a:srgbClr val="374151"/>
                </a:solidFill>
                <a:latin typeface="Calibri" pitchFamily="34" charset="0"/>
                <a:ea typeface="Calibri" pitchFamily="34" charset="-122"/>
                <a:cs typeface="Calibri" pitchFamily="34" charset="-120"/>
              </a:rPr>
              <a:t>Teardown is configured to retain live resources in the production stage, so a destroy cannot remove what is serving traffic.</a:t>
            </a:r>
            <a:endParaRPr lang="en-US" sz="1200" dirty="0"/>
          </a:p>
        </p:txBody>
      </p:sp>
      <p:sp>
        <p:nvSpPr>
          <p:cNvPr id="9" name="Shape 6"/>
          <p:cNvSpPr/>
          <p:nvPr/>
        </p:nvSpPr>
        <p:spPr>
          <a:xfrm>
            <a:off x="4322369" y="3657600"/>
            <a:ext cx="3554273" cy="1325880"/>
          </a:xfrm>
          <a:prstGeom prst="rect">
            <a:avLst/>
          </a:prstGeom>
          <a:solidFill>
            <a:srgbClr val="FFFFFF"/>
          </a:solidFill>
          <a:ln w="12700">
            <a:solidFill>
              <a:srgbClr val="E5E7EB"/>
            </a:solidFill>
            <a:prstDash val="solid"/>
          </a:ln>
        </p:spPr>
      </p:sp>
      <p:sp>
        <p:nvSpPr>
          <p:cNvPr id="10" name="Shape 7"/>
          <p:cNvSpPr/>
          <p:nvPr/>
        </p:nvSpPr>
        <p:spPr>
          <a:xfrm>
            <a:off x="4578401" y="3931920"/>
            <a:ext cx="137160" cy="137160"/>
          </a:xfrm>
          <a:prstGeom prst="rect">
            <a:avLst/>
          </a:prstGeom>
          <a:solidFill>
            <a:srgbClr val="0E7490"/>
          </a:solidFill>
          <a:ln w="12700">
            <a:solidFill>
              <a:srgbClr val="0E7490"/>
            </a:solidFill>
            <a:prstDash val="solid"/>
          </a:ln>
        </p:spPr>
      </p:sp>
      <p:sp>
        <p:nvSpPr>
          <p:cNvPr id="11" name="Text 8"/>
          <p:cNvSpPr txBox="1"/>
          <p:nvPr/>
        </p:nvSpPr>
        <p:spPr>
          <a:xfrm>
            <a:off x="4816145" y="3822192"/>
            <a:ext cx="2822753" cy="347472"/>
          </a:xfrm>
          <a:prstGeom prst="rect">
            <a:avLst/>
          </a:prstGeom>
          <a:noFill/>
          <a:ln/>
        </p:spPr>
        <p:txBody>
          <a:bodyPr wrap="square" lIns="0" tIns="0" rIns="0" bIns="0" rtlCol="0" anchor="ctr"/>
          <a:lstStyle/>
          <a:p>
            <a:pPr indent="0" marL="0">
              <a:buNone/>
            </a:pPr>
            <a:r>
              <a:rPr lang="en-US" sz="1500" b="1" dirty="0">
                <a:solidFill>
                  <a:srgbClr val="0E7490"/>
                </a:solidFill>
                <a:latin typeface="Cambria" pitchFamily="34" charset="0"/>
                <a:ea typeface="Cambria" pitchFamily="34" charset="-122"/>
                <a:cs typeface="Cambria" pitchFamily="34" charset="-120"/>
              </a:rPr>
              <a:t>Typecheck before touch</a:t>
            </a:r>
            <a:endParaRPr lang="en-US" sz="1500" dirty="0"/>
          </a:p>
        </p:txBody>
      </p:sp>
      <p:sp>
        <p:nvSpPr>
          <p:cNvPr id="12" name="Text 9"/>
          <p:cNvSpPr txBox="1"/>
          <p:nvPr/>
        </p:nvSpPr>
        <p:spPr>
          <a:xfrm>
            <a:off x="4578401" y="4261104"/>
            <a:ext cx="3042209" cy="713232"/>
          </a:xfrm>
          <a:prstGeom prst="rect">
            <a:avLst/>
          </a:prstGeom>
          <a:noFill/>
          <a:ln/>
        </p:spPr>
        <p:txBody>
          <a:bodyPr wrap="square" lIns="0" tIns="0" rIns="0" bIns="0" rtlCol="0" anchor="ctr"/>
          <a:lstStyle/>
          <a:p>
            <a:pPr indent="0" marL="0">
              <a:lnSpc>
                <a:spcPts val="1600"/>
              </a:lnSpc>
              <a:buNone/>
            </a:pPr>
            <a:r>
              <a:rPr lang="en-US" sz="1200" dirty="0">
                <a:solidFill>
                  <a:srgbClr val="374151"/>
                </a:solidFill>
                <a:latin typeface="Calibri" pitchFamily="34" charset="0"/>
                <a:ea typeface="Calibri" pitchFamily="34" charset="-122"/>
                <a:cs typeface="Calibri" pitchFamily="34" charset="-120"/>
              </a:rPr>
              <a:t>The deploy script compiles the infrastructure definition and supports a diff-only dry run before anything reaches the provider.</a:t>
            </a:r>
            <a:endParaRPr lang="en-US" sz="1200" dirty="0"/>
          </a:p>
        </p:txBody>
      </p:sp>
      <p:sp>
        <p:nvSpPr>
          <p:cNvPr id="13" name="Shape 10"/>
          <p:cNvSpPr/>
          <p:nvPr/>
        </p:nvSpPr>
        <p:spPr>
          <a:xfrm>
            <a:off x="8077810" y="3657600"/>
            <a:ext cx="3554273" cy="1325880"/>
          </a:xfrm>
          <a:prstGeom prst="rect">
            <a:avLst/>
          </a:prstGeom>
          <a:solidFill>
            <a:srgbClr val="FFFFFF"/>
          </a:solidFill>
          <a:ln w="12700">
            <a:solidFill>
              <a:srgbClr val="E5E7EB"/>
            </a:solidFill>
            <a:prstDash val="solid"/>
          </a:ln>
        </p:spPr>
      </p:sp>
      <p:sp>
        <p:nvSpPr>
          <p:cNvPr id="14" name="Shape 11"/>
          <p:cNvSpPr/>
          <p:nvPr/>
        </p:nvSpPr>
        <p:spPr>
          <a:xfrm>
            <a:off x="8333842" y="3931920"/>
            <a:ext cx="137160" cy="137160"/>
          </a:xfrm>
          <a:prstGeom prst="rect">
            <a:avLst/>
          </a:prstGeom>
          <a:solidFill>
            <a:srgbClr val="B45309"/>
          </a:solidFill>
          <a:ln w="12700">
            <a:solidFill>
              <a:srgbClr val="B45309"/>
            </a:solidFill>
            <a:prstDash val="solid"/>
          </a:ln>
        </p:spPr>
      </p:sp>
      <p:sp>
        <p:nvSpPr>
          <p:cNvPr id="15" name="Text 12"/>
          <p:cNvSpPr txBox="1"/>
          <p:nvPr/>
        </p:nvSpPr>
        <p:spPr>
          <a:xfrm>
            <a:off x="8571586" y="3822192"/>
            <a:ext cx="2822753" cy="347472"/>
          </a:xfrm>
          <a:prstGeom prst="rect">
            <a:avLst/>
          </a:prstGeom>
          <a:noFill/>
          <a:ln/>
        </p:spPr>
        <p:txBody>
          <a:bodyPr wrap="square" lIns="0" tIns="0" rIns="0" bIns="0" rtlCol="0" anchor="ctr"/>
          <a:lstStyle/>
          <a:p>
            <a:pPr indent="0" marL="0">
              <a:buNone/>
            </a:pPr>
            <a:r>
              <a:rPr lang="en-US" sz="1500" b="1" dirty="0">
                <a:solidFill>
                  <a:srgbClr val="B45309"/>
                </a:solidFill>
                <a:latin typeface="Cambria" pitchFamily="34" charset="0"/>
                <a:ea typeface="Cambria" pitchFamily="34" charset="-122"/>
                <a:cs typeface="Cambria" pitchFamily="34" charset="-120"/>
              </a:rPr>
              <a:t>Scoped deploy identity</a:t>
            </a:r>
            <a:endParaRPr lang="en-US" sz="1500" dirty="0"/>
          </a:p>
        </p:txBody>
      </p:sp>
      <p:sp>
        <p:nvSpPr>
          <p:cNvPr id="16" name="Text 13"/>
          <p:cNvSpPr txBox="1"/>
          <p:nvPr/>
        </p:nvSpPr>
        <p:spPr>
          <a:xfrm>
            <a:off x="8333842" y="4261104"/>
            <a:ext cx="3042209" cy="713232"/>
          </a:xfrm>
          <a:prstGeom prst="rect">
            <a:avLst/>
          </a:prstGeom>
          <a:noFill/>
          <a:ln/>
        </p:spPr>
        <p:txBody>
          <a:bodyPr wrap="square" lIns="0" tIns="0" rIns="0" bIns="0" rtlCol="0" anchor="ctr"/>
          <a:lstStyle/>
          <a:p>
            <a:pPr indent="0" marL="0">
              <a:lnSpc>
                <a:spcPts val="1600"/>
              </a:lnSpc>
              <a:buNone/>
            </a:pPr>
            <a:r>
              <a:rPr lang="en-US" sz="1200" dirty="0">
                <a:solidFill>
                  <a:srgbClr val="374151"/>
                </a:solidFill>
                <a:latin typeface="Calibri" pitchFamily="34" charset="0"/>
                <a:ea typeface="Calibri" pitchFamily="34" charset="-122"/>
                <a:cs typeface="Calibri" pitchFamily="34" charset="-120"/>
              </a:rPr>
              <a:t>The runner's identity can write one bucket and invalidate one distribution. Nothing else in the account is reachable.</a:t>
            </a:r>
            <a:endParaRPr lang="en-US" sz="1200" dirty="0"/>
          </a:p>
        </p:txBody>
      </p:sp>
      <p:sp>
        <p:nvSpPr>
          <p:cNvPr id="17" name="Shape 14"/>
          <p:cNvSpPr/>
          <p:nvPr/>
        </p:nvSpPr>
        <p:spPr>
          <a:xfrm>
            <a:off x="566928" y="5257800"/>
            <a:ext cx="11055096" cy="1077468"/>
          </a:xfrm>
          <a:prstGeom prst="rect">
            <a:avLst/>
          </a:prstGeom>
          <a:solidFill>
            <a:srgbClr val="F3F4F6"/>
          </a:solidFill>
          <a:ln w="12700">
            <a:solidFill>
              <a:srgbClr val="E5E7EB"/>
            </a:solidFill>
            <a:prstDash val="solid"/>
          </a:ln>
        </p:spPr>
      </p:sp>
      <p:sp>
        <p:nvSpPr>
          <p:cNvPr id="18" name="Text 15"/>
          <p:cNvSpPr txBox="1"/>
          <p:nvPr/>
        </p:nvSpPr>
        <p:spPr>
          <a:xfrm>
            <a:off x="877824" y="5394960"/>
            <a:ext cx="10433304" cy="292608"/>
          </a:xfrm>
          <a:prstGeom prst="rect">
            <a:avLst/>
          </a:prstGeom>
          <a:noFill/>
          <a:ln/>
        </p:spPr>
        <p:txBody>
          <a:bodyPr wrap="square" lIns="0" tIns="0" rIns="0" bIns="0" rtlCol="0" anchor="t"/>
          <a:lstStyle/>
          <a:p>
            <a:pPr indent="0" marL="0">
              <a:buNone/>
            </a:pPr>
            <a:r>
              <a:rPr lang="en-US" sz="1500" b="1" dirty="0">
                <a:solidFill>
                  <a:srgbClr val="1F2937"/>
                </a:solidFill>
                <a:latin typeface="Cambria" pitchFamily="34" charset="0"/>
                <a:ea typeface="Cambria" pitchFamily="34" charset="-122"/>
                <a:cs typeface="Cambria" pitchFamily="34" charset="-120"/>
              </a:rPr>
              <a:t>Why the agent is kept ignorant of this layer</a:t>
            </a:r>
            <a:endParaRPr lang="en-US" sz="1500" dirty="0"/>
          </a:p>
        </p:txBody>
      </p:sp>
      <p:sp>
        <p:nvSpPr>
          <p:cNvPr id="19" name="Text 16"/>
          <p:cNvSpPr txBox="1"/>
          <p:nvPr/>
        </p:nvSpPr>
        <p:spPr>
          <a:xfrm>
            <a:off x="877824" y="5769864"/>
            <a:ext cx="10433304" cy="510540"/>
          </a:xfrm>
          <a:prstGeom prst="rect">
            <a:avLst/>
          </a:prstGeom>
          <a:noFill/>
          <a:ln/>
        </p:spPr>
        <p:txBody>
          <a:bodyPr wrap="square" lIns="0" tIns="0" rIns="0" bIns="0" rtlCol="0" anchor="t"/>
          <a:lstStyle/>
          <a:p>
            <a:pPr indent="0" marL="0">
              <a:lnSpc>
                <a:spcPts val="1650"/>
              </a:lnSpc>
              <a:buNone/>
            </a:pPr>
            <a:r>
              <a:rPr lang="en-US" sz="1250" dirty="0">
                <a:solidFill>
                  <a:srgbClr val="374151"/>
                </a:solidFill>
                <a:latin typeface="Calibri" pitchFamily="34" charset="0"/>
                <a:ea typeface="Calibri" pitchFamily="34" charset="-122"/>
                <a:cs typeface="Calibri" pitchFamily="34" charset="-120"/>
              </a:rPr>
              <a:t>The persona names no provider, no gateway host and no deploy mechanism, and a test fails the build if infrastructure strings leak into memory. </a:t>
            </a:r>
            <a:pPr indent="0" marL="0">
              <a:lnSpc>
                <a:spcPts val="1650"/>
              </a:lnSpc>
              <a:buNone/>
            </a:pPr>
            <a:r>
              <a:rPr lang="en-US" sz="1250" b="1" dirty="0">
                <a:solidFill>
                  <a:srgbClr val="1F2937"/>
                </a:solidFill>
                <a:latin typeface="Calibri" pitchFamily="34" charset="0"/>
                <a:ea typeface="Calibri" pitchFamily="34" charset="-122"/>
                <a:cs typeface="Calibri" pitchFamily="34" charset="-120"/>
              </a:rPr>
              <a:t>Need-to-know is nearly free for an agent, because its context is something you fully control.</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347472"/>
            <a:ext cx="11055096" cy="566928"/>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The reset cycle: why disposability is a safety feature</a:t>
            </a:r>
            <a:endParaRPr lang="en-US" sz="3000" dirty="0"/>
          </a:p>
        </p:txBody>
      </p:sp>
      <p:sp>
        <p:nvSpPr>
          <p:cNvPr id="3" name="Text 1"/>
          <p:cNvSpPr txBox="1"/>
          <p:nvPr/>
        </p:nvSpPr>
        <p:spPr>
          <a:xfrm>
            <a:off x="566928" y="914400"/>
            <a:ext cx="11055096" cy="329184"/>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 weekly seal bounds how far any single failure can propagate.</a:t>
            </a:r>
            <a:endParaRPr lang="en-US" sz="1400" dirty="0"/>
          </a:p>
        </p:txBody>
      </p:sp>
      <p:sp>
        <p:nvSpPr>
          <p:cNvPr id="4" name="Shape 2"/>
          <p:cNvSpPr/>
          <p:nvPr/>
        </p:nvSpPr>
        <p:spPr>
          <a:xfrm>
            <a:off x="566928" y="1481328"/>
            <a:ext cx="2674620" cy="1965960"/>
          </a:xfrm>
          <a:prstGeom prst="rect">
            <a:avLst/>
          </a:prstGeom>
          <a:solidFill>
            <a:srgbClr val="FFFFFF"/>
          </a:solidFill>
          <a:ln w="12700">
            <a:solidFill>
              <a:srgbClr val="E5E7EB"/>
            </a:solidFill>
            <a:prstDash val="solid"/>
          </a:ln>
        </p:spPr>
      </p:sp>
      <p:sp>
        <p:nvSpPr>
          <p:cNvPr id="5" name="Shape 3"/>
          <p:cNvSpPr/>
          <p:nvPr/>
        </p:nvSpPr>
        <p:spPr>
          <a:xfrm>
            <a:off x="804672" y="1773936"/>
            <a:ext cx="137160" cy="137160"/>
          </a:xfrm>
          <a:prstGeom prst="rect">
            <a:avLst/>
          </a:prstGeom>
          <a:solidFill>
            <a:srgbClr val="6D28D9"/>
          </a:solidFill>
          <a:ln w="12700">
            <a:solidFill>
              <a:srgbClr val="6D28D9"/>
            </a:solidFill>
            <a:prstDash val="solid"/>
          </a:ln>
        </p:spPr>
      </p:sp>
      <p:sp>
        <p:nvSpPr>
          <p:cNvPr id="6" name="Text 4"/>
          <p:cNvSpPr txBox="1"/>
          <p:nvPr/>
        </p:nvSpPr>
        <p:spPr>
          <a:xfrm>
            <a:off x="1042416" y="1664208"/>
            <a:ext cx="1961388" cy="347472"/>
          </a:xfrm>
          <a:prstGeom prst="rect">
            <a:avLst/>
          </a:prstGeom>
          <a:noFill/>
          <a:ln/>
        </p:spPr>
        <p:txBody>
          <a:bodyPr wrap="square" lIns="0" tIns="0" rIns="0" bIns="0" rtlCol="0" anchor="ctr"/>
          <a:lstStyle/>
          <a:p>
            <a:pPr indent="0" marL="0">
              <a:buNone/>
            </a:pPr>
            <a:r>
              <a:rPr lang="en-US" sz="1700" b="1" dirty="0">
                <a:solidFill>
                  <a:srgbClr val="6D28D9"/>
                </a:solidFill>
                <a:latin typeface="Cambria" pitchFamily="34" charset="0"/>
                <a:ea typeface="Cambria" pitchFamily="34" charset="-122"/>
                <a:cs typeface="Cambria" pitchFamily="34" charset="-120"/>
              </a:rPr>
              <a:t>Seal</a:t>
            </a:r>
            <a:endParaRPr lang="en-US" sz="1700" dirty="0"/>
          </a:p>
        </p:txBody>
      </p:sp>
      <p:sp>
        <p:nvSpPr>
          <p:cNvPr id="7" name="Text 5"/>
          <p:cNvSpPr txBox="1"/>
          <p:nvPr/>
        </p:nvSpPr>
        <p:spPr>
          <a:xfrm>
            <a:off x="804672" y="2084832"/>
            <a:ext cx="2199132" cy="1280160"/>
          </a:xfrm>
          <a:prstGeom prst="rect">
            <a:avLst/>
          </a:prstGeom>
          <a:noFill/>
          <a:ln/>
        </p:spPr>
        <p:txBody>
          <a:bodyPr wrap="square" lIns="0" tIns="0" rIns="0" bIns="0" rtlCol="0" anchor="t"/>
          <a:lstStyle/>
          <a:p>
            <a:pPr indent="0" marL="0">
              <a:lnSpc>
                <a:spcPts val="1500"/>
              </a:lnSpc>
              <a:buNone/>
            </a:pPr>
            <a:r>
              <a:rPr lang="en-US" sz="1150" dirty="0">
                <a:solidFill>
                  <a:srgbClr val="374151"/>
                </a:solidFill>
                <a:latin typeface="Calibri" pitchFamily="34" charset="0"/>
                <a:ea typeface="Calibri" pitchFamily="34" charset="-122"/>
                <a:cs typeface="Calibri" pitchFamily="34" charset="-120"/>
              </a:rPr>
              <a:t>The canvas is snapshotted into an immutable archive directory and committed under a tag named for the era. The published state becomes permanently addressable.</a:t>
            </a:r>
            <a:endParaRPr lang="en-US" sz="1150" dirty="0"/>
          </a:p>
        </p:txBody>
      </p:sp>
      <p:sp>
        <p:nvSpPr>
          <p:cNvPr id="8" name="Shape 6"/>
          <p:cNvSpPr/>
          <p:nvPr/>
        </p:nvSpPr>
        <p:spPr>
          <a:xfrm>
            <a:off x="3294583" y="1481328"/>
            <a:ext cx="2674620" cy="1965960"/>
          </a:xfrm>
          <a:prstGeom prst="rect">
            <a:avLst/>
          </a:prstGeom>
          <a:solidFill>
            <a:srgbClr val="FFFFFF"/>
          </a:solidFill>
          <a:ln w="12700">
            <a:solidFill>
              <a:srgbClr val="E5E7EB"/>
            </a:solidFill>
            <a:prstDash val="solid"/>
          </a:ln>
        </p:spPr>
      </p:sp>
      <p:sp>
        <p:nvSpPr>
          <p:cNvPr id="9" name="Shape 7"/>
          <p:cNvSpPr/>
          <p:nvPr/>
        </p:nvSpPr>
        <p:spPr>
          <a:xfrm>
            <a:off x="3532327" y="1773936"/>
            <a:ext cx="137160" cy="137160"/>
          </a:xfrm>
          <a:prstGeom prst="rect">
            <a:avLst/>
          </a:prstGeom>
          <a:solidFill>
            <a:srgbClr val="0E7490"/>
          </a:solidFill>
          <a:ln w="12700">
            <a:solidFill>
              <a:srgbClr val="0E7490"/>
            </a:solidFill>
            <a:prstDash val="solid"/>
          </a:ln>
        </p:spPr>
      </p:sp>
      <p:sp>
        <p:nvSpPr>
          <p:cNvPr id="10" name="Text 8"/>
          <p:cNvSpPr txBox="1"/>
          <p:nvPr/>
        </p:nvSpPr>
        <p:spPr>
          <a:xfrm>
            <a:off x="3770071" y="1664208"/>
            <a:ext cx="1961388" cy="347472"/>
          </a:xfrm>
          <a:prstGeom prst="rect">
            <a:avLst/>
          </a:prstGeom>
          <a:noFill/>
          <a:ln/>
        </p:spPr>
        <p:txBody>
          <a:bodyPr wrap="square" lIns="0" tIns="0" rIns="0" bIns="0" rtlCol="0" anchor="ctr"/>
          <a:lstStyle/>
          <a:p>
            <a:pPr indent="0" marL="0">
              <a:buNone/>
            </a:pPr>
            <a:r>
              <a:rPr lang="en-US" sz="1700" b="1" dirty="0">
                <a:solidFill>
                  <a:srgbClr val="0E7490"/>
                </a:solidFill>
                <a:latin typeface="Cambria" pitchFamily="34" charset="0"/>
                <a:ea typeface="Cambria" pitchFamily="34" charset="-122"/>
                <a:cs typeface="Cambria" pitchFamily="34" charset="-120"/>
              </a:rPr>
              <a:t>Ledger</a:t>
            </a:r>
            <a:endParaRPr lang="en-US" sz="1700" dirty="0"/>
          </a:p>
        </p:txBody>
      </p:sp>
      <p:sp>
        <p:nvSpPr>
          <p:cNvPr id="11" name="Text 9"/>
          <p:cNvSpPr txBox="1"/>
          <p:nvPr/>
        </p:nvSpPr>
        <p:spPr>
          <a:xfrm>
            <a:off x="3532327" y="2084832"/>
            <a:ext cx="2199132" cy="1280160"/>
          </a:xfrm>
          <a:prstGeom prst="rect">
            <a:avLst/>
          </a:prstGeom>
          <a:noFill/>
          <a:ln/>
        </p:spPr>
        <p:txBody>
          <a:bodyPr wrap="square" lIns="0" tIns="0" rIns="0" bIns="0" rtlCol="0" anchor="t"/>
          <a:lstStyle/>
          <a:p>
            <a:pPr indent="0" marL="0">
              <a:lnSpc>
                <a:spcPts val="1500"/>
              </a:lnSpc>
              <a:buNone/>
            </a:pPr>
            <a:r>
              <a:rPr lang="en-US" sz="1150" dirty="0">
                <a:solidFill>
                  <a:srgbClr val="374151"/>
                </a:solidFill>
                <a:latin typeface="Calibri" pitchFamily="34" charset="0"/>
                <a:ea typeface="Calibri" pitchFamily="34" charset="-122"/>
                <a:cs typeface="Calibri" pitchFamily="34" charset="-120"/>
              </a:rPr>
              <a:t>An append-only record gains one entry per era: theme, date range, closing note, and which model wrote it. This is the benchmarking substrate.</a:t>
            </a:r>
            <a:endParaRPr lang="en-US" sz="1150" dirty="0"/>
          </a:p>
        </p:txBody>
      </p:sp>
      <p:sp>
        <p:nvSpPr>
          <p:cNvPr id="12" name="Shape 10"/>
          <p:cNvSpPr/>
          <p:nvPr/>
        </p:nvSpPr>
        <p:spPr>
          <a:xfrm>
            <a:off x="6022238" y="1481328"/>
            <a:ext cx="2674620" cy="1965960"/>
          </a:xfrm>
          <a:prstGeom prst="rect">
            <a:avLst/>
          </a:prstGeom>
          <a:solidFill>
            <a:srgbClr val="FFFFFF"/>
          </a:solidFill>
          <a:ln w="12700">
            <a:solidFill>
              <a:srgbClr val="E5E7EB"/>
            </a:solidFill>
            <a:prstDash val="solid"/>
          </a:ln>
        </p:spPr>
      </p:sp>
      <p:sp>
        <p:nvSpPr>
          <p:cNvPr id="13" name="Shape 11"/>
          <p:cNvSpPr/>
          <p:nvPr/>
        </p:nvSpPr>
        <p:spPr>
          <a:xfrm>
            <a:off x="6259982" y="1773936"/>
            <a:ext cx="137160" cy="137160"/>
          </a:xfrm>
          <a:prstGeom prst="rect">
            <a:avLst/>
          </a:prstGeom>
          <a:solidFill>
            <a:srgbClr val="B45309"/>
          </a:solidFill>
          <a:ln w="12700">
            <a:solidFill>
              <a:srgbClr val="B45309"/>
            </a:solidFill>
            <a:prstDash val="solid"/>
          </a:ln>
        </p:spPr>
      </p:sp>
      <p:sp>
        <p:nvSpPr>
          <p:cNvPr id="14" name="Text 12"/>
          <p:cNvSpPr txBox="1"/>
          <p:nvPr/>
        </p:nvSpPr>
        <p:spPr>
          <a:xfrm>
            <a:off x="6497726" y="1664208"/>
            <a:ext cx="1961388" cy="347472"/>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Rotate</a:t>
            </a:r>
            <a:endParaRPr lang="en-US" sz="1700" dirty="0"/>
          </a:p>
        </p:txBody>
      </p:sp>
      <p:sp>
        <p:nvSpPr>
          <p:cNvPr id="15" name="Text 13"/>
          <p:cNvSpPr txBox="1"/>
          <p:nvPr/>
        </p:nvSpPr>
        <p:spPr>
          <a:xfrm>
            <a:off x="6259982" y="2084832"/>
            <a:ext cx="2199132" cy="1280160"/>
          </a:xfrm>
          <a:prstGeom prst="rect">
            <a:avLst/>
          </a:prstGeom>
          <a:noFill/>
          <a:ln/>
        </p:spPr>
        <p:txBody>
          <a:bodyPr wrap="square" lIns="0" tIns="0" rIns="0" bIns="0" rtlCol="0" anchor="t"/>
          <a:lstStyle/>
          <a:p>
            <a:pPr indent="0" marL="0">
              <a:lnSpc>
                <a:spcPts val="1500"/>
              </a:lnSpc>
              <a:buNone/>
            </a:pPr>
            <a:r>
              <a:rPr lang="en-US" sz="1150" dirty="0">
                <a:solidFill>
                  <a:srgbClr val="374151"/>
                </a:solidFill>
                <a:latin typeface="Calibri" pitchFamily="34" charset="0"/>
                <a:ea typeface="Calibri" pitchFamily="34" charset="-122"/>
                <a:cs typeface="Calibri" pitchFamily="34" charset="-120"/>
              </a:rPr>
              <a:t>The coding-model alias is repointed to a different candidate from a pool. Task, constraints and hardware stay fixed; only the model varies.</a:t>
            </a:r>
            <a:endParaRPr lang="en-US" sz="1150" dirty="0"/>
          </a:p>
        </p:txBody>
      </p:sp>
      <p:sp>
        <p:nvSpPr>
          <p:cNvPr id="16" name="Shape 14"/>
          <p:cNvSpPr/>
          <p:nvPr/>
        </p:nvSpPr>
        <p:spPr>
          <a:xfrm>
            <a:off x="8749894" y="1481328"/>
            <a:ext cx="2674620" cy="1965960"/>
          </a:xfrm>
          <a:prstGeom prst="rect">
            <a:avLst/>
          </a:prstGeom>
          <a:solidFill>
            <a:srgbClr val="FFFFFF"/>
          </a:solidFill>
          <a:ln w="12700">
            <a:solidFill>
              <a:srgbClr val="E5E7EB"/>
            </a:solidFill>
            <a:prstDash val="solid"/>
          </a:ln>
        </p:spPr>
      </p:sp>
      <p:sp>
        <p:nvSpPr>
          <p:cNvPr id="17" name="Shape 15"/>
          <p:cNvSpPr/>
          <p:nvPr/>
        </p:nvSpPr>
        <p:spPr>
          <a:xfrm>
            <a:off x="8987638" y="1773936"/>
            <a:ext cx="137160" cy="137160"/>
          </a:xfrm>
          <a:prstGeom prst="rect">
            <a:avLst/>
          </a:prstGeom>
          <a:solidFill>
            <a:srgbClr val="15803D"/>
          </a:solidFill>
          <a:ln w="12700">
            <a:solidFill>
              <a:srgbClr val="15803D"/>
            </a:solidFill>
            <a:prstDash val="solid"/>
          </a:ln>
        </p:spPr>
      </p:sp>
      <p:sp>
        <p:nvSpPr>
          <p:cNvPr id="18" name="Text 16"/>
          <p:cNvSpPr txBox="1"/>
          <p:nvPr/>
        </p:nvSpPr>
        <p:spPr>
          <a:xfrm>
            <a:off x="9225382" y="1664208"/>
            <a:ext cx="1961388" cy="347472"/>
          </a:xfrm>
          <a:prstGeom prst="rect">
            <a:avLst/>
          </a:prstGeom>
          <a:noFill/>
          <a:ln/>
        </p:spPr>
        <p:txBody>
          <a:bodyPr wrap="square" lIns="0" tIns="0" rIns="0" bIns="0" rtlCol="0" anchor="ctr"/>
          <a:lstStyle/>
          <a:p>
            <a:pPr indent="0" marL="0">
              <a:buNone/>
            </a:pPr>
            <a:r>
              <a:rPr lang="en-US" sz="1700" b="1" dirty="0">
                <a:solidFill>
                  <a:srgbClr val="15803D"/>
                </a:solidFill>
                <a:latin typeface="Cambria" pitchFamily="34" charset="0"/>
                <a:ea typeface="Cambria" pitchFamily="34" charset="-122"/>
                <a:cs typeface="Cambria" pitchFamily="34" charset="-120"/>
              </a:rPr>
              <a:t>Reseed</a:t>
            </a:r>
            <a:endParaRPr lang="en-US" sz="1700" dirty="0"/>
          </a:p>
        </p:txBody>
      </p:sp>
      <p:sp>
        <p:nvSpPr>
          <p:cNvPr id="19" name="Text 17"/>
          <p:cNvSpPr txBox="1"/>
          <p:nvPr/>
        </p:nvSpPr>
        <p:spPr>
          <a:xfrm>
            <a:off x="8987638" y="2084832"/>
            <a:ext cx="2199132" cy="1280160"/>
          </a:xfrm>
          <a:prstGeom prst="rect">
            <a:avLst/>
          </a:prstGeom>
          <a:noFill/>
          <a:ln/>
        </p:spPr>
        <p:txBody>
          <a:bodyPr wrap="square" lIns="0" tIns="0" rIns="0" bIns="0" rtlCol="0" anchor="t"/>
          <a:lstStyle/>
          <a:p>
            <a:pPr indent="0" marL="0">
              <a:lnSpc>
                <a:spcPts val="1500"/>
              </a:lnSpc>
              <a:buNone/>
            </a:pPr>
            <a:r>
              <a:rPr lang="en-US" sz="1150" dirty="0">
                <a:solidFill>
                  <a:srgbClr val="374151"/>
                </a:solidFill>
                <a:latin typeface="Calibri" pitchFamily="34" charset="0"/>
                <a:ea typeface="Calibri" pitchFamily="34" charset="-122"/>
                <a:cs typeface="Calibri" pitchFamily="34" charset="-120"/>
              </a:rPr>
              <a:t>The canvas is wiped and replaced with a minimal clean slate, carrying nothing forward but an era number and a week identifier.</a:t>
            </a:r>
            <a:endParaRPr lang="en-US" sz="1150" dirty="0"/>
          </a:p>
        </p:txBody>
      </p:sp>
      <p:sp>
        <p:nvSpPr>
          <p:cNvPr id="20" name="Shape 18"/>
          <p:cNvSpPr/>
          <p:nvPr/>
        </p:nvSpPr>
        <p:spPr>
          <a:xfrm>
            <a:off x="566928" y="3721608"/>
            <a:ext cx="11055096" cy="1287018"/>
          </a:xfrm>
          <a:prstGeom prst="rect">
            <a:avLst/>
          </a:prstGeom>
          <a:solidFill>
            <a:srgbClr val="F3F4F6"/>
          </a:solidFill>
          <a:ln w="12700">
            <a:solidFill>
              <a:srgbClr val="E5E7EB"/>
            </a:solidFill>
            <a:prstDash val="solid"/>
          </a:ln>
        </p:spPr>
      </p:sp>
      <p:sp>
        <p:nvSpPr>
          <p:cNvPr id="21" name="Text 19"/>
          <p:cNvSpPr txBox="1"/>
          <p:nvPr/>
        </p:nvSpPr>
        <p:spPr>
          <a:xfrm>
            <a:off x="877824" y="3858768"/>
            <a:ext cx="10433304" cy="292608"/>
          </a:xfrm>
          <a:prstGeom prst="rect">
            <a:avLst/>
          </a:prstGeom>
          <a:noFill/>
          <a:ln/>
        </p:spPr>
        <p:txBody>
          <a:bodyPr wrap="square" lIns="0" tIns="0" rIns="0" bIns="0" rtlCol="0" anchor="t"/>
          <a:lstStyle/>
          <a:p>
            <a:pPr indent="0" marL="0">
              <a:buNone/>
            </a:pPr>
            <a:r>
              <a:rPr lang="en-US" sz="1500" b="1" dirty="0">
                <a:solidFill>
                  <a:srgbClr val="1F2937"/>
                </a:solidFill>
                <a:latin typeface="Cambria" pitchFamily="34" charset="0"/>
                <a:ea typeface="Cambria" pitchFamily="34" charset="-122"/>
                <a:cs typeface="Cambria" pitchFamily="34" charset="-120"/>
              </a:rPr>
              <a:t>Three properties fall out of one cadence</a:t>
            </a:r>
            <a:endParaRPr lang="en-US" sz="1500" dirty="0"/>
          </a:p>
        </p:txBody>
      </p:sp>
      <p:sp>
        <p:nvSpPr>
          <p:cNvPr id="22" name="Text 20"/>
          <p:cNvSpPr txBox="1"/>
          <p:nvPr/>
        </p:nvSpPr>
        <p:spPr>
          <a:xfrm>
            <a:off x="877824" y="4233672"/>
            <a:ext cx="10433304" cy="720090"/>
          </a:xfrm>
          <a:prstGeom prst="rect">
            <a:avLst/>
          </a:prstGeom>
          <a:noFill/>
          <a:ln/>
        </p:spPr>
        <p:txBody>
          <a:bodyPr wrap="square" lIns="0" tIns="0" rIns="0" bIns="0" rtlCol="0" anchor="t"/>
          <a:lstStyle/>
          <a:p>
            <a:pPr indent="0" marL="0">
              <a:lnSpc>
                <a:spcPts val="1650"/>
              </a:lnSpc>
              <a:buNone/>
            </a:pPr>
            <a:r>
              <a:rPr lang="en-US" sz="1250" b="1" dirty="0">
                <a:solidFill>
                  <a:srgbClr val="1F2937"/>
                </a:solidFill>
                <a:latin typeface="Calibri" pitchFamily="34" charset="0"/>
                <a:ea typeface="Calibri" pitchFamily="34" charset="-122"/>
                <a:cs typeface="Calibri" pitchFamily="34" charset="-120"/>
              </a:rPr>
              <a:t>Bounded blast radius — a bad week is recoverable by checkout and cannot contaminate the next. </a:t>
            </a:r>
            <a:pPr indent="0" marL="0">
              <a:lnSpc>
                <a:spcPts val="1650"/>
              </a:lnSpc>
              <a:buNone/>
            </a:pPr>
            <a:r>
              <a:rPr lang="en-US" sz="1250" dirty="0">
                <a:solidFill>
                  <a:srgbClr val="374151"/>
                </a:solidFill>
                <a:latin typeface="Calibri" pitchFamily="34" charset="0"/>
                <a:ea typeface="Calibri" pitchFamily="34" charset="-122"/>
                <a:cs typeface="Calibri" pitchFamily="34" charset="-120"/>
              </a:rPr>
              <a:t>A controlled experiment — holding the task constant while rotating the model turns routine operation into a longitudinal comparison on real work. </a:t>
            </a:r>
            <a:pPr indent="0" marL="0">
              <a:lnSpc>
                <a:spcPts val="1650"/>
              </a:lnSpc>
              <a:buNone/>
            </a:pPr>
            <a:r>
              <a:rPr lang="en-US" sz="1250" dirty="0">
                <a:solidFill>
                  <a:srgbClr val="374151"/>
                </a:solidFill>
                <a:latin typeface="Calibri" pitchFamily="34" charset="0"/>
                <a:ea typeface="Calibri" pitchFamily="34" charset="-122"/>
                <a:cs typeface="Calibri" pitchFamily="34" charset="-120"/>
              </a:rPr>
              <a:t>A forcing function for durable state — anything worth keeping must be written to the memory plane.</a:t>
            </a:r>
            <a:endParaRPr lang="en-US" sz="1250" dirty="0"/>
          </a:p>
        </p:txBody>
      </p:sp>
      <p:sp>
        <p:nvSpPr>
          <p:cNvPr id="23" name="Shape 21"/>
          <p:cNvSpPr/>
          <p:nvPr/>
        </p:nvSpPr>
        <p:spPr>
          <a:xfrm>
            <a:off x="566928" y="5282946"/>
            <a:ext cx="11055096" cy="1287018"/>
          </a:xfrm>
          <a:prstGeom prst="rect">
            <a:avLst/>
          </a:prstGeom>
          <a:solidFill>
            <a:srgbClr val="F3F4F6"/>
          </a:solidFill>
          <a:ln w="12700">
            <a:solidFill>
              <a:srgbClr val="E5E7EB"/>
            </a:solidFill>
            <a:prstDash val="solid"/>
          </a:ln>
        </p:spPr>
      </p:sp>
      <p:sp>
        <p:nvSpPr>
          <p:cNvPr id="24" name="Text 22"/>
          <p:cNvSpPr txBox="1"/>
          <p:nvPr/>
        </p:nvSpPr>
        <p:spPr>
          <a:xfrm>
            <a:off x="877824" y="5420106"/>
            <a:ext cx="10433304" cy="292608"/>
          </a:xfrm>
          <a:prstGeom prst="rect">
            <a:avLst/>
          </a:prstGeom>
          <a:noFill/>
          <a:ln/>
        </p:spPr>
        <p:txBody>
          <a:bodyPr wrap="square" lIns="0" tIns="0" rIns="0" bIns="0" rtlCol="0" anchor="t"/>
          <a:lstStyle/>
          <a:p>
            <a:pPr indent="0" marL="0">
              <a:buNone/>
            </a:pPr>
            <a:r>
              <a:rPr lang="en-US" sz="1500" b="1" dirty="0">
                <a:solidFill>
                  <a:srgbClr val="1F2937"/>
                </a:solidFill>
                <a:latin typeface="Cambria" pitchFamily="34" charset="0"/>
                <a:ea typeface="Cambria" pitchFamily="34" charset="-122"/>
                <a:cs typeface="Cambria" pitchFamily="34" charset="-120"/>
              </a:rPr>
              <a:t>The measurement this enables</a:t>
            </a:r>
            <a:endParaRPr lang="en-US" sz="1500" dirty="0"/>
          </a:p>
        </p:txBody>
      </p:sp>
      <p:sp>
        <p:nvSpPr>
          <p:cNvPr id="25" name="Text 23"/>
          <p:cNvSpPr txBox="1"/>
          <p:nvPr/>
        </p:nvSpPr>
        <p:spPr>
          <a:xfrm>
            <a:off x="877824" y="5795010"/>
            <a:ext cx="10433304" cy="720090"/>
          </a:xfrm>
          <a:prstGeom prst="rect">
            <a:avLst/>
          </a:prstGeom>
          <a:noFill/>
          <a:ln/>
        </p:spPr>
        <p:txBody>
          <a:bodyPr wrap="square" lIns="0" tIns="0" rIns="0" bIns="0" rtlCol="0" anchor="t"/>
          <a:lstStyle/>
          <a:p>
            <a:pPr indent="0" marL="0">
              <a:lnSpc>
                <a:spcPts val="1650"/>
              </a:lnSpc>
              <a:buNone/>
            </a:pPr>
            <a:r>
              <a:rPr lang="en-US" sz="1250" dirty="0">
                <a:solidFill>
                  <a:srgbClr val="374151"/>
                </a:solidFill>
                <a:latin typeface="Calibri" pitchFamily="34" charset="0"/>
                <a:ea typeface="Calibri" pitchFamily="34" charset="-122"/>
                <a:cs typeface="Calibri" pitchFamily="34" charset="-120"/>
              </a:rPr>
              <a:t>Tokens, time and lines changed per era are already derivable from the gateway and the tag history. Pair those with power draw and you get cost per feature in joules as well as dollars. </a:t>
            </a:r>
            <a:pPr indent="0" marL="0">
              <a:lnSpc>
                <a:spcPts val="1650"/>
              </a:lnSpc>
              <a:buNone/>
            </a:pPr>
            <a:r>
              <a:rPr lang="en-US" sz="1250" b="1" dirty="0">
                <a:solidFill>
                  <a:srgbClr val="1F2937"/>
                </a:solidFill>
                <a:latin typeface="Calibri" pitchFamily="34" charset="0"/>
                <a:ea typeface="Calibri" pitchFamily="34" charset="-122"/>
                <a:cs typeface="Calibri" pitchFamily="34" charset="-120"/>
              </a:rPr>
              <a:t>The discipline that makes it credible: never publish a number you did not measure.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66928" y="347472"/>
            <a:ext cx="11055096" cy="566928"/>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Verification is part of the pattern, not a postscript</a:t>
            </a:r>
            <a:endParaRPr lang="en-US" sz="3000" dirty="0"/>
          </a:p>
        </p:txBody>
      </p:sp>
      <p:sp>
        <p:nvSpPr>
          <p:cNvPr id="3" name="Text 1"/>
          <p:cNvSpPr txBox="1"/>
          <p:nvPr/>
        </p:nvSpPr>
        <p:spPr>
          <a:xfrm>
            <a:off x="566928" y="914400"/>
            <a:ext cx="11055096" cy="329184"/>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Each claim in this architecture is paired with a suite that attempts to violate it.</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5096" cy="914400"/>
        </p:xfrm>
        <a:graphic>
          <a:graphicData uri="http://schemas.openxmlformats.org/drawingml/2006/table">
            <a:tbl>
              <a:tblPr/>
              <a:tblGrid>
                <a:gridCol w="2194560"/>
                <a:gridCol w="3657600"/>
                <a:gridCol w="5202936"/>
              </a:tblGrid>
              <a:tr h="402336">
                <a:tc>
                  <a:txBody>
                    <a:bodyPr/>
                    <a:lstStyle/>
                    <a:p>
                      <a:pPr indent="0" marL="0">
                        <a:buNone/>
                      </a:pPr>
                      <a:r>
                        <a:rPr lang="en-US" sz="1150" b="1" spc="120" kern="0" dirty="0">
                          <a:solidFill>
                            <a:srgbClr val="B45309"/>
                          </a:solidFill>
                          <a:latin typeface="Calibri" pitchFamily="34" charset="0"/>
                          <a:ea typeface="Calibri" pitchFamily="34" charset="-122"/>
                          <a:cs typeface="Calibri" pitchFamily="34" charset="-120"/>
                        </a:rPr>
                        <a:t>SUITE</a:t>
                      </a:r>
                      <a:endParaRPr lang="en-US" sz="115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b="1" spc="120" kern="0" dirty="0">
                          <a:solidFill>
                            <a:srgbClr val="B45309"/>
                          </a:solidFill>
                          <a:latin typeface="Calibri" pitchFamily="34" charset="0"/>
                          <a:ea typeface="Calibri" pitchFamily="34" charset="-122"/>
                          <a:cs typeface="Calibri" pitchFamily="34" charset="-120"/>
                        </a:rPr>
                        <a:t>PROPERTY UNDER TEST</a:t>
                      </a:r>
                      <a:endParaRPr lang="en-US" sz="115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50" b="1" spc="120" kern="0" dirty="0">
                          <a:solidFill>
                            <a:srgbClr val="B45309"/>
                          </a:solidFill>
                          <a:latin typeface="Calibri" pitchFamily="34" charset="0"/>
                          <a:ea typeface="Calibri" pitchFamily="34" charset="-122"/>
                          <a:cs typeface="Calibri" pitchFamily="34" charset="-120"/>
                        </a:rPr>
                        <a:t>HOW IT PROVES IT</a:t>
                      </a:r>
                      <a:endParaRPr lang="en-US" sz="115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Agent isolation</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Tenant partitioning and sandbox posture</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Asserts no container runtime socket; scans memory for leaked infrastructure strings</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Canvas authority</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Content is writable; state survives a reset</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Seeds probes, deletes the canvas, requires the probes to survive</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Credential custody</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No publishing credential inside the container</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Fails on any token in the environment, then does a live commit and push</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1F2937"/>
                          </a:solidFill>
                          <a:latin typeface="Calibri" pitchFamily="34" charset="0"/>
                          <a:ea typeface="Calibri" pitchFamily="34" charset="-122"/>
                          <a:cs typeface="Calibri" pitchFamily="34" charset="-120"/>
                        </a:rPr>
                        <a:t>Publish guardrails</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Governed paths unwritable; the gate holds</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200" dirty="0">
                          <a:solidFill>
                            <a:srgbClr val="374151"/>
                          </a:solidFill>
                          <a:latin typeface="Calibri" pitchFamily="34" charset="0"/>
                          <a:ea typeface="Calibri" pitchFamily="34" charset="-122"/>
                          <a:cs typeface="Calibri" pitchFamily="34" charset="-120"/>
                        </a:rPr>
                        <a:t>Attempts the forbidden write and requires failure, then drives a full deploy</a:t>
                      </a:r>
                      <a:endParaRPr lang="en-US" sz="1200" dirty="0">
                        <a:latin typeface="Calibri" charset="0"/>
                        <a:ea typeface="Calibri" charset="0"/>
                        <a:cs typeface="Calibri" charset="0"/>
                      </a:endParaRPr>
                    </a:p>
                  </a:txBody>
                  <a:tcPr marL="114300" marR="114300" marT="88900" marB="88900" anchor="t">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3794760"/>
            <a:ext cx="11055096" cy="1077468"/>
          </a:xfrm>
          <a:prstGeom prst="rect">
            <a:avLst/>
          </a:prstGeom>
          <a:solidFill>
            <a:srgbClr val="F3F4F6"/>
          </a:solidFill>
          <a:ln w="12700">
            <a:solidFill>
              <a:srgbClr val="E5E7EB"/>
            </a:solidFill>
            <a:prstDash val="solid"/>
          </a:ln>
        </p:spPr>
      </p:sp>
      <p:sp>
        <p:nvSpPr>
          <p:cNvPr id="6" name="Text 3"/>
          <p:cNvSpPr txBox="1"/>
          <p:nvPr/>
        </p:nvSpPr>
        <p:spPr>
          <a:xfrm>
            <a:off x="877824" y="3931920"/>
            <a:ext cx="10433304" cy="292608"/>
          </a:xfrm>
          <a:prstGeom prst="rect">
            <a:avLst/>
          </a:prstGeom>
          <a:noFill/>
          <a:ln/>
        </p:spPr>
        <p:txBody>
          <a:bodyPr wrap="square" lIns="0" tIns="0" rIns="0" bIns="0" rtlCol="0" anchor="t"/>
          <a:lstStyle/>
          <a:p>
            <a:pPr indent="0" marL="0">
              <a:buNone/>
            </a:pPr>
            <a:r>
              <a:rPr lang="en-US" sz="1500" b="1" dirty="0">
                <a:solidFill>
                  <a:srgbClr val="1F2937"/>
                </a:solidFill>
                <a:latin typeface="Cambria" pitchFamily="34" charset="0"/>
                <a:ea typeface="Cambria" pitchFamily="34" charset="-122"/>
                <a:cs typeface="Cambria" pitchFamily="34" charset="-120"/>
              </a:rPr>
              <a:t>The design principle worth naming</a:t>
            </a:r>
            <a:endParaRPr lang="en-US" sz="1500" dirty="0"/>
          </a:p>
        </p:txBody>
      </p:sp>
      <p:sp>
        <p:nvSpPr>
          <p:cNvPr id="7" name="Text 4"/>
          <p:cNvSpPr txBox="1"/>
          <p:nvPr/>
        </p:nvSpPr>
        <p:spPr>
          <a:xfrm>
            <a:off x="877824" y="4306824"/>
            <a:ext cx="10433304" cy="510540"/>
          </a:xfrm>
          <a:prstGeom prst="rect">
            <a:avLst/>
          </a:prstGeom>
          <a:noFill/>
          <a:ln/>
        </p:spPr>
        <p:txBody>
          <a:bodyPr wrap="square" lIns="0" tIns="0" rIns="0" bIns="0" rtlCol="0" anchor="t"/>
          <a:lstStyle/>
          <a:p>
            <a:pPr indent="0" marL="0">
              <a:lnSpc>
                <a:spcPts val="1650"/>
              </a:lnSpc>
              <a:buNone/>
            </a:pPr>
            <a:r>
              <a:rPr lang="en-US" sz="1250" dirty="0">
                <a:solidFill>
                  <a:srgbClr val="374151"/>
                </a:solidFill>
                <a:latin typeface="Calibri" pitchFamily="34" charset="0"/>
                <a:ea typeface="Calibri" pitchFamily="34" charset="-122"/>
                <a:cs typeface="Calibri" pitchFamily="34" charset="-120"/>
              </a:rPr>
              <a:t>A control is verified by attempting the thing it forbids and requiring failure. Asserting that a configuration line is present proves only that someone wrote it. </a:t>
            </a:r>
            <a:pPr indent="0" marL="0">
              <a:lnSpc>
                <a:spcPts val="1650"/>
              </a:lnSpc>
              <a:buNone/>
            </a:pPr>
            <a:r>
              <a:rPr lang="en-US" sz="1250" b="1" dirty="0">
                <a:solidFill>
                  <a:srgbClr val="1F2937"/>
                </a:solidFill>
                <a:latin typeface="Calibri" pitchFamily="34" charset="0"/>
                <a:ea typeface="Calibri" pitchFamily="34" charset="-122"/>
                <a:cs typeface="Calibri" pitchFamily="34" charset="-120"/>
              </a:rPr>
              <a:t>Prove the negative, not the setting.</a:t>
            </a:r>
            <a:endParaRPr lang="en-US" sz="1250" dirty="0"/>
          </a:p>
        </p:txBody>
      </p:sp>
      <p:sp>
        <p:nvSpPr>
          <p:cNvPr id="8" name="Shape 5"/>
          <p:cNvSpPr/>
          <p:nvPr/>
        </p:nvSpPr>
        <p:spPr>
          <a:xfrm>
            <a:off x="566928" y="5146548"/>
            <a:ext cx="11055096" cy="1077468"/>
          </a:xfrm>
          <a:prstGeom prst="rect">
            <a:avLst/>
          </a:prstGeom>
          <a:solidFill>
            <a:srgbClr val="FFF7ED"/>
          </a:solidFill>
          <a:ln w="12700">
            <a:solidFill>
              <a:srgbClr val="FED7AA"/>
            </a:solidFill>
            <a:prstDash val="solid"/>
          </a:ln>
        </p:spPr>
      </p:sp>
      <p:sp>
        <p:nvSpPr>
          <p:cNvPr id="9" name="Text 6"/>
          <p:cNvSpPr txBox="1"/>
          <p:nvPr/>
        </p:nvSpPr>
        <p:spPr>
          <a:xfrm>
            <a:off x="877824" y="5283708"/>
            <a:ext cx="10433304" cy="292608"/>
          </a:xfrm>
          <a:prstGeom prst="rect">
            <a:avLst/>
          </a:prstGeom>
          <a:noFill/>
          <a:ln/>
        </p:spPr>
        <p:txBody>
          <a:bodyPr wrap="square" lIns="0" tIns="0" rIns="0" bIns="0" rtlCol="0" anchor="t"/>
          <a:lstStyle/>
          <a:p>
            <a:pPr indent="0" marL="0">
              <a:buNone/>
            </a:pPr>
            <a:r>
              <a:rPr lang="en-US" sz="1500" b="1" dirty="0">
                <a:solidFill>
                  <a:srgbClr val="EA580C"/>
                </a:solidFill>
                <a:latin typeface="Cambria" pitchFamily="34" charset="0"/>
                <a:ea typeface="Cambria" pitchFamily="34" charset="-122"/>
                <a:cs typeface="Cambria" pitchFamily="34" charset="-120"/>
              </a:rPr>
              <a:t>Two cautions for anyone reproducing this</a:t>
            </a:r>
            <a:endParaRPr lang="en-US" sz="1500" dirty="0"/>
          </a:p>
        </p:txBody>
      </p:sp>
      <p:sp>
        <p:nvSpPr>
          <p:cNvPr id="10" name="Text 7"/>
          <p:cNvSpPr txBox="1"/>
          <p:nvPr/>
        </p:nvSpPr>
        <p:spPr>
          <a:xfrm>
            <a:off x="877824" y="5658612"/>
            <a:ext cx="10433304" cy="510540"/>
          </a:xfrm>
          <a:prstGeom prst="rect">
            <a:avLst/>
          </a:prstGeom>
          <a:noFill/>
          <a:ln/>
        </p:spPr>
        <p:txBody>
          <a:bodyPr wrap="square" lIns="0" tIns="0" rIns="0" bIns="0" rtlCol="0" anchor="t"/>
          <a:lstStyle/>
          <a:p>
            <a:pPr indent="0" marL="0">
              <a:lnSpc>
                <a:spcPts val="1650"/>
              </a:lnSpc>
              <a:buNone/>
            </a:pPr>
            <a:r>
              <a:rPr lang="en-US" sz="1250" dirty="0">
                <a:solidFill>
                  <a:srgbClr val="374151"/>
                </a:solidFill>
                <a:latin typeface="Calibri" pitchFamily="34" charset="0"/>
                <a:ea typeface="Calibri" pitchFamily="34" charset="-122"/>
                <a:cs typeface="Calibri" pitchFamily="34" charset="-120"/>
              </a:rPr>
              <a:t>Suites that merge to the deployed branch are operator tools, not continuous-integration jobs. And check each assertion can actually fail: </a:t>
            </a:r>
            <a:pPr indent="0" marL="0">
              <a:lnSpc>
                <a:spcPts val="1650"/>
              </a:lnSpc>
              <a:buNone/>
            </a:pPr>
            <a:r>
              <a:rPr lang="en-US" sz="1250" b="1" dirty="0">
                <a:solidFill>
                  <a:srgbClr val="1F2937"/>
                </a:solidFill>
                <a:latin typeface="Calibri" pitchFamily="34" charset="0"/>
                <a:ea typeface="Calibri" pitchFamily="34" charset="-122"/>
                <a:cs typeface="Calibri" pitchFamily="34" charset="-120"/>
              </a:rPr>
              <a:t>a probe aimed at a path that was never mounted passes for the wrong reason.</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66928" y="347472"/>
            <a:ext cx="11055096" cy="566928"/>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Reproducing the pattern: eight decisions</a:t>
            </a:r>
            <a:endParaRPr lang="en-US" sz="3000" dirty="0"/>
          </a:p>
        </p:txBody>
      </p:sp>
      <p:sp>
        <p:nvSpPr>
          <p:cNvPr id="3" name="Text 1"/>
          <p:cNvSpPr txBox="1"/>
          <p:nvPr/>
        </p:nvSpPr>
        <p:spPr>
          <a:xfrm>
            <a:off x="566928" y="914400"/>
            <a:ext cx="11055096" cy="329184"/>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Domain-independent. None of this is specific to websites, or to this agent.</a:t>
            </a:r>
            <a:endParaRPr lang="en-US" sz="1400" dirty="0"/>
          </a:p>
        </p:txBody>
      </p:sp>
      <p:sp>
        <p:nvSpPr>
          <p:cNvPr id="4" name="Shape 2"/>
          <p:cNvSpPr/>
          <p:nvPr/>
        </p:nvSpPr>
        <p:spPr>
          <a:xfrm>
            <a:off x="566928" y="1481328"/>
            <a:ext cx="5353812" cy="859536"/>
          </a:xfrm>
          <a:prstGeom prst="rect">
            <a:avLst/>
          </a:prstGeom>
          <a:solidFill>
            <a:srgbClr val="FFFFFF"/>
          </a:solidFill>
          <a:ln w="12700">
            <a:solidFill>
              <a:srgbClr val="E5E7EB"/>
            </a:solidFill>
            <a:prstDash val="solid"/>
          </a:ln>
        </p:spPr>
      </p:sp>
      <p:sp>
        <p:nvSpPr>
          <p:cNvPr id="5" name="Shape 3"/>
          <p:cNvSpPr/>
          <p:nvPr/>
        </p:nvSpPr>
        <p:spPr>
          <a:xfrm>
            <a:off x="566928" y="1481328"/>
            <a:ext cx="475488" cy="859536"/>
          </a:xfrm>
          <a:prstGeom prst="rect">
            <a:avLst/>
          </a:prstGeom>
          <a:solidFill>
            <a:srgbClr val="1F2937"/>
          </a:solidFill>
          <a:ln w="12700">
            <a:solidFill>
              <a:srgbClr val="1F2937"/>
            </a:solidFill>
            <a:prstDash val="solid"/>
          </a:ln>
        </p:spPr>
      </p:sp>
      <p:sp>
        <p:nvSpPr>
          <p:cNvPr id="6" name="Text 4"/>
          <p:cNvSpPr txBox="1"/>
          <p:nvPr/>
        </p:nvSpPr>
        <p:spPr>
          <a:xfrm>
            <a:off x="566928" y="1719072"/>
            <a:ext cx="475488"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txBox="1"/>
          <p:nvPr/>
        </p:nvSpPr>
        <p:spPr>
          <a:xfrm>
            <a:off x="1261872" y="1591056"/>
            <a:ext cx="4526280" cy="292608"/>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Split the repository</a:t>
            </a:r>
            <a:endParaRPr lang="en-US" sz="1500" dirty="0"/>
          </a:p>
        </p:txBody>
      </p:sp>
      <p:sp>
        <p:nvSpPr>
          <p:cNvPr id="8" name="Text 6"/>
          <p:cNvSpPr txBox="1"/>
          <p:nvPr/>
        </p:nvSpPr>
        <p:spPr>
          <a:xfrm>
            <a:off x="1261872" y="1892808"/>
            <a:ext cx="4526280" cy="438912"/>
          </a:xfrm>
          <a:prstGeom prst="rect">
            <a:avLst/>
          </a:prstGeom>
          <a:noFill/>
          <a:ln/>
        </p:spPr>
        <p:txBody>
          <a:bodyPr wrap="square" lIns="0" tIns="0" rIns="0" bIns="0" rtlCol="0" anchor="t"/>
          <a:lstStyle/>
          <a:p>
            <a:pPr indent="0" marL="0">
              <a:lnSpc>
                <a:spcPts val="1400"/>
              </a:lnSpc>
              <a:buNone/>
            </a:pPr>
            <a:r>
              <a:rPr lang="en-US" sz="1100" dirty="0">
                <a:solidFill>
                  <a:srgbClr val="374151"/>
                </a:solidFill>
                <a:latin typeface="Calibri" pitchFamily="34" charset="0"/>
                <a:ea typeface="Calibri" pitchFamily="34" charset="-122"/>
                <a:cs typeface="Calibri" pitchFamily="34" charset="-120"/>
              </a:rPr>
              <a:t>Put governance and infrastructure in one repository, agent output in another. Decide this before writing any agent code.</a:t>
            </a:r>
            <a:endParaRPr lang="en-US" sz="1100" dirty="0"/>
          </a:p>
        </p:txBody>
      </p:sp>
      <p:sp>
        <p:nvSpPr>
          <p:cNvPr id="9" name="Shape 7"/>
          <p:cNvSpPr/>
          <p:nvPr/>
        </p:nvSpPr>
        <p:spPr>
          <a:xfrm>
            <a:off x="566928" y="2432304"/>
            <a:ext cx="5353812" cy="859536"/>
          </a:xfrm>
          <a:prstGeom prst="rect">
            <a:avLst/>
          </a:prstGeom>
          <a:solidFill>
            <a:srgbClr val="FFFFFF"/>
          </a:solidFill>
          <a:ln w="12700">
            <a:solidFill>
              <a:srgbClr val="E5E7EB"/>
            </a:solidFill>
            <a:prstDash val="solid"/>
          </a:ln>
        </p:spPr>
      </p:sp>
      <p:sp>
        <p:nvSpPr>
          <p:cNvPr id="10" name="Shape 8"/>
          <p:cNvSpPr/>
          <p:nvPr/>
        </p:nvSpPr>
        <p:spPr>
          <a:xfrm>
            <a:off x="566928" y="2432304"/>
            <a:ext cx="475488" cy="859536"/>
          </a:xfrm>
          <a:prstGeom prst="rect">
            <a:avLst/>
          </a:prstGeom>
          <a:solidFill>
            <a:srgbClr val="1F2937"/>
          </a:solidFill>
          <a:ln w="12700">
            <a:solidFill>
              <a:srgbClr val="1F2937"/>
            </a:solidFill>
            <a:prstDash val="solid"/>
          </a:ln>
        </p:spPr>
      </p:sp>
      <p:sp>
        <p:nvSpPr>
          <p:cNvPr id="11" name="Text 9"/>
          <p:cNvSpPr txBox="1"/>
          <p:nvPr/>
        </p:nvSpPr>
        <p:spPr>
          <a:xfrm>
            <a:off x="566928" y="2670048"/>
            <a:ext cx="475488"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txBox="1"/>
          <p:nvPr/>
        </p:nvSpPr>
        <p:spPr>
          <a:xfrm>
            <a:off x="1261872" y="2542032"/>
            <a:ext cx="4526280" cy="292608"/>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Mask the governance path</a:t>
            </a:r>
            <a:endParaRPr lang="en-US" sz="1500" dirty="0"/>
          </a:p>
        </p:txBody>
      </p:sp>
      <p:sp>
        <p:nvSpPr>
          <p:cNvPr id="13" name="Text 11"/>
          <p:cNvSpPr txBox="1"/>
          <p:nvPr/>
        </p:nvSpPr>
        <p:spPr>
          <a:xfrm>
            <a:off x="1261872" y="2843784"/>
            <a:ext cx="4526280" cy="438912"/>
          </a:xfrm>
          <a:prstGeom prst="rect">
            <a:avLst/>
          </a:prstGeom>
          <a:noFill/>
          <a:ln/>
        </p:spPr>
        <p:txBody>
          <a:bodyPr wrap="square" lIns="0" tIns="0" rIns="0" bIns="0" rtlCol="0" anchor="t"/>
          <a:lstStyle/>
          <a:p>
            <a:pPr indent="0" marL="0">
              <a:lnSpc>
                <a:spcPts val="1400"/>
              </a:lnSpc>
              <a:buNone/>
            </a:pPr>
            <a:r>
              <a:rPr lang="en-US" sz="1100" dirty="0">
                <a:solidFill>
                  <a:srgbClr val="374151"/>
                </a:solidFill>
                <a:latin typeface="Calibri" pitchFamily="34" charset="0"/>
                <a:ea typeface="Calibri" pitchFamily="34" charset="-122"/>
                <a:cs typeface="Calibri" pitchFamily="34" charset="-120"/>
              </a:rPr>
              <a:t>Mount the CI directory read-only beneath the agent so writes fail at the filesystem, not at a policy check.</a:t>
            </a:r>
            <a:endParaRPr lang="en-US" sz="1100" dirty="0"/>
          </a:p>
        </p:txBody>
      </p:sp>
      <p:sp>
        <p:nvSpPr>
          <p:cNvPr id="14" name="Shape 12"/>
          <p:cNvSpPr/>
          <p:nvPr/>
        </p:nvSpPr>
        <p:spPr>
          <a:xfrm>
            <a:off x="566928" y="3383280"/>
            <a:ext cx="5353812" cy="859536"/>
          </a:xfrm>
          <a:prstGeom prst="rect">
            <a:avLst/>
          </a:prstGeom>
          <a:solidFill>
            <a:srgbClr val="FFFFFF"/>
          </a:solidFill>
          <a:ln w="12700">
            <a:solidFill>
              <a:srgbClr val="E5E7EB"/>
            </a:solidFill>
            <a:prstDash val="solid"/>
          </a:ln>
        </p:spPr>
      </p:sp>
      <p:sp>
        <p:nvSpPr>
          <p:cNvPr id="15" name="Shape 13"/>
          <p:cNvSpPr/>
          <p:nvPr/>
        </p:nvSpPr>
        <p:spPr>
          <a:xfrm>
            <a:off x="566928" y="3383280"/>
            <a:ext cx="475488" cy="859536"/>
          </a:xfrm>
          <a:prstGeom prst="rect">
            <a:avLst/>
          </a:prstGeom>
          <a:solidFill>
            <a:srgbClr val="1F2937"/>
          </a:solidFill>
          <a:ln w="12700">
            <a:solidFill>
              <a:srgbClr val="1F2937"/>
            </a:solidFill>
            <a:prstDash val="solid"/>
          </a:ln>
        </p:spPr>
      </p:sp>
      <p:sp>
        <p:nvSpPr>
          <p:cNvPr id="16" name="Text 14"/>
          <p:cNvSpPr txBox="1"/>
          <p:nvPr/>
        </p:nvSpPr>
        <p:spPr>
          <a:xfrm>
            <a:off x="566928" y="3621024"/>
            <a:ext cx="475488"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txBox="1"/>
          <p:nvPr/>
        </p:nvSpPr>
        <p:spPr>
          <a:xfrm>
            <a:off x="1261872" y="3493008"/>
            <a:ext cx="4526280" cy="292608"/>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Inject, never grant</a:t>
            </a:r>
            <a:endParaRPr lang="en-US" sz="1500" dirty="0"/>
          </a:p>
        </p:txBody>
      </p:sp>
      <p:sp>
        <p:nvSpPr>
          <p:cNvPr id="18" name="Text 16"/>
          <p:cNvSpPr txBox="1"/>
          <p:nvPr/>
        </p:nvSpPr>
        <p:spPr>
          <a:xfrm>
            <a:off x="1261872" y="3794760"/>
            <a:ext cx="4526280" cy="438912"/>
          </a:xfrm>
          <a:prstGeom prst="rect">
            <a:avLst/>
          </a:prstGeom>
          <a:noFill/>
          <a:ln/>
        </p:spPr>
        <p:txBody>
          <a:bodyPr wrap="square" lIns="0" tIns="0" rIns="0" bIns="0" rtlCol="0" anchor="t"/>
          <a:lstStyle/>
          <a:p>
            <a:pPr indent="0" marL="0">
              <a:lnSpc>
                <a:spcPts val="1400"/>
              </a:lnSpc>
              <a:buNone/>
            </a:pPr>
            <a:r>
              <a:rPr lang="en-US" sz="1100" dirty="0">
                <a:solidFill>
                  <a:srgbClr val="374151"/>
                </a:solidFill>
                <a:latin typeface="Calibri" pitchFamily="34" charset="0"/>
                <a:ea typeface="Calibri" pitchFamily="34" charset="-122"/>
                <a:cs typeface="Calibri" pitchFamily="34" charset="-120"/>
              </a:rPr>
              <a:t>Rewrite the client to an internal proxy that attaches credentials in transit, and keep the secret in the proxy's environment only.</a:t>
            </a:r>
            <a:endParaRPr lang="en-US" sz="1100" dirty="0"/>
          </a:p>
        </p:txBody>
      </p:sp>
      <p:sp>
        <p:nvSpPr>
          <p:cNvPr id="19" name="Shape 17"/>
          <p:cNvSpPr/>
          <p:nvPr/>
        </p:nvSpPr>
        <p:spPr>
          <a:xfrm>
            <a:off x="566928" y="4334256"/>
            <a:ext cx="5353812" cy="859536"/>
          </a:xfrm>
          <a:prstGeom prst="rect">
            <a:avLst/>
          </a:prstGeom>
          <a:solidFill>
            <a:srgbClr val="FFFFFF"/>
          </a:solidFill>
          <a:ln w="12700">
            <a:solidFill>
              <a:srgbClr val="E5E7EB"/>
            </a:solidFill>
            <a:prstDash val="solid"/>
          </a:ln>
        </p:spPr>
      </p:sp>
      <p:sp>
        <p:nvSpPr>
          <p:cNvPr id="20" name="Shape 18"/>
          <p:cNvSpPr/>
          <p:nvPr/>
        </p:nvSpPr>
        <p:spPr>
          <a:xfrm>
            <a:off x="566928" y="4334256"/>
            <a:ext cx="475488" cy="859536"/>
          </a:xfrm>
          <a:prstGeom prst="rect">
            <a:avLst/>
          </a:prstGeom>
          <a:solidFill>
            <a:srgbClr val="1F2937"/>
          </a:solidFill>
          <a:ln w="12700">
            <a:solidFill>
              <a:srgbClr val="1F2937"/>
            </a:solidFill>
            <a:prstDash val="solid"/>
          </a:ln>
        </p:spPr>
      </p:sp>
      <p:sp>
        <p:nvSpPr>
          <p:cNvPr id="21" name="Text 19"/>
          <p:cNvSpPr txBox="1"/>
          <p:nvPr/>
        </p:nvSpPr>
        <p:spPr>
          <a:xfrm>
            <a:off x="566928" y="4572000"/>
            <a:ext cx="475488"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2" name="Text 20"/>
          <p:cNvSpPr txBox="1"/>
          <p:nvPr/>
        </p:nvSpPr>
        <p:spPr>
          <a:xfrm>
            <a:off x="1261872" y="4443984"/>
            <a:ext cx="4526280" cy="292608"/>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Require a gate it cannot edit</a:t>
            </a:r>
            <a:endParaRPr lang="en-US" sz="1500" dirty="0"/>
          </a:p>
        </p:txBody>
      </p:sp>
      <p:sp>
        <p:nvSpPr>
          <p:cNvPr id="23" name="Text 21"/>
          <p:cNvSpPr txBox="1"/>
          <p:nvPr/>
        </p:nvSpPr>
        <p:spPr>
          <a:xfrm>
            <a:off x="1261872" y="4745736"/>
            <a:ext cx="4526280" cy="438912"/>
          </a:xfrm>
          <a:prstGeom prst="rect">
            <a:avLst/>
          </a:prstGeom>
          <a:noFill/>
          <a:ln/>
        </p:spPr>
        <p:txBody>
          <a:bodyPr wrap="square" lIns="0" tIns="0" rIns="0" bIns="0" rtlCol="0" anchor="t"/>
          <a:lstStyle/>
          <a:p>
            <a:pPr indent="0" marL="0">
              <a:lnSpc>
                <a:spcPts val="1400"/>
              </a:lnSpc>
              <a:buNone/>
            </a:pPr>
            <a:r>
              <a:rPr lang="en-US" sz="1100" dirty="0">
                <a:solidFill>
                  <a:srgbClr val="374151"/>
                </a:solidFill>
                <a:latin typeface="Calibri" pitchFamily="34" charset="0"/>
                <a:ea typeface="Calibri" pitchFamily="34" charset="-122"/>
                <a:cs typeface="Calibri" pitchFamily="34" charset="-120"/>
              </a:rPr>
              <a:t>Branch ruleset plus a required check defined in the masked directory and owned by a human identity.</a:t>
            </a:r>
            <a:endParaRPr lang="en-US" sz="1100" dirty="0"/>
          </a:p>
        </p:txBody>
      </p:sp>
      <p:sp>
        <p:nvSpPr>
          <p:cNvPr id="24" name="Shape 22"/>
          <p:cNvSpPr/>
          <p:nvPr/>
        </p:nvSpPr>
        <p:spPr>
          <a:xfrm>
            <a:off x="6239866" y="1481328"/>
            <a:ext cx="5353812" cy="859536"/>
          </a:xfrm>
          <a:prstGeom prst="rect">
            <a:avLst/>
          </a:prstGeom>
          <a:solidFill>
            <a:srgbClr val="FFFFFF"/>
          </a:solidFill>
          <a:ln w="12700">
            <a:solidFill>
              <a:srgbClr val="E5E7EB"/>
            </a:solidFill>
            <a:prstDash val="solid"/>
          </a:ln>
        </p:spPr>
      </p:sp>
      <p:sp>
        <p:nvSpPr>
          <p:cNvPr id="25" name="Shape 23"/>
          <p:cNvSpPr/>
          <p:nvPr/>
        </p:nvSpPr>
        <p:spPr>
          <a:xfrm>
            <a:off x="6239866" y="1481328"/>
            <a:ext cx="475488" cy="859536"/>
          </a:xfrm>
          <a:prstGeom prst="rect">
            <a:avLst/>
          </a:prstGeom>
          <a:solidFill>
            <a:srgbClr val="1F2937"/>
          </a:solidFill>
          <a:ln w="12700">
            <a:solidFill>
              <a:srgbClr val="1F2937"/>
            </a:solidFill>
            <a:prstDash val="solid"/>
          </a:ln>
        </p:spPr>
      </p:sp>
      <p:sp>
        <p:nvSpPr>
          <p:cNvPr id="26" name="Text 24"/>
          <p:cNvSpPr txBox="1"/>
          <p:nvPr/>
        </p:nvSpPr>
        <p:spPr>
          <a:xfrm>
            <a:off x="6239866" y="1719072"/>
            <a:ext cx="475488"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27" name="Text 25"/>
          <p:cNvSpPr txBox="1"/>
          <p:nvPr/>
        </p:nvSpPr>
        <p:spPr>
          <a:xfrm>
            <a:off x="6934810" y="1591056"/>
            <a:ext cx="4526280" cy="292608"/>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Invert destructive actions</a:t>
            </a:r>
            <a:endParaRPr lang="en-US" sz="1500" dirty="0"/>
          </a:p>
        </p:txBody>
      </p:sp>
      <p:sp>
        <p:nvSpPr>
          <p:cNvPr id="28" name="Text 26"/>
          <p:cNvSpPr txBox="1"/>
          <p:nvPr/>
        </p:nvSpPr>
        <p:spPr>
          <a:xfrm>
            <a:off x="6934810" y="1892808"/>
            <a:ext cx="4526280" cy="438912"/>
          </a:xfrm>
          <a:prstGeom prst="rect">
            <a:avLst/>
          </a:prstGeom>
          <a:noFill/>
          <a:ln/>
        </p:spPr>
        <p:txBody>
          <a:bodyPr wrap="square" lIns="0" tIns="0" rIns="0" bIns="0" rtlCol="0" anchor="t"/>
          <a:lstStyle/>
          <a:p>
            <a:pPr indent="0" marL="0">
              <a:lnSpc>
                <a:spcPts val="1400"/>
              </a:lnSpc>
              <a:buNone/>
            </a:pPr>
            <a:r>
              <a:rPr lang="en-US" sz="1100" dirty="0">
                <a:solidFill>
                  <a:srgbClr val="374151"/>
                </a:solidFill>
                <a:latin typeface="Calibri" pitchFamily="34" charset="0"/>
                <a:ea typeface="Calibri" pitchFamily="34" charset="-122"/>
                <a:cs typeface="Calibri" pitchFamily="34" charset="-120"/>
              </a:rPr>
              <a:t>The agent signals intent; a privileged process outside the sandbox performs anything irreversible, and may refuse.</a:t>
            </a:r>
            <a:endParaRPr lang="en-US" sz="1100" dirty="0"/>
          </a:p>
        </p:txBody>
      </p:sp>
      <p:sp>
        <p:nvSpPr>
          <p:cNvPr id="29" name="Shape 27"/>
          <p:cNvSpPr/>
          <p:nvPr/>
        </p:nvSpPr>
        <p:spPr>
          <a:xfrm>
            <a:off x="6239866" y="2432304"/>
            <a:ext cx="5353812" cy="859536"/>
          </a:xfrm>
          <a:prstGeom prst="rect">
            <a:avLst/>
          </a:prstGeom>
          <a:solidFill>
            <a:srgbClr val="FFFFFF"/>
          </a:solidFill>
          <a:ln w="12700">
            <a:solidFill>
              <a:srgbClr val="E5E7EB"/>
            </a:solidFill>
            <a:prstDash val="solid"/>
          </a:ln>
        </p:spPr>
      </p:sp>
      <p:sp>
        <p:nvSpPr>
          <p:cNvPr id="30" name="Shape 28"/>
          <p:cNvSpPr/>
          <p:nvPr/>
        </p:nvSpPr>
        <p:spPr>
          <a:xfrm>
            <a:off x="6239866" y="2432304"/>
            <a:ext cx="475488" cy="859536"/>
          </a:xfrm>
          <a:prstGeom prst="rect">
            <a:avLst/>
          </a:prstGeom>
          <a:solidFill>
            <a:srgbClr val="1F2937"/>
          </a:solidFill>
          <a:ln w="12700">
            <a:solidFill>
              <a:srgbClr val="1F2937"/>
            </a:solidFill>
            <a:prstDash val="solid"/>
          </a:ln>
        </p:spPr>
      </p:sp>
      <p:sp>
        <p:nvSpPr>
          <p:cNvPr id="31" name="Text 29"/>
          <p:cNvSpPr txBox="1"/>
          <p:nvPr/>
        </p:nvSpPr>
        <p:spPr>
          <a:xfrm>
            <a:off x="6239866" y="2670048"/>
            <a:ext cx="475488"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6</a:t>
            </a:r>
            <a:endParaRPr lang="en-US" sz="1700" dirty="0"/>
          </a:p>
        </p:txBody>
      </p:sp>
      <p:sp>
        <p:nvSpPr>
          <p:cNvPr id="32" name="Text 30"/>
          <p:cNvSpPr txBox="1"/>
          <p:nvPr/>
        </p:nvSpPr>
        <p:spPr>
          <a:xfrm>
            <a:off x="6934810" y="2542032"/>
            <a:ext cx="4526280" cy="292608"/>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Separate disposable from durable</a:t>
            </a:r>
            <a:endParaRPr lang="en-US" sz="1500" dirty="0"/>
          </a:p>
        </p:txBody>
      </p:sp>
      <p:sp>
        <p:nvSpPr>
          <p:cNvPr id="33" name="Text 31"/>
          <p:cNvSpPr txBox="1"/>
          <p:nvPr/>
        </p:nvSpPr>
        <p:spPr>
          <a:xfrm>
            <a:off x="6934810" y="2843784"/>
            <a:ext cx="4526280" cy="438912"/>
          </a:xfrm>
          <a:prstGeom prst="rect">
            <a:avLst/>
          </a:prstGeom>
          <a:noFill/>
          <a:ln/>
        </p:spPr>
        <p:txBody>
          <a:bodyPr wrap="square" lIns="0" tIns="0" rIns="0" bIns="0" rtlCol="0" anchor="t"/>
          <a:lstStyle/>
          <a:p>
            <a:pPr indent="0" marL="0">
              <a:lnSpc>
                <a:spcPts val="1400"/>
              </a:lnSpc>
              <a:buNone/>
            </a:pPr>
            <a:r>
              <a:rPr lang="en-US" sz="1100" dirty="0">
                <a:solidFill>
                  <a:srgbClr val="374151"/>
                </a:solidFill>
                <a:latin typeface="Calibri" pitchFamily="34" charset="0"/>
                <a:ea typeface="Calibri" pitchFamily="34" charset="-122"/>
                <a:cs typeface="Calibri" pitchFamily="34" charset="-120"/>
              </a:rPr>
              <a:t>Output can be wiped on a cadence. Learning and memory must live somewhere the cadence does not reach.</a:t>
            </a:r>
            <a:endParaRPr lang="en-US" sz="1100" dirty="0"/>
          </a:p>
        </p:txBody>
      </p:sp>
      <p:sp>
        <p:nvSpPr>
          <p:cNvPr id="34" name="Shape 32"/>
          <p:cNvSpPr/>
          <p:nvPr/>
        </p:nvSpPr>
        <p:spPr>
          <a:xfrm>
            <a:off x="6239866" y="3383280"/>
            <a:ext cx="5353812" cy="859536"/>
          </a:xfrm>
          <a:prstGeom prst="rect">
            <a:avLst/>
          </a:prstGeom>
          <a:solidFill>
            <a:srgbClr val="FFFFFF"/>
          </a:solidFill>
          <a:ln w="12700">
            <a:solidFill>
              <a:srgbClr val="E5E7EB"/>
            </a:solidFill>
            <a:prstDash val="solid"/>
          </a:ln>
        </p:spPr>
      </p:sp>
      <p:sp>
        <p:nvSpPr>
          <p:cNvPr id="35" name="Shape 33"/>
          <p:cNvSpPr/>
          <p:nvPr/>
        </p:nvSpPr>
        <p:spPr>
          <a:xfrm>
            <a:off x="6239866" y="3383280"/>
            <a:ext cx="475488" cy="859536"/>
          </a:xfrm>
          <a:prstGeom prst="rect">
            <a:avLst/>
          </a:prstGeom>
          <a:solidFill>
            <a:srgbClr val="1F2937"/>
          </a:solidFill>
          <a:ln w="12700">
            <a:solidFill>
              <a:srgbClr val="1F2937"/>
            </a:solidFill>
            <a:prstDash val="solid"/>
          </a:ln>
        </p:spPr>
      </p:sp>
      <p:sp>
        <p:nvSpPr>
          <p:cNvPr id="36" name="Text 34"/>
          <p:cNvSpPr txBox="1"/>
          <p:nvPr/>
        </p:nvSpPr>
        <p:spPr>
          <a:xfrm>
            <a:off x="6239866" y="3621024"/>
            <a:ext cx="475488"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7</a:t>
            </a:r>
            <a:endParaRPr lang="en-US" sz="1700" dirty="0"/>
          </a:p>
        </p:txBody>
      </p:sp>
      <p:sp>
        <p:nvSpPr>
          <p:cNvPr id="37" name="Text 35"/>
          <p:cNvSpPr txBox="1"/>
          <p:nvPr/>
        </p:nvSpPr>
        <p:spPr>
          <a:xfrm>
            <a:off x="6934810" y="3493008"/>
            <a:ext cx="4526280" cy="292608"/>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Generate the fleet from a manifest</a:t>
            </a:r>
            <a:endParaRPr lang="en-US" sz="1500" dirty="0"/>
          </a:p>
        </p:txBody>
      </p:sp>
      <p:sp>
        <p:nvSpPr>
          <p:cNvPr id="38" name="Text 36"/>
          <p:cNvSpPr txBox="1"/>
          <p:nvPr/>
        </p:nvSpPr>
        <p:spPr>
          <a:xfrm>
            <a:off x="6934810" y="3794760"/>
            <a:ext cx="4526280" cy="438912"/>
          </a:xfrm>
          <a:prstGeom prst="rect">
            <a:avLst/>
          </a:prstGeom>
          <a:noFill/>
          <a:ln/>
        </p:spPr>
        <p:txBody>
          <a:bodyPr wrap="square" lIns="0" tIns="0" rIns="0" bIns="0" rtlCol="0" anchor="t"/>
          <a:lstStyle/>
          <a:p>
            <a:pPr indent="0" marL="0">
              <a:lnSpc>
                <a:spcPts val="1400"/>
              </a:lnSpc>
              <a:buNone/>
            </a:pPr>
            <a:r>
              <a:rPr lang="en-US" sz="1100" dirty="0">
                <a:solidFill>
                  <a:srgbClr val="374151"/>
                </a:solidFill>
                <a:latin typeface="Calibri" pitchFamily="34" charset="0"/>
                <a:ea typeface="Calibri" pitchFamily="34" charset="-122"/>
                <a:cs typeface="Calibri" pitchFamily="34" charset="-120"/>
              </a:rPr>
              <a:t>One declarative file, all runtime artifacts generated, continuous integration failing on drift.</a:t>
            </a:r>
            <a:endParaRPr lang="en-US" sz="1100" dirty="0"/>
          </a:p>
        </p:txBody>
      </p:sp>
      <p:sp>
        <p:nvSpPr>
          <p:cNvPr id="39" name="Shape 37"/>
          <p:cNvSpPr/>
          <p:nvPr/>
        </p:nvSpPr>
        <p:spPr>
          <a:xfrm>
            <a:off x="6239866" y="4334256"/>
            <a:ext cx="5353812" cy="859536"/>
          </a:xfrm>
          <a:prstGeom prst="rect">
            <a:avLst/>
          </a:prstGeom>
          <a:solidFill>
            <a:srgbClr val="FFFFFF"/>
          </a:solidFill>
          <a:ln w="12700">
            <a:solidFill>
              <a:srgbClr val="E5E7EB"/>
            </a:solidFill>
            <a:prstDash val="solid"/>
          </a:ln>
        </p:spPr>
      </p:sp>
      <p:sp>
        <p:nvSpPr>
          <p:cNvPr id="40" name="Shape 38"/>
          <p:cNvSpPr/>
          <p:nvPr/>
        </p:nvSpPr>
        <p:spPr>
          <a:xfrm>
            <a:off x="6239866" y="4334256"/>
            <a:ext cx="475488" cy="859536"/>
          </a:xfrm>
          <a:prstGeom prst="rect">
            <a:avLst/>
          </a:prstGeom>
          <a:solidFill>
            <a:srgbClr val="1F2937"/>
          </a:solidFill>
          <a:ln w="12700">
            <a:solidFill>
              <a:srgbClr val="1F2937"/>
            </a:solidFill>
            <a:prstDash val="solid"/>
          </a:ln>
        </p:spPr>
      </p:sp>
      <p:sp>
        <p:nvSpPr>
          <p:cNvPr id="41" name="Text 39"/>
          <p:cNvSpPr txBox="1"/>
          <p:nvPr/>
        </p:nvSpPr>
        <p:spPr>
          <a:xfrm>
            <a:off x="6239866" y="4572000"/>
            <a:ext cx="475488"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8</a:t>
            </a:r>
            <a:endParaRPr lang="en-US" sz="1700" dirty="0"/>
          </a:p>
        </p:txBody>
      </p:sp>
      <p:sp>
        <p:nvSpPr>
          <p:cNvPr id="42" name="Text 40"/>
          <p:cNvSpPr txBox="1"/>
          <p:nvPr/>
        </p:nvSpPr>
        <p:spPr>
          <a:xfrm>
            <a:off x="6934810" y="4443984"/>
            <a:ext cx="4526280" cy="292608"/>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Test by attempting violations</a:t>
            </a:r>
            <a:endParaRPr lang="en-US" sz="1500" dirty="0"/>
          </a:p>
        </p:txBody>
      </p:sp>
      <p:sp>
        <p:nvSpPr>
          <p:cNvPr id="43" name="Text 41"/>
          <p:cNvSpPr txBox="1"/>
          <p:nvPr/>
        </p:nvSpPr>
        <p:spPr>
          <a:xfrm>
            <a:off x="6934810" y="4745736"/>
            <a:ext cx="4526280" cy="438912"/>
          </a:xfrm>
          <a:prstGeom prst="rect">
            <a:avLst/>
          </a:prstGeom>
          <a:noFill/>
          <a:ln/>
        </p:spPr>
        <p:txBody>
          <a:bodyPr wrap="square" lIns="0" tIns="0" rIns="0" bIns="0" rtlCol="0" anchor="t"/>
          <a:lstStyle/>
          <a:p>
            <a:pPr indent="0" marL="0">
              <a:lnSpc>
                <a:spcPts val="1400"/>
              </a:lnSpc>
              <a:buNone/>
            </a:pPr>
            <a:r>
              <a:rPr lang="en-US" sz="1100" dirty="0">
                <a:solidFill>
                  <a:srgbClr val="374151"/>
                </a:solidFill>
                <a:latin typeface="Calibri" pitchFamily="34" charset="0"/>
                <a:ea typeface="Calibri" pitchFamily="34" charset="-122"/>
                <a:cs typeface="Calibri" pitchFamily="34" charset="-120"/>
              </a:rPr>
              <a:t>For every claimed control, a suite that tries the forbidden action and requires it to fail.</a:t>
            </a:r>
            <a:endParaRPr lang="en-US" sz="1100" dirty="0"/>
          </a:p>
        </p:txBody>
      </p:sp>
      <p:sp>
        <p:nvSpPr>
          <p:cNvPr id="44" name="Shape 42"/>
          <p:cNvSpPr/>
          <p:nvPr/>
        </p:nvSpPr>
        <p:spPr>
          <a:xfrm>
            <a:off x="566928" y="5468112"/>
            <a:ext cx="11055096" cy="867918"/>
          </a:xfrm>
          <a:prstGeom prst="rect">
            <a:avLst/>
          </a:prstGeom>
          <a:solidFill>
            <a:srgbClr val="F3F4F6"/>
          </a:solidFill>
          <a:ln w="12700">
            <a:solidFill>
              <a:srgbClr val="E5E7EB"/>
            </a:solidFill>
            <a:prstDash val="solid"/>
          </a:ln>
        </p:spPr>
      </p:sp>
      <p:sp>
        <p:nvSpPr>
          <p:cNvPr id="45" name="Text 43"/>
          <p:cNvSpPr txBox="1"/>
          <p:nvPr/>
        </p:nvSpPr>
        <p:spPr>
          <a:xfrm>
            <a:off x="877824" y="5605272"/>
            <a:ext cx="10433304" cy="292608"/>
          </a:xfrm>
          <a:prstGeom prst="rect">
            <a:avLst/>
          </a:prstGeom>
          <a:noFill/>
          <a:ln/>
        </p:spPr>
        <p:txBody>
          <a:bodyPr wrap="square" lIns="0" tIns="0" rIns="0" bIns="0" rtlCol="0" anchor="t"/>
          <a:lstStyle/>
          <a:p>
            <a:pPr indent="0" marL="0">
              <a:buNone/>
            </a:pPr>
            <a:r>
              <a:rPr lang="en-US" sz="1450" b="1" dirty="0">
                <a:solidFill>
                  <a:srgbClr val="1F2937"/>
                </a:solidFill>
                <a:latin typeface="Cambria" pitchFamily="34" charset="0"/>
                <a:ea typeface="Cambria" pitchFamily="34" charset="-122"/>
                <a:cs typeface="Cambria" pitchFamily="34" charset="-120"/>
              </a:rPr>
              <a:t>Total cost of the first four</a:t>
            </a:r>
            <a:endParaRPr lang="en-US" sz="1450" dirty="0"/>
          </a:p>
        </p:txBody>
      </p:sp>
      <p:sp>
        <p:nvSpPr>
          <p:cNvPr id="46" name="Text 44"/>
          <p:cNvSpPr txBox="1"/>
          <p:nvPr/>
        </p:nvSpPr>
        <p:spPr>
          <a:xfrm>
            <a:off x="877824" y="5980176"/>
            <a:ext cx="10433304" cy="300990"/>
          </a:xfrm>
          <a:prstGeom prst="rect">
            <a:avLst/>
          </a:prstGeom>
          <a:noFill/>
          <a:ln/>
        </p:spPr>
        <p:txBody>
          <a:bodyPr wrap="square" lIns="0" tIns="0" rIns="0" bIns="0" rtlCol="0" anchor="t"/>
          <a:lstStyle/>
          <a:p>
            <a:pPr indent="0" marL="0">
              <a:lnSpc>
                <a:spcPts val="1650"/>
              </a:lnSpc>
              <a:buNone/>
            </a:pPr>
            <a:r>
              <a:rPr lang="en-US" sz="1250" b="1" dirty="0">
                <a:solidFill>
                  <a:srgbClr val="1F2937"/>
                </a:solidFill>
                <a:latin typeface="Calibri" pitchFamily="34" charset="0"/>
                <a:ea typeface="Calibri" pitchFamily="34" charset="-122"/>
                <a:cs typeface="Calibri" pitchFamily="34" charset="-120"/>
              </a:rPr>
              <a:t>A repository split, a mount flag, a proxy block, and a ruleset. </a:t>
            </a:r>
            <a:pPr indent="0" marL="0">
              <a:lnSpc>
                <a:spcPts val="1650"/>
              </a:lnSpc>
              <a:buNone/>
            </a:pPr>
            <a:r>
              <a:rPr lang="en-US" sz="1250" dirty="0">
                <a:solidFill>
                  <a:srgbClr val="374151"/>
                </a:solidFill>
                <a:latin typeface="Calibri" pitchFamily="34" charset="0"/>
                <a:ea typeface="Calibri" pitchFamily="34" charset="-122"/>
                <a:cs typeface="Calibri" pitchFamily="34" charset="-120"/>
              </a:rPr>
              <a:t>No framework, no vendor, no change to how the agent is prompted.</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66928" y="347472"/>
            <a:ext cx="11055096" cy="566928"/>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What generalises, and what this case does not settle</a:t>
            </a:r>
            <a:endParaRPr lang="en-US" sz="3000" dirty="0"/>
          </a:p>
        </p:txBody>
      </p:sp>
      <p:sp>
        <p:nvSpPr>
          <p:cNvPr id="3" name="Text 1"/>
          <p:cNvSpPr txBox="1"/>
          <p:nvPr/>
        </p:nvSpPr>
        <p:spPr>
          <a:xfrm>
            <a:off x="566928" y="914400"/>
            <a:ext cx="11055096" cy="329184"/>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Stated plainly, so the pattern is adopted for the right reasons.</a:t>
            </a:r>
            <a:endParaRPr lang="en-US" sz="1400" dirty="0"/>
          </a:p>
        </p:txBody>
      </p:sp>
      <p:sp>
        <p:nvSpPr>
          <p:cNvPr id="4" name="Shape 2"/>
          <p:cNvSpPr/>
          <p:nvPr/>
        </p:nvSpPr>
        <p:spPr>
          <a:xfrm>
            <a:off x="566928" y="1481328"/>
            <a:ext cx="5353812" cy="3483864"/>
          </a:xfrm>
          <a:prstGeom prst="rect">
            <a:avLst/>
          </a:prstGeom>
          <a:solidFill>
            <a:srgbClr val="F0FDF4"/>
          </a:solidFill>
          <a:ln w="12700">
            <a:solidFill>
              <a:srgbClr val="BBF7D0"/>
            </a:solidFill>
            <a:prstDash val="solid"/>
          </a:ln>
        </p:spPr>
      </p:sp>
      <p:sp>
        <p:nvSpPr>
          <p:cNvPr id="5" name="Shape 3"/>
          <p:cNvSpPr/>
          <p:nvPr/>
        </p:nvSpPr>
        <p:spPr>
          <a:xfrm>
            <a:off x="877824" y="1783080"/>
            <a:ext cx="155448" cy="155448"/>
          </a:xfrm>
          <a:prstGeom prst="rect">
            <a:avLst/>
          </a:prstGeom>
          <a:solidFill>
            <a:srgbClr val="15803D"/>
          </a:solidFill>
          <a:ln w="12700">
            <a:solidFill>
              <a:srgbClr val="15803D"/>
            </a:solidFill>
            <a:prstDash val="solid"/>
          </a:ln>
        </p:spPr>
      </p:sp>
      <p:sp>
        <p:nvSpPr>
          <p:cNvPr id="6" name="Text 4"/>
          <p:cNvSpPr txBox="1"/>
          <p:nvPr/>
        </p:nvSpPr>
        <p:spPr>
          <a:xfrm>
            <a:off x="1152144" y="1719072"/>
            <a:ext cx="4457700" cy="329184"/>
          </a:xfrm>
          <a:prstGeom prst="rect">
            <a:avLst/>
          </a:prstGeom>
          <a:noFill/>
          <a:ln/>
        </p:spPr>
        <p:txBody>
          <a:bodyPr wrap="square" lIns="0" tIns="0" rIns="0" bIns="0" rtlCol="0" anchor="t"/>
          <a:lstStyle/>
          <a:p>
            <a:pPr indent="0" marL="0">
              <a:buNone/>
            </a:pPr>
            <a:r>
              <a:rPr lang="en-US" sz="1800" b="1" dirty="0">
                <a:solidFill>
                  <a:srgbClr val="15803D"/>
                </a:solidFill>
                <a:latin typeface="Cambria" pitchFamily="34" charset="0"/>
                <a:ea typeface="Cambria" pitchFamily="34" charset="-122"/>
                <a:cs typeface="Cambria" pitchFamily="34" charset="-120"/>
              </a:rPr>
              <a:t>Transferable</a:t>
            </a:r>
            <a:endParaRPr lang="en-US" sz="1800" dirty="0"/>
          </a:p>
        </p:txBody>
      </p:sp>
      <p:sp>
        <p:nvSpPr>
          <p:cNvPr id="7" name="Text 5"/>
          <p:cNvSpPr txBox="1"/>
          <p:nvPr/>
        </p:nvSpPr>
        <p:spPr>
          <a:xfrm>
            <a:off x="877824" y="2231136"/>
            <a:ext cx="4732020" cy="2514600"/>
          </a:xfrm>
          <a:prstGeom prst="rect">
            <a:avLst/>
          </a:prstGeom>
          <a:noFill/>
          <a:ln/>
        </p:spPr>
        <p:txBody>
          <a:bodyPr wrap="square" lIns="0" tIns="0" rIns="0" bIns="0" rtlCol="0" anchor="t"/>
          <a:lstStyle/>
          <a:p>
            <a:pPr indent="0" marL="0">
              <a:lnSpc>
                <a:spcPts val="1700"/>
              </a:lnSpc>
              <a:spcAft>
                <a:spcPts val="700"/>
              </a:spcAft>
              <a:buNone/>
            </a:pPr>
            <a:r>
              <a:rPr lang="en-US" sz="1250" b="1" dirty="0">
                <a:solidFill>
                  <a:srgbClr val="1F2937"/>
                </a:solidFill>
                <a:latin typeface="Calibri" pitchFamily="34" charset="0"/>
                <a:ea typeface="Calibri" pitchFamily="34" charset="-122"/>
                <a:cs typeface="Calibri" pitchFamily="34" charset="-120"/>
              </a:rPr>
              <a:t>Topology as a security control. </a:t>
            </a:r>
            <a:pPr indent="0" marL="0">
              <a:lnSpc>
                <a:spcPts val="1700"/>
              </a:lnSpc>
              <a:spcAft>
                <a:spcPts val="700"/>
              </a:spcAft>
              <a:buNone/>
            </a:pPr>
            <a:r>
              <a:rPr lang="en-US" sz="1250" dirty="0">
                <a:solidFill>
                  <a:srgbClr val="374151"/>
                </a:solidFill>
                <a:latin typeface="Calibri" pitchFamily="34" charset="0"/>
                <a:ea typeface="Calibri" pitchFamily="34" charset="-122"/>
                <a:cs typeface="Calibri" pitchFamily="34" charset="-120"/>
              </a:rPr>
              <a:t>Applies to any agent with write access to anything.</a:t>
            </a:r>
            <a:endParaRPr lang="en-US" sz="1250" dirty="0"/>
          </a:p>
          <a:p>
            <a:pPr indent="0" marL="0">
              <a:lnSpc>
                <a:spcPts val="1700"/>
              </a:lnSpc>
              <a:spcAft>
                <a:spcPts val="700"/>
              </a:spcAft>
              <a:buNone/>
            </a:pPr>
            <a:r>
              <a:rPr lang="en-US" sz="1250" b="1" dirty="0">
                <a:solidFill>
                  <a:srgbClr val="1F2937"/>
                </a:solidFill>
                <a:latin typeface="Calibri" pitchFamily="34" charset="0"/>
                <a:ea typeface="Calibri" pitchFamily="34" charset="-122"/>
                <a:cs typeface="Calibri" pitchFamily="34" charset="-120"/>
              </a:rPr>
              <a:t>Credential injection in transit. </a:t>
            </a:r>
            <a:pPr indent="0" marL="0">
              <a:lnSpc>
                <a:spcPts val="1700"/>
              </a:lnSpc>
              <a:spcAft>
                <a:spcPts val="700"/>
              </a:spcAft>
              <a:buNone/>
            </a:pPr>
            <a:r>
              <a:rPr lang="en-US" sz="1250" dirty="0">
                <a:solidFill>
                  <a:srgbClr val="374151"/>
                </a:solidFill>
                <a:latin typeface="Calibri" pitchFamily="34" charset="0"/>
                <a:ea typeface="Calibri" pitchFamily="34" charset="-122"/>
                <a:cs typeface="Calibri" pitchFamily="34" charset="-120"/>
              </a:rPr>
              <a:t>Works for any authenticated API, not just version control.</a:t>
            </a:r>
            <a:endParaRPr lang="en-US" sz="1250" dirty="0"/>
          </a:p>
          <a:p>
            <a:pPr indent="0" marL="0">
              <a:lnSpc>
                <a:spcPts val="1700"/>
              </a:lnSpc>
              <a:spcAft>
                <a:spcPts val="700"/>
              </a:spcAft>
              <a:buNone/>
            </a:pPr>
            <a:r>
              <a:rPr lang="en-US" sz="1250" b="1" dirty="0">
                <a:solidFill>
                  <a:srgbClr val="1F2937"/>
                </a:solidFill>
                <a:latin typeface="Calibri" pitchFamily="34" charset="0"/>
                <a:ea typeface="Calibri" pitchFamily="34" charset="-122"/>
                <a:cs typeface="Calibri" pitchFamily="34" charset="-120"/>
              </a:rPr>
              <a:t>Irreversible actions as requests. </a:t>
            </a:r>
            <a:pPr indent="0" marL="0">
              <a:lnSpc>
                <a:spcPts val="1700"/>
              </a:lnSpc>
              <a:spcAft>
                <a:spcPts val="700"/>
              </a:spcAft>
              <a:buNone/>
            </a:pPr>
            <a:r>
              <a:rPr lang="en-US" sz="1250" dirty="0">
                <a:solidFill>
                  <a:srgbClr val="374151"/>
                </a:solidFill>
                <a:latin typeface="Calibri" pitchFamily="34" charset="0"/>
                <a:ea typeface="Calibri" pitchFamily="34" charset="-122"/>
                <a:cs typeface="Calibri" pitchFamily="34" charset="-120"/>
              </a:rPr>
              <a:t>Deletions, migrations, sends, payments, cutovers.</a:t>
            </a:r>
            <a:endParaRPr lang="en-US" sz="1250" dirty="0"/>
          </a:p>
          <a:p>
            <a:pPr indent="0" marL="0">
              <a:lnSpc>
                <a:spcPts val="1700"/>
              </a:lnSpc>
              <a:spcAft>
                <a:spcPts val="700"/>
              </a:spcAft>
              <a:buNone/>
            </a:pPr>
            <a:r>
              <a:rPr lang="en-US" sz="1250" b="1" dirty="0">
                <a:solidFill>
                  <a:srgbClr val="1F2937"/>
                </a:solidFill>
                <a:latin typeface="Calibri" pitchFamily="34" charset="0"/>
                <a:ea typeface="Calibri" pitchFamily="34" charset="-122"/>
                <a:cs typeface="Calibri" pitchFamily="34" charset="-120"/>
              </a:rPr>
              <a:t>Enforcement below the agent's perception. </a:t>
            </a:r>
            <a:pPr indent="0" marL="0">
              <a:lnSpc>
                <a:spcPts val="1700"/>
              </a:lnSpc>
              <a:spcAft>
                <a:spcPts val="700"/>
              </a:spcAft>
              <a:buNone/>
            </a:pPr>
            <a:r>
              <a:rPr lang="en-US" sz="1250" dirty="0">
                <a:solidFill>
                  <a:srgbClr val="374151"/>
                </a:solidFill>
                <a:latin typeface="Calibri" pitchFamily="34" charset="0"/>
                <a:ea typeface="Calibri" pitchFamily="34" charset="-122"/>
                <a:cs typeface="Calibri" pitchFamily="34" charset="-120"/>
              </a:rPr>
              <a:t>A boundary it cannot observe is one it cannot reason around.</a:t>
            </a:r>
            <a:endParaRPr lang="en-US" sz="1250" dirty="0"/>
          </a:p>
          <a:p>
            <a:pPr indent="0" marL="0">
              <a:lnSpc>
                <a:spcPts val="1700"/>
              </a:lnSpc>
              <a:spcAft>
                <a:spcPts val="700"/>
              </a:spcAft>
              <a:buNone/>
            </a:pPr>
            <a:r>
              <a:rPr lang="en-US" sz="1250" b="1" dirty="0">
                <a:solidFill>
                  <a:srgbClr val="1F2937"/>
                </a:solidFill>
                <a:latin typeface="Calibri" pitchFamily="34" charset="0"/>
                <a:ea typeface="Calibri" pitchFamily="34" charset="-122"/>
                <a:cs typeface="Calibri" pitchFamily="34" charset="-120"/>
              </a:rPr>
              <a:t>Proving controls by attempted violation. </a:t>
            </a:r>
            <a:pPr indent="0" marL="0">
              <a:lnSpc>
                <a:spcPts val="1700"/>
              </a:lnSpc>
              <a:spcAft>
                <a:spcPts val="700"/>
              </a:spcAft>
              <a:buNone/>
            </a:pPr>
            <a:r>
              <a:rPr lang="en-US" sz="1250" dirty="0">
                <a:solidFill>
                  <a:srgbClr val="374151"/>
                </a:solidFill>
                <a:latin typeface="Calibri" pitchFamily="34" charset="0"/>
                <a:ea typeface="Calibri" pitchFamily="34" charset="-122"/>
                <a:cs typeface="Calibri" pitchFamily="34" charset="-120"/>
              </a:rPr>
              <a:t>Cheap, and it catches controls that were only documented.</a:t>
            </a:r>
            <a:endParaRPr lang="en-US" sz="1250" dirty="0"/>
          </a:p>
        </p:txBody>
      </p:sp>
      <p:sp>
        <p:nvSpPr>
          <p:cNvPr id="8" name="Shape 6"/>
          <p:cNvSpPr/>
          <p:nvPr/>
        </p:nvSpPr>
        <p:spPr>
          <a:xfrm>
            <a:off x="6239866" y="1481328"/>
            <a:ext cx="5353812" cy="3064764"/>
          </a:xfrm>
          <a:prstGeom prst="rect">
            <a:avLst/>
          </a:prstGeom>
          <a:solidFill>
            <a:srgbClr val="FFF7ED"/>
          </a:solidFill>
          <a:ln w="12700">
            <a:solidFill>
              <a:srgbClr val="FED7AA"/>
            </a:solidFill>
            <a:prstDash val="solid"/>
          </a:ln>
        </p:spPr>
      </p:sp>
      <p:sp>
        <p:nvSpPr>
          <p:cNvPr id="9" name="Shape 7"/>
          <p:cNvSpPr/>
          <p:nvPr/>
        </p:nvSpPr>
        <p:spPr>
          <a:xfrm>
            <a:off x="6550762" y="1783080"/>
            <a:ext cx="155448" cy="155448"/>
          </a:xfrm>
          <a:prstGeom prst="rect">
            <a:avLst/>
          </a:prstGeom>
          <a:solidFill>
            <a:srgbClr val="EA580C"/>
          </a:solidFill>
          <a:ln w="12700">
            <a:solidFill>
              <a:srgbClr val="EA580C"/>
            </a:solidFill>
            <a:prstDash val="solid"/>
          </a:ln>
        </p:spPr>
      </p:sp>
      <p:sp>
        <p:nvSpPr>
          <p:cNvPr id="10" name="Text 8"/>
          <p:cNvSpPr txBox="1"/>
          <p:nvPr/>
        </p:nvSpPr>
        <p:spPr>
          <a:xfrm>
            <a:off x="6825082" y="1719072"/>
            <a:ext cx="4457700" cy="329184"/>
          </a:xfrm>
          <a:prstGeom prst="rect">
            <a:avLst/>
          </a:prstGeom>
          <a:noFill/>
          <a:ln/>
        </p:spPr>
        <p:txBody>
          <a:bodyPr wrap="square" lIns="0" tIns="0" rIns="0" bIns="0" rtlCol="0" anchor="t"/>
          <a:lstStyle/>
          <a:p>
            <a:pPr indent="0" marL="0">
              <a:buNone/>
            </a:pPr>
            <a:r>
              <a:rPr lang="en-US" sz="1800" b="1" dirty="0">
                <a:solidFill>
                  <a:srgbClr val="EA580C"/>
                </a:solidFill>
                <a:latin typeface="Cambria" pitchFamily="34" charset="0"/>
                <a:ea typeface="Cambria" pitchFamily="34" charset="-122"/>
                <a:cs typeface="Cambria" pitchFamily="34" charset="-120"/>
              </a:rPr>
              <a:t>Not settled by this case</a:t>
            </a:r>
            <a:endParaRPr lang="en-US" sz="1800" dirty="0"/>
          </a:p>
        </p:txBody>
      </p:sp>
      <p:sp>
        <p:nvSpPr>
          <p:cNvPr id="11" name="Text 9"/>
          <p:cNvSpPr txBox="1"/>
          <p:nvPr/>
        </p:nvSpPr>
        <p:spPr>
          <a:xfrm>
            <a:off x="6550762" y="2231136"/>
            <a:ext cx="4732020" cy="2095500"/>
          </a:xfrm>
          <a:prstGeom prst="rect">
            <a:avLst/>
          </a:prstGeom>
          <a:noFill/>
          <a:ln/>
        </p:spPr>
        <p:txBody>
          <a:bodyPr wrap="square" lIns="0" tIns="0" rIns="0" bIns="0" rtlCol="0" anchor="t"/>
          <a:lstStyle/>
          <a:p>
            <a:pPr indent="0" marL="0">
              <a:lnSpc>
                <a:spcPts val="1500"/>
              </a:lnSpc>
              <a:spcAft>
                <a:spcPts val="500"/>
              </a:spcAft>
              <a:buNone/>
            </a:pPr>
            <a:r>
              <a:rPr lang="en-US" sz="1150" b="1" dirty="0">
                <a:solidFill>
                  <a:srgbClr val="1F2937"/>
                </a:solidFill>
                <a:latin typeface="Calibri" pitchFamily="34" charset="0"/>
                <a:ea typeface="Calibri" pitchFamily="34" charset="-122"/>
                <a:cs typeface="Calibri" pitchFamily="34" charset="-120"/>
              </a:rPr>
              <a:t>Custody is not containment. </a:t>
            </a:r>
            <a:pPr indent="0" marL="0">
              <a:lnSpc>
                <a:spcPts val="1500"/>
              </a:lnSpc>
              <a:spcAft>
                <a:spcPts val="500"/>
              </a:spcAft>
              <a:buNone/>
            </a:pPr>
            <a:r>
              <a:rPr lang="en-US" sz="1150" dirty="0">
                <a:solidFill>
                  <a:srgbClr val="374151"/>
                </a:solidFill>
                <a:latin typeface="Calibri" pitchFamily="34" charset="0"/>
                <a:ea typeface="Calibri" pitchFamily="34" charset="-122"/>
                <a:cs typeface="Calibri" pitchFamily="34" charset="-120"/>
              </a:rPr>
              <a:t>Without outbound network restriction the proxy is bypassable.</a:t>
            </a:r>
            <a:endParaRPr lang="en-US" sz="1150" dirty="0"/>
          </a:p>
          <a:p>
            <a:pPr indent="0" marL="0">
              <a:lnSpc>
                <a:spcPts val="1500"/>
              </a:lnSpc>
              <a:spcAft>
                <a:spcPts val="500"/>
              </a:spcAft>
              <a:buNone/>
            </a:pPr>
            <a:r>
              <a:rPr lang="en-US" sz="1150" b="1" dirty="0">
                <a:solidFill>
                  <a:srgbClr val="1F2937"/>
                </a:solidFill>
                <a:latin typeface="Calibri" pitchFamily="34" charset="0"/>
                <a:ea typeface="Calibri" pitchFamily="34" charset="-122"/>
                <a:cs typeface="Calibri" pitchFamily="34" charset="-120"/>
              </a:rPr>
              <a:t>No per-action audit record. </a:t>
            </a:r>
            <a:pPr indent="0" marL="0">
              <a:lnSpc>
                <a:spcPts val="1500"/>
              </a:lnSpc>
              <a:spcAft>
                <a:spcPts val="500"/>
              </a:spcAft>
              <a:buNone/>
            </a:pPr>
            <a:r>
              <a:rPr lang="en-US" sz="1150" dirty="0">
                <a:solidFill>
                  <a:srgbClr val="374151"/>
                </a:solidFill>
                <a:latin typeface="Calibri" pitchFamily="34" charset="0"/>
                <a:ea typeface="Calibri" pitchFamily="34" charset="-122"/>
                <a:cs typeface="Calibri" pitchFamily="34" charset="-120"/>
              </a:rPr>
              <a:t>Inference is traced; tool calls and memory writes are not, so input-boundary claims cannot be checked afterwards.</a:t>
            </a:r>
            <a:endParaRPr lang="en-US" sz="1150" dirty="0"/>
          </a:p>
          <a:p>
            <a:pPr indent="0" marL="0">
              <a:lnSpc>
                <a:spcPts val="1500"/>
              </a:lnSpc>
              <a:spcAft>
                <a:spcPts val="500"/>
              </a:spcAft>
              <a:buNone/>
            </a:pPr>
            <a:r>
              <a:rPr lang="en-US" sz="1150" b="1" dirty="0">
                <a:solidFill>
                  <a:srgbClr val="1F2937"/>
                </a:solidFill>
                <a:latin typeface="Calibri" pitchFamily="34" charset="0"/>
                <a:ea typeface="Calibri" pitchFamily="34" charset="-122"/>
                <a:cs typeface="Calibri" pitchFamily="34" charset="-120"/>
              </a:rPr>
              <a:t>Untrusted input is bounded by instruction. </a:t>
            </a:r>
            <a:pPr indent="0" marL="0">
              <a:lnSpc>
                <a:spcPts val="1500"/>
              </a:lnSpc>
              <a:spcAft>
                <a:spcPts val="500"/>
              </a:spcAft>
              <a:buNone/>
            </a:pPr>
            <a:r>
              <a:rPr lang="en-US" sz="1150" dirty="0">
                <a:solidFill>
                  <a:srgbClr val="374151"/>
                </a:solidFill>
                <a:latin typeface="Calibri" pitchFamily="34" charset="0"/>
                <a:ea typeface="Calibri" pitchFamily="34" charset="-122"/>
                <a:cs typeface="Calibri" pitchFamily="34" charset="-120"/>
              </a:rPr>
              <a:t>A public request queue feeds a code generator; the separation is prose, not structure.</a:t>
            </a:r>
            <a:endParaRPr lang="en-US" sz="1150" dirty="0"/>
          </a:p>
          <a:p>
            <a:pPr indent="0" marL="0">
              <a:lnSpc>
                <a:spcPts val="1500"/>
              </a:lnSpc>
              <a:spcAft>
                <a:spcPts val="500"/>
              </a:spcAft>
              <a:buNone/>
            </a:pPr>
            <a:r>
              <a:rPr lang="en-US" sz="1150" b="1" dirty="0">
                <a:solidFill>
                  <a:srgbClr val="1F2937"/>
                </a:solidFill>
                <a:latin typeface="Calibri" pitchFamily="34" charset="0"/>
                <a:ea typeface="Calibri" pitchFamily="34" charset="-122"/>
                <a:cs typeface="Calibri" pitchFamily="34" charset="-120"/>
              </a:rPr>
              <a:t>Single operator, greenfield, one domain. </a:t>
            </a:r>
            <a:pPr indent="0" marL="0">
              <a:lnSpc>
                <a:spcPts val="1500"/>
              </a:lnSpc>
              <a:spcAft>
                <a:spcPts val="500"/>
              </a:spcAft>
              <a:buNone/>
            </a:pPr>
            <a:r>
              <a:rPr lang="en-US" sz="1150" dirty="0">
                <a:solidFill>
                  <a:srgbClr val="374151"/>
                </a:solidFill>
                <a:latin typeface="Calibri" pitchFamily="34" charset="0"/>
                <a:ea typeface="Calibri" pitchFamily="34" charset="-122"/>
                <a:cs typeface="Calibri" pitchFamily="34" charset="-120"/>
              </a:rPr>
              <a:t>An existence proof, not an effect size.</a:t>
            </a:r>
            <a:endParaRPr lang="en-US" sz="1150" dirty="0"/>
          </a:p>
        </p:txBody>
      </p:sp>
      <p:sp>
        <p:nvSpPr>
          <p:cNvPr id="12" name="Shape 10"/>
          <p:cNvSpPr/>
          <p:nvPr/>
        </p:nvSpPr>
        <p:spPr>
          <a:xfrm>
            <a:off x="566928" y="5239512"/>
            <a:ext cx="11055096" cy="1287018"/>
          </a:xfrm>
          <a:prstGeom prst="rect">
            <a:avLst/>
          </a:prstGeom>
          <a:solidFill>
            <a:srgbClr val="F3F4F6"/>
          </a:solidFill>
          <a:ln w="12700">
            <a:solidFill>
              <a:srgbClr val="E5E7EB"/>
            </a:solidFill>
            <a:prstDash val="solid"/>
          </a:ln>
        </p:spPr>
      </p:sp>
      <p:sp>
        <p:nvSpPr>
          <p:cNvPr id="13" name="Text 11"/>
          <p:cNvSpPr txBox="1"/>
          <p:nvPr/>
        </p:nvSpPr>
        <p:spPr>
          <a:xfrm>
            <a:off x="877824" y="5376672"/>
            <a:ext cx="10433304" cy="292608"/>
          </a:xfrm>
          <a:prstGeom prst="rect">
            <a:avLst/>
          </a:prstGeom>
          <a:noFill/>
          <a:ln/>
        </p:spPr>
        <p:txBody>
          <a:bodyPr wrap="square" lIns="0" tIns="0" rIns="0" bIns="0" rtlCol="0" anchor="t"/>
          <a:lstStyle/>
          <a:p>
            <a:pPr indent="0" marL="0">
              <a:buNone/>
            </a:pPr>
            <a:r>
              <a:rPr lang="en-US" sz="1500" b="1" dirty="0">
                <a:solidFill>
                  <a:srgbClr val="1F2937"/>
                </a:solidFill>
                <a:latin typeface="Cambria" pitchFamily="34" charset="0"/>
                <a:ea typeface="Cambria" pitchFamily="34" charset="-122"/>
                <a:cs typeface="Cambria" pitchFamily="34" charset="-120"/>
              </a:rPr>
              <a:t>The distinction that keeps this honest</a:t>
            </a:r>
            <a:endParaRPr lang="en-US" sz="1500" dirty="0"/>
          </a:p>
        </p:txBody>
      </p:sp>
      <p:sp>
        <p:nvSpPr>
          <p:cNvPr id="14" name="Text 12"/>
          <p:cNvSpPr txBox="1"/>
          <p:nvPr/>
        </p:nvSpPr>
        <p:spPr>
          <a:xfrm>
            <a:off x="877824" y="5751576"/>
            <a:ext cx="10433304" cy="720090"/>
          </a:xfrm>
          <a:prstGeom prst="rect">
            <a:avLst/>
          </a:prstGeom>
          <a:noFill/>
          <a:ln/>
        </p:spPr>
        <p:txBody>
          <a:bodyPr wrap="square" lIns="0" tIns="0" rIns="0" bIns="0" rtlCol="0" anchor="t"/>
          <a:lstStyle/>
          <a:p>
            <a:pPr indent="0" marL="0">
              <a:lnSpc>
                <a:spcPts val="1650"/>
              </a:lnSpc>
              <a:buNone/>
            </a:pPr>
            <a:r>
              <a:rPr lang="en-US" sz="1250" dirty="0">
                <a:solidFill>
                  <a:srgbClr val="374151"/>
                </a:solidFill>
                <a:latin typeface="Calibri" pitchFamily="34" charset="0"/>
                <a:ea typeface="Calibri" pitchFamily="34" charset="-122"/>
                <a:cs typeface="Calibri" pitchFamily="34" charset="-120"/>
              </a:rPr>
              <a:t>An agent can publish to the public internet unattended, holding no credential and unable to approve its own work. That much is reproducible. </a:t>
            </a:r>
            <a:pPr indent="0" marL="0">
              <a:lnSpc>
                <a:spcPts val="1650"/>
              </a:lnSpc>
              <a:buNone/>
            </a:pPr>
            <a:r>
              <a:rPr lang="en-US" sz="1250" b="1" dirty="0">
                <a:solidFill>
                  <a:srgbClr val="1F2937"/>
                </a:solidFill>
                <a:latin typeface="Calibri" pitchFamily="34" charset="0"/>
                <a:ea typeface="Calibri" pitchFamily="34" charset="-122"/>
                <a:cs typeface="Calibri" pitchFamily="34" charset="-120"/>
              </a:rPr>
              <a:t>It does not demonstrate that the resulting system is contained against a determined adversary</a:t>
            </a:r>
            <a:pPr indent="0" marL="0">
              <a:lnSpc>
                <a:spcPts val="1650"/>
              </a:lnSpc>
              <a:buNone/>
            </a:pPr>
            <a:r>
              <a:rPr lang="en-US" sz="1250" dirty="0">
                <a:solidFill>
                  <a:srgbClr val="374151"/>
                </a:solidFill>
                <a:latin typeface="Calibri" pitchFamily="34" charset="0"/>
                <a:ea typeface="Calibri" pitchFamily="34" charset="-122"/>
                <a:cs typeface="Calibri" pitchFamily="34" charset="-120"/>
              </a:rPr>
              <a:t> — the outbound path is open and there is no action log. Both gaps are tractable.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66928" y="347472"/>
            <a:ext cx="11055096" cy="566928"/>
          </a:xfrm>
          <a:prstGeom prst="rect">
            <a:avLst/>
          </a:prstGeom>
          <a:noFill/>
          <a:ln/>
        </p:spPr>
        <p:txBody>
          <a:bodyPr wrap="square" lIns="0" tIns="0" rIns="0" bIns="0" rtlCol="0" anchor="ctr"/>
          <a:lstStyle/>
          <a:p>
            <a:pPr indent="0" marL="0">
              <a:buNone/>
            </a:pPr>
            <a:r>
              <a:rPr lang="en-US" sz="3000" b="1" dirty="0">
                <a:solidFill>
                  <a:srgbClr val="1F2937"/>
                </a:solidFill>
                <a:latin typeface="Cambria" pitchFamily="34" charset="0"/>
                <a:ea typeface="Cambria" pitchFamily="34" charset="-122"/>
                <a:cs typeface="Cambria" pitchFamily="34" charset="-120"/>
              </a:rPr>
              <a:t>Three propositions this pattern makes testable</a:t>
            </a:r>
            <a:endParaRPr lang="en-US" sz="3000" dirty="0"/>
          </a:p>
        </p:txBody>
      </p:sp>
      <p:sp>
        <p:nvSpPr>
          <p:cNvPr id="3" name="Text 1"/>
          <p:cNvSpPr txBox="1"/>
          <p:nvPr/>
        </p:nvSpPr>
        <p:spPr>
          <a:xfrm>
            <a:off x="566928" y="914400"/>
            <a:ext cx="11055096" cy="329184"/>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Each is falsifiable with data a team adopting the pattern would already generate.</a:t>
            </a:r>
            <a:endParaRPr lang="en-US" sz="1400" dirty="0"/>
          </a:p>
        </p:txBody>
      </p:sp>
      <p:sp>
        <p:nvSpPr>
          <p:cNvPr id="4" name="Shape 2"/>
          <p:cNvSpPr/>
          <p:nvPr/>
        </p:nvSpPr>
        <p:spPr>
          <a:xfrm>
            <a:off x="566928" y="1481328"/>
            <a:ext cx="11055096" cy="1133856"/>
          </a:xfrm>
          <a:prstGeom prst="rect">
            <a:avLst/>
          </a:prstGeom>
          <a:solidFill>
            <a:srgbClr val="FFFFFF"/>
          </a:solidFill>
          <a:ln w="12700">
            <a:solidFill>
              <a:srgbClr val="E5E7EB"/>
            </a:solidFill>
            <a:prstDash val="solid"/>
          </a:ln>
        </p:spPr>
      </p:sp>
      <p:sp>
        <p:nvSpPr>
          <p:cNvPr id="5" name="Shape 3"/>
          <p:cNvSpPr/>
          <p:nvPr/>
        </p:nvSpPr>
        <p:spPr>
          <a:xfrm>
            <a:off x="566928" y="1481328"/>
            <a:ext cx="658368" cy="1133856"/>
          </a:xfrm>
          <a:prstGeom prst="rect">
            <a:avLst/>
          </a:prstGeom>
          <a:solidFill>
            <a:srgbClr val="6D28D9"/>
          </a:solidFill>
          <a:ln w="12700">
            <a:solidFill>
              <a:srgbClr val="6D28D9"/>
            </a:solidFill>
            <a:prstDash val="solid"/>
          </a:ln>
        </p:spPr>
      </p:sp>
      <p:sp>
        <p:nvSpPr>
          <p:cNvPr id="6" name="Text 4"/>
          <p:cNvSpPr txBox="1"/>
          <p:nvPr/>
        </p:nvSpPr>
        <p:spPr>
          <a:xfrm>
            <a:off x="566928" y="1883664"/>
            <a:ext cx="658368"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7" name="Text 5"/>
          <p:cNvSpPr txBox="1"/>
          <p:nvPr/>
        </p:nvSpPr>
        <p:spPr>
          <a:xfrm>
            <a:off x="1499616" y="1645920"/>
            <a:ext cx="9774936" cy="329184"/>
          </a:xfrm>
          <a:prstGeom prst="rect">
            <a:avLst/>
          </a:prstGeom>
          <a:noFill/>
          <a:ln/>
        </p:spPr>
        <p:txBody>
          <a:bodyPr wrap="square" lIns="0" tIns="0" rIns="0" bIns="0" rtlCol="0" anchor="ctr"/>
          <a:lstStyle/>
          <a:p>
            <a:pPr indent="0" marL="0">
              <a:buNone/>
            </a:pPr>
            <a:r>
              <a:rPr lang="en-US" sz="1650" b="1" dirty="0">
                <a:solidFill>
                  <a:srgbClr val="1F2937"/>
                </a:solidFill>
                <a:latin typeface="Cambria" pitchFamily="34" charset="0"/>
                <a:ea typeface="Cambria" pitchFamily="34" charset="-122"/>
                <a:cs typeface="Cambria" pitchFamily="34" charset="-120"/>
              </a:rPr>
              <a:t>Topology dominates policy</a:t>
            </a:r>
            <a:endParaRPr lang="en-US" sz="1650" dirty="0"/>
          </a:p>
        </p:txBody>
      </p:sp>
      <p:sp>
        <p:nvSpPr>
          <p:cNvPr id="8" name="Text 6"/>
          <p:cNvSpPr txBox="1"/>
          <p:nvPr/>
        </p:nvSpPr>
        <p:spPr>
          <a:xfrm>
            <a:off x="1499616" y="1956816"/>
            <a:ext cx="9774936" cy="457200"/>
          </a:xfrm>
          <a:prstGeom prst="rect">
            <a:avLst/>
          </a:prstGeom>
          <a:noFill/>
          <a:ln/>
        </p:spPr>
        <p:txBody>
          <a:bodyPr wrap="square" lIns="0" tIns="0" rIns="0" bIns="0" rtlCol="0" anchor="t"/>
          <a:lstStyle/>
          <a:p>
            <a:pPr indent="0" marL="0">
              <a:lnSpc>
                <a:spcPts val="1600"/>
              </a:lnSpc>
              <a:buNone/>
            </a:pPr>
            <a:r>
              <a:rPr lang="en-US" sz="1200" dirty="0">
                <a:solidFill>
                  <a:srgbClr val="374151"/>
                </a:solidFill>
                <a:latin typeface="Calibri" pitchFamily="34" charset="0"/>
                <a:ea typeface="Calibri" pitchFamily="34" charset="-122"/>
                <a:cs typeface="Calibri" pitchFamily="34" charset="-120"/>
              </a:rPr>
              <a:t>Teams that split agent output from agent governance will show fewer autonomy-related incidents than teams that grant narrower permissions inside a single repository — at equal or greater agent throughput.</a:t>
            </a:r>
            <a:endParaRPr lang="en-US" sz="1200" dirty="0"/>
          </a:p>
        </p:txBody>
      </p:sp>
      <p:sp>
        <p:nvSpPr>
          <p:cNvPr id="9" name="Text 7"/>
          <p:cNvSpPr txBox="1"/>
          <p:nvPr/>
        </p:nvSpPr>
        <p:spPr>
          <a:xfrm>
            <a:off x="1499616" y="2340864"/>
            <a:ext cx="9774936" cy="256032"/>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Measure: incidents per thousand autonomous merges, by repository topology.</a:t>
            </a:r>
            <a:endParaRPr lang="en-US" sz="1150" dirty="0"/>
          </a:p>
        </p:txBody>
      </p:sp>
      <p:sp>
        <p:nvSpPr>
          <p:cNvPr id="10" name="Shape 8"/>
          <p:cNvSpPr/>
          <p:nvPr/>
        </p:nvSpPr>
        <p:spPr>
          <a:xfrm>
            <a:off x="566928" y="2706624"/>
            <a:ext cx="11055096" cy="1133856"/>
          </a:xfrm>
          <a:prstGeom prst="rect">
            <a:avLst/>
          </a:prstGeom>
          <a:solidFill>
            <a:srgbClr val="FFFFFF"/>
          </a:solidFill>
          <a:ln w="12700">
            <a:solidFill>
              <a:srgbClr val="E5E7EB"/>
            </a:solidFill>
            <a:prstDash val="solid"/>
          </a:ln>
        </p:spPr>
      </p:sp>
      <p:sp>
        <p:nvSpPr>
          <p:cNvPr id="11" name="Shape 9"/>
          <p:cNvSpPr/>
          <p:nvPr/>
        </p:nvSpPr>
        <p:spPr>
          <a:xfrm>
            <a:off x="566928" y="2706624"/>
            <a:ext cx="658368" cy="1133856"/>
          </a:xfrm>
          <a:prstGeom prst="rect">
            <a:avLst/>
          </a:prstGeom>
          <a:solidFill>
            <a:srgbClr val="0E7490"/>
          </a:solidFill>
          <a:ln w="12700">
            <a:solidFill>
              <a:srgbClr val="0E7490"/>
            </a:solidFill>
            <a:prstDash val="solid"/>
          </a:ln>
        </p:spPr>
      </p:sp>
      <p:sp>
        <p:nvSpPr>
          <p:cNvPr id="12" name="Text 10"/>
          <p:cNvSpPr txBox="1"/>
          <p:nvPr/>
        </p:nvSpPr>
        <p:spPr>
          <a:xfrm>
            <a:off x="566928" y="3108960"/>
            <a:ext cx="658368"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3" name="Text 11"/>
          <p:cNvSpPr txBox="1"/>
          <p:nvPr/>
        </p:nvSpPr>
        <p:spPr>
          <a:xfrm>
            <a:off x="1499616" y="2871216"/>
            <a:ext cx="9774936" cy="329184"/>
          </a:xfrm>
          <a:prstGeom prst="rect">
            <a:avLst/>
          </a:prstGeom>
          <a:noFill/>
          <a:ln/>
        </p:spPr>
        <p:txBody>
          <a:bodyPr wrap="square" lIns="0" tIns="0" rIns="0" bIns="0" rtlCol="0" anchor="ctr"/>
          <a:lstStyle/>
          <a:p>
            <a:pPr indent="0" marL="0">
              <a:buNone/>
            </a:pPr>
            <a:r>
              <a:rPr lang="en-US" sz="1650" b="1" dirty="0">
                <a:solidFill>
                  <a:srgbClr val="1F2937"/>
                </a:solidFill>
                <a:latin typeface="Cambria" pitchFamily="34" charset="0"/>
                <a:ea typeface="Cambria" pitchFamily="34" charset="-122"/>
                <a:cs typeface="Cambria" pitchFamily="34" charset="-120"/>
              </a:rPr>
              <a:t>Gate placement sets safe cadence</a:t>
            </a:r>
            <a:endParaRPr lang="en-US" sz="1650" dirty="0"/>
          </a:p>
        </p:txBody>
      </p:sp>
      <p:sp>
        <p:nvSpPr>
          <p:cNvPr id="14" name="Text 12"/>
          <p:cNvSpPr txBox="1"/>
          <p:nvPr/>
        </p:nvSpPr>
        <p:spPr>
          <a:xfrm>
            <a:off x="1499616" y="3182112"/>
            <a:ext cx="9774936" cy="457200"/>
          </a:xfrm>
          <a:prstGeom prst="rect">
            <a:avLst/>
          </a:prstGeom>
          <a:noFill/>
          <a:ln/>
        </p:spPr>
        <p:txBody>
          <a:bodyPr wrap="square" lIns="0" tIns="0" rIns="0" bIns="0" rtlCol="0" anchor="t"/>
          <a:lstStyle/>
          <a:p>
            <a:pPr indent="0" marL="0">
              <a:lnSpc>
                <a:spcPts val="1600"/>
              </a:lnSpc>
              <a:buNone/>
            </a:pPr>
            <a:r>
              <a:rPr lang="en-US" sz="1200" dirty="0">
                <a:solidFill>
                  <a:srgbClr val="374151"/>
                </a:solidFill>
                <a:latin typeface="Calibri" pitchFamily="34" charset="0"/>
                <a:ea typeface="Calibri" pitchFamily="34" charset="-122"/>
                <a:cs typeface="Calibri" pitchFamily="34" charset="-120"/>
              </a:rPr>
              <a:t>The sustainable frequency of unattended publishing is determined by where the human-owned checkpoint sits, not by model capability. Moving the gate later permits a higher cadence at constant risk.</a:t>
            </a:r>
            <a:endParaRPr lang="en-US" sz="1200" dirty="0"/>
          </a:p>
        </p:txBody>
      </p:sp>
      <p:sp>
        <p:nvSpPr>
          <p:cNvPr id="15" name="Text 13"/>
          <p:cNvSpPr txBox="1"/>
          <p:nvPr/>
        </p:nvSpPr>
        <p:spPr>
          <a:xfrm>
            <a:off x="1499616" y="3566160"/>
            <a:ext cx="9774936" cy="256032"/>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Measure: autonomous runs per week against change failure rate, by gate position.</a:t>
            </a:r>
            <a:endParaRPr lang="en-US" sz="1150" dirty="0"/>
          </a:p>
        </p:txBody>
      </p:sp>
      <p:sp>
        <p:nvSpPr>
          <p:cNvPr id="16" name="Shape 14"/>
          <p:cNvSpPr/>
          <p:nvPr/>
        </p:nvSpPr>
        <p:spPr>
          <a:xfrm>
            <a:off x="566928" y="3931920"/>
            <a:ext cx="11055096" cy="1133856"/>
          </a:xfrm>
          <a:prstGeom prst="rect">
            <a:avLst/>
          </a:prstGeom>
          <a:solidFill>
            <a:srgbClr val="FFFFFF"/>
          </a:solidFill>
          <a:ln w="12700">
            <a:solidFill>
              <a:srgbClr val="E5E7EB"/>
            </a:solidFill>
            <a:prstDash val="solid"/>
          </a:ln>
        </p:spPr>
      </p:sp>
      <p:sp>
        <p:nvSpPr>
          <p:cNvPr id="17" name="Shape 15"/>
          <p:cNvSpPr/>
          <p:nvPr/>
        </p:nvSpPr>
        <p:spPr>
          <a:xfrm>
            <a:off x="566928" y="3931920"/>
            <a:ext cx="658368" cy="1133856"/>
          </a:xfrm>
          <a:prstGeom prst="rect">
            <a:avLst/>
          </a:prstGeom>
          <a:solidFill>
            <a:srgbClr val="B45309"/>
          </a:solidFill>
          <a:ln w="12700">
            <a:solidFill>
              <a:srgbClr val="B45309"/>
            </a:solidFill>
            <a:prstDash val="solid"/>
          </a:ln>
        </p:spPr>
      </p:sp>
      <p:sp>
        <p:nvSpPr>
          <p:cNvPr id="18" name="Text 16"/>
          <p:cNvSpPr txBox="1"/>
          <p:nvPr/>
        </p:nvSpPr>
        <p:spPr>
          <a:xfrm>
            <a:off x="566928" y="4334256"/>
            <a:ext cx="658368"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9" name="Text 17"/>
          <p:cNvSpPr txBox="1"/>
          <p:nvPr/>
        </p:nvSpPr>
        <p:spPr>
          <a:xfrm>
            <a:off x="1499616" y="4096512"/>
            <a:ext cx="9774936" cy="329184"/>
          </a:xfrm>
          <a:prstGeom prst="rect">
            <a:avLst/>
          </a:prstGeom>
          <a:noFill/>
          <a:ln/>
        </p:spPr>
        <p:txBody>
          <a:bodyPr wrap="square" lIns="0" tIns="0" rIns="0" bIns="0" rtlCol="0" anchor="ctr"/>
          <a:lstStyle/>
          <a:p>
            <a:pPr indent="0" marL="0">
              <a:buNone/>
            </a:pPr>
            <a:r>
              <a:rPr lang="en-US" sz="1650" b="1" dirty="0">
                <a:solidFill>
                  <a:srgbClr val="1F2937"/>
                </a:solidFill>
                <a:latin typeface="Cambria" pitchFamily="34" charset="0"/>
                <a:ea typeface="Cambria" pitchFamily="34" charset="-122"/>
                <a:cs typeface="Cambria" pitchFamily="34" charset="-120"/>
              </a:rPr>
              <a:t>Attempted-violation testing finds what documentation hides</a:t>
            </a:r>
            <a:endParaRPr lang="en-US" sz="1650" dirty="0"/>
          </a:p>
        </p:txBody>
      </p:sp>
      <p:sp>
        <p:nvSpPr>
          <p:cNvPr id="20" name="Text 18"/>
          <p:cNvSpPr txBox="1"/>
          <p:nvPr/>
        </p:nvSpPr>
        <p:spPr>
          <a:xfrm>
            <a:off x="1499616" y="4407408"/>
            <a:ext cx="9774936" cy="457200"/>
          </a:xfrm>
          <a:prstGeom prst="rect">
            <a:avLst/>
          </a:prstGeom>
          <a:noFill/>
          <a:ln/>
        </p:spPr>
        <p:txBody>
          <a:bodyPr wrap="square" lIns="0" tIns="0" rIns="0" bIns="0" rtlCol="0" anchor="t"/>
          <a:lstStyle/>
          <a:p>
            <a:pPr indent="0" marL="0">
              <a:lnSpc>
                <a:spcPts val="1600"/>
              </a:lnSpc>
              <a:buNone/>
            </a:pPr>
            <a:r>
              <a:rPr lang="en-US" sz="1200" dirty="0">
                <a:solidFill>
                  <a:srgbClr val="374151"/>
                </a:solidFill>
                <a:latin typeface="Calibri" pitchFamily="34" charset="0"/>
                <a:ea typeface="Calibri" pitchFamily="34" charset="-122"/>
                <a:cs typeface="Calibri" pitchFamily="34" charset="-120"/>
              </a:rPr>
              <a:t>Suites that attempt forbidden actions will surface a materially higher rate of unenforced controls than configuration review, including in systems whose documentation asserts those controls.</a:t>
            </a:r>
            <a:endParaRPr lang="en-US" sz="1200" dirty="0"/>
          </a:p>
        </p:txBody>
      </p:sp>
      <p:sp>
        <p:nvSpPr>
          <p:cNvPr id="21" name="Text 19"/>
          <p:cNvSpPr txBox="1"/>
          <p:nvPr/>
        </p:nvSpPr>
        <p:spPr>
          <a:xfrm>
            <a:off x="1499616" y="4791456"/>
            <a:ext cx="9774936" cy="256032"/>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Measure: unenforced controls found per audit hour, by verification method.</a:t>
            </a:r>
            <a:endParaRPr lang="en-US" sz="1150" dirty="0"/>
          </a:p>
        </p:txBody>
      </p:sp>
      <p:sp>
        <p:nvSpPr>
          <p:cNvPr id="22" name="Shape 20"/>
          <p:cNvSpPr/>
          <p:nvPr/>
        </p:nvSpPr>
        <p:spPr>
          <a:xfrm>
            <a:off x="566928" y="5321808"/>
            <a:ext cx="11055096" cy="1077468"/>
          </a:xfrm>
          <a:prstGeom prst="rect">
            <a:avLst/>
          </a:prstGeom>
          <a:solidFill>
            <a:srgbClr val="F3F4F6"/>
          </a:solidFill>
          <a:ln w="12700">
            <a:solidFill>
              <a:srgbClr val="E5E7EB"/>
            </a:solidFill>
            <a:prstDash val="solid"/>
          </a:ln>
        </p:spPr>
      </p:sp>
      <p:sp>
        <p:nvSpPr>
          <p:cNvPr id="23" name="Text 21"/>
          <p:cNvSpPr txBox="1"/>
          <p:nvPr/>
        </p:nvSpPr>
        <p:spPr>
          <a:xfrm>
            <a:off x="877824" y="5458968"/>
            <a:ext cx="10433304" cy="292608"/>
          </a:xfrm>
          <a:prstGeom prst="rect">
            <a:avLst/>
          </a:prstGeom>
          <a:noFill/>
          <a:ln/>
        </p:spPr>
        <p:txBody>
          <a:bodyPr wrap="square" lIns="0" tIns="0" rIns="0" bIns="0" rtlCol="0" anchor="t"/>
          <a:lstStyle/>
          <a:p>
            <a:pPr indent="0" marL="0">
              <a:buNone/>
            </a:pPr>
            <a:r>
              <a:rPr lang="en-US" sz="1450" b="1" dirty="0">
                <a:solidFill>
                  <a:srgbClr val="1F2937"/>
                </a:solidFill>
                <a:latin typeface="Cambria" pitchFamily="34" charset="0"/>
                <a:ea typeface="Cambria" pitchFamily="34" charset="-122"/>
                <a:cs typeface="Cambria" pitchFamily="34" charset="-120"/>
              </a:rPr>
              <a:t>Proposition 1 is the one worth answering first</a:t>
            </a:r>
            <a:endParaRPr lang="en-US" sz="1450" dirty="0"/>
          </a:p>
        </p:txBody>
      </p:sp>
      <p:sp>
        <p:nvSpPr>
          <p:cNvPr id="24" name="Text 22"/>
          <p:cNvSpPr txBox="1"/>
          <p:nvPr/>
        </p:nvSpPr>
        <p:spPr>
          <a:xfrm>
            <a:off x="877824" y="5833872"/>
            <a:ext cx="10433304" cy="510540"/>
          </a:xfrm>
          <a:prstGeom prst="rect">
            <a:avLst/>
          </a:prstGeom>
          <a:noFill/>
          <a:ln/>
        </p:spPr>
        <p:txBody>
          <a:bodyPr wrap="square" lIns="0" tIns="0" rIns="0" bIns="0" rtlCol="0" anchor="t"/>
          <a:lstStyle/>
          <a:p>
            <a:pPr indent="0" marL="0">
              <a:lnSpc>
                <a:spcPts val="1650"/>
              </a:lnSpc>
              <a:buNone/>
            </a:pPr>
            <a:r>
              <a:rPr lang="en-US" sz="1250" dirty="0">
                <a:solidFill>
                  <a:srgbClr val="374151"/>
                </a:solidFill>
                <a:latin typeface="Calibri" pitchFamily="34" charset="0"/>
                <a:ea typeface="Calibri" pitchFamily="34" charset="-122"/>
                <a:cs typeface="Calibri" pitchFamily="34" charset="-120"/>
              </a:rPr>
              <a:t>If it holds, the guidance for teams adopting agents is architectural rather than behavioural — and that is a far easier thing to hand a manager than a prompt.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Autonomous Publishing Pattern</dc:title>
  <dc:subject>PptxGenJS Presentation</dc:subject>
  <dc:creator>Justin St-Maurice</dc:creator>
  <cp:lastModifiedBy>Justin St-Maurice</cp:lastModifiedBy>
  <cp:revision>1</cp:revision>
  <dcterms:created xsi:type="dcterms:W3CDTF">2026-09-16T15:29:04Z</dcterms:created>
  <dcterms:modified xsi:type="dcterms:W3CDTF">2026-09-16T15:29:04Z</dcterms:modified>
</cp:coreProperties>
</file>